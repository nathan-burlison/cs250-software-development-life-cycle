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9910" autoAdjust="0"/>
  </p:normalViewPr>
  <p:slideViewPr>
    <p:cSldViewPr snapToGrid="0" snapToObjects="1">
      <p:cViewPr varScale="1">
        <p:scale>
          <a:sx n="52" d="100"/>
          <a:sy n="52" d="100"/>
        </p:scale>
        <p:origin x="158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than Burlison" userId="d7db2f89df56e0b5" providerId="LiveId" clId="{56C3EEC2-E373-498D-BE22-D469BC325252}"/>
    <pc:docChg chg="undo custSel modSld">
      <pc:chgData name="Nathan Burlison" userId="d7db2f89df56e0b5" providerId="LiveId" clId="{56C3EEC2-E373-498D-BE22-D469BC325252}" dt="2026-10-25T23:16:50.471" v="79" actId="20577"/>
      <pc:docMkLst>
        <pc:docMk/>
      </pc:docMkLst>
      <pc:sldChg chg="modNotesTx">
        <pc:chgData name="Nathan Burlison" userId="d7db2f89df56e0b5" providerId="LiveId" clId="{56C3EEC2-E373-498D-BE22-D469BC325252}" dt="2026-10-25T23:14:37.142" v="20" actId="20577"/>
        <pc:sldMkLst>
          <pc:docMk/>
          <pc:sldMk cId="0" sldId="257"/>
        </pc:sldMkLst>
      </pc:sldChg>
      <pc:sldChg chg="modNotesTx">
        <pc:chgData name="Nathan Burlison" userId="d7db2f89df56e0b5" providerId="LiveId" clId="{56C3EEC2-E373-498D-BE22-D469BC325252}" dt="2026-10-25T23:14:53.100" v="24" actId="20577"/>
        <pc:sldMkLst>
          <pc:docMk/>
          <pc:sldMk cId="0" sldId="258"/>
        </pc:sldMkLst>
      </pc:sldChg>
      <pc:sldChg chg="modSp mod modNotesTx">
        <pc:chgData name="Nathan Burlison" userId="d7db2f89df56e0b5" providerId="LiveId" clId="{56C3EEC2-E373-498D-BE22-D469BC325252}" dt="2026-10-25T23:16:08.657" v="26" actId="20577"/>
        <pc:sldMkLst>
          <pc:docMk/>
          <pc:sldMk cId="0" sldId="259"/>
        </pc:sldMkLst>
        <pc:spChg chg="mod">
          <ac:chgData name="Nathan Burlison" userId="d7db2f89df56e0b5" providerId="LiveId" clId="{56C3EEC2-E373-498D-BE22-D469BC325252}" dt="2026-10-23T23:27:29.967" v="0" actId="1076"/>
          <ac:spMkLst>
            <pc:docMk/>
            <pc:sldMk cId="0" sldId="259"/>
            <ac:spMk id="35" creationId="{00000000-0000-0000-0000-000000000000}"/>
          </ac:spMkLst>
        </pc:spChg>
      </pc:sldChg>
      <pc:sldChg chg="modNotesTx">
        <pc:chgData name="Nathan Burlison" userId="d7db2f89df56e0b5" providerId="LiveId" clId="{56C3EEC2-E373-498D-BE22-D469BC325252}" dt="2026-10-25T23:16:16.832" v="34" actId="20577"/>
        <pc:sldMkLst>
          <pc:docMk/>
          <pc:sldMk cId="0" sldId="260"/>
        </pc:sldMkLst>
      </pc:sldChg>
      <pc:sldChg chg="modNotesTx">
        <pc:chgData name="Nathan Burlison" userId="d7db2f89df56e0b5" providerId="LiveId" clId="{56C3EEC2-E373-498D-BE22-D469BC325252}" dt="2026-10-25T23:14:29.394" v="18" actId="20577"/>
        <pc:sldMkLst>
          <pc:docMk/>
          <pc:sldMk cId="0" sldId="261"/>
        </pc:sldMkLst>
      </pc:sldChg>
      <pc:sldChg chg="modNotesTx">
        <pc:chgData name="Nathan Burlison" userId="d7db2f89df56e0b5" providerId="LiveId" clId="{56C3EEC2-E373-498D-BE22-D469BC325252}" dt="2026-10-25T23:14:20.991" v="16" actId="20577"/>
        <pc:sldMkLst>
          <pc:docMk/>
          <pc:sldMk cId="0" sldId="262"/>
        </pc:sldMkLst>
      </pc:sldChg>
      <pc:sldChg chg="modNotesTx">
        <pc:chgData name="Nathan Burlison" userId="d7db2f89df56e0b5" providerId="LiveId" clId="{56C3EEC2-E373-498D-BE22-D469BC325252}" dt="2026-10-25T23:16:22.692" v="41" actId="20577"/>
        <pc:sldMkLst>
          <pc:docMk/>
          <pc:sldMk cId="0" sldId="263"/>
        </pc:sldMkLst>
      </pc:sldChg>
      <pc:sldChg chg="addSp delSp modSp mod modNotesTx">
        <pc:chgData name="Nathan Burlison" userId="d7db2f89df56e0b5" providerId="LiveId" clId="{56C3EEC2-E373-498D-BE22-D469BC325252}" dt="2026-10-25T23:16:29.936" v="48" actId="20577"/>
        <pc:sldMkLst>
          <pc:docMk/>
          <pc:sldMk cId="0" sldId="264"/>
        </pc:sldMkLst>
        <pc:spChg chg="add del mod">
          <ac:chgData name="Nathan Burlison" userId="d7db2f89df56e0b5" providerId="LiveId" clId="{56C3EEC2-E373-498D-BE22-D469BC325252}" dt="2026-10-24T02:51:29.302" v="14" actId="478"/>
          <ac:spMkLst>
            <pc:docMk/>
            <pc:sldMk cId="0" sldId="264"/>
            <ac:spMk id="26" creationId="{00000000-0000-0000-0000-000000000000}"/>
          </ac:spMkLst>
        </pc:spChg>
      </pc:sldChg>
      <pc:sldChg chg="modNotesTx">
        <pc:chgData name="Nathan Burlison" userId="d7db2f89df56e0b5" providerId="LiveId" clId="{56C3EEC2-E373-498D-BE22-D469BC325252}" dt="2026-10-25T23:16:34.953" v="56" actId="20577"/>
        <pc:sldMkLst>
          <pc:docMk/>
          <pc:sldMk cId="0" sldId="265"/>
        </pc:sldMkLst>
      </pc:sldChg>
      <pc:sldChg chg="modNotesTx">
        <pc:chgData name="Nathan Burlison" userId="d7db2f89df56e0b5" providerId="LiveId" clId="{56C3EEC2-E373-498D-BE22-D469BC325252}" dt="2026-10-25T23:16:39.292" v="63" actId="20577"/>
        <pc:sldMkLst>
          <pc:docMk/>
          <pc:sldMk cId="0" sldId="266"/>
        </pc:sldMkLst>
      </pc:sldChg>
      <pc:sldChg chg="modNotesTx">
        <pc:chgData name="Nathan Burlison" userId="d7db2f89df56e0b5" providerId="LiveId" clId="{56C3EEC2-E373-498D-BE22-D469BC325252}" dt="2026-10-25T23:16:43.901" v="71" actId="20577"/>
        <pc:sldMkLst>
          <pc:docMk/>
          <pc:sldMk cId="0" sldId="267"/>
        </pc:sldMkLst>
      </pc:sldChg>
      <pc:sldChg chg="modNotesTx">
        <pc:chgData name="Nathan Burlison" userId="d7db2f89df56e0b5" providerId="LiveId" clId="{56C3EEC2-E373-498D-BE22-D469BC325252}" dt="2026-10-25T23:16:50.471" v="79" actId="20577"/>
        <pc:sldMkLst>
          <pc:docMk/>
          <pc:sldMk cId="0" sldId="2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9096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scenario: ChadaTech has historically used a waterfall model and is considering Scrum. SNHU Travel is a role-based coursework simulation; it is not an actual production launch. The goal is to give leadership a grounded basis for selecting a method.</a:t>
            </a:r>
          </a:p>
          <a:p>
            <a:endParaRPr/>
          </a:p>
          <a:p>
            <a:r>
              <a:t>ATTRIBUTION</a:t>
            </a:r>
          </a:p>
          <a:p>
            <a:r>
              <a:t>Course scenario: Southern New Hampshire University (2026), SNHU Travel course simulation [Unpublished CS 250 course exercises]. No third-party photos or illustrations are reproduced.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Explain that the pilot supports proceeding with Scrum in a measured fashion, not declaring a universal winner. The recommendation is based on observable coursework artifacts and professional evidence about fit-for-purpose methods.</a:t>
            </a:r>
          </a:p>
          <a:p>
            <a:endParaRPr dirty="0"/>
          </a:p>
          <a:p>
            <a:r>
              <a:rPr dirty="0"/>
              <a:t>SOURCE ATTRIBUTIONS </a:t>
            </a:r>
            <a:endParaRPr lang="en-US" dirty="0"/>
          </a:p>
          <a:p>
            <a:r>
              <a:rPr dirty="0"/>
              <a:t>• Project Management Institute. (2024). The future of project work: Moving past office-centric models (Pulse of the Profession® 2024). https://www.pmi.org/learning/thought-leadership/future-of-project-work</a:t>
            </a:r>
          </a:p>
          <a:p>
            <a:r>
              <a:rPr dirty="0"/>
              <a:t>• Digital.ai. (2025). The 18th State of Agile report. https://digital.ai/resource-center/analyst-reports/18th-state-of-agile-report/</a:t>
            </a:r>
          </a:p>
          <a:p>
            <a:r>
              <a:rPr dirty="0"/>
              <a:t>• Southern New Hampshire University. (2026). SNHU Travel course simulation [Unpublished CS 250 course exercises]. (Course material, not a public webpage.)</a:t>
            </a:r>
          </a:p>
          <a:p>
            <a:r>
              <a:rPr dirty="0"/>
              <a:t>Visuals and tables were constructed from original PowerPoint shapes; their cited concepts are attributed above.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Agile is the iterative philosophy; Scrum is the lightweight framework. Sprints encompass planning, work, reviews, and retrospective improvement. Distinguish inspection of the product in Sprint Review from inspection of the team’s process in Sprint Retrospective.</a:t>
            </a:r>
          </a:p>
          <a:p>
            <a:endParaRPr dirty="0"/>
          </a:p>
          <a:p>
            <a:r>
              <a:rPr dirty="0"/>
              <a:t>SOURCE ATTRIBUTIONS</a:t>
            </a:r>
          </a:p>
          <a:p>
            <a:r>
              <a:rPr dirty="0"/>
              <a:t>• </a:t>
            </a:r>
            <a:r>
              <a:rPr dirty="0" err="1"/>
              <a:t>Schwaber</a:t>
            </a:r>
            <a:r>
              <a:rPr dirty="0"/>
              <a:t>, K., &amp; Sutherland, J. (2020). The Scrum Guide: The definitive guide to Scrum—The rules of the game. https://scrumguides.org/scrum-guide.html</a:t>
            </a:r>
          </a:p>
          <a:p>
            <a:r>
              <a:rPr dirty="0"/>
              <a:t>• </a:t>
            </a:r>
            <a:r>
              <a:rPr dirty="0" err="1"/>
              <a:t>Deneir</a:t>
            </a:r>
            <a:r>
              <a:rPr dirty="0"/>
              <a:t>, S. (2024, September 5). Scrum’s essential elements (SG003). Scrum.org. https://www.scrum.org/resources/blog/scrums-essential-elements-sg003</a:t>
            </a:r>
          </a:p>
          <a:p>
            <a:r>
              <a:rPr dirty="0"/>
              <a:t>Visuals and tables were constructed from original PowerPoint shapes; their cited concepts are attributed above.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Clarify that Scrum terminology now refers to accountabilities rather than job titles. A tester may have specialized expertise but contributes within Developers. The Product Owner maximizes value and owns backlog ordering; Developers own the implementation plan; Scrum Master supports Scrum and team effectiveness.</a:t>
            </a:r>
          </a:p>
          <a:p>
            <a:endParaRPr dirty="0"/>
          </a:p>
          <a:p>
            <a:r>
              <a:rPr dirty="0"/>
              <a:t>SOURCE ATTRIBUTIONS </a:t>
            </a:r>
            <a:endParaRPr lang="en-US" dirty="0"/>
          </a:p>
          <a:p>
            <a:r>
              <a:rPr dirty="0"/>
              <a:t>• </a:t>
            </a:r>
            <a:r>
              <a:rPr dirty="0" err="1"/>
              <a:t>Schwaber</a:t>
            </a:r>
            <a:r>
              <a:rPr dirty="0"/>
              <a:t>, K., &amp; Sutherland, J. (2020). The Scrum Guide: The definitive guide to Scrum—The rules of the game. https://scrumguides.org/scrum-guide.html</a:t>
            </a:r>
          </a:p>
          <a:p>
            <a:r>
              <a:rPr dirty="0"/>
              <a:t>• </a:t>
            </a:r>
            <a:r>
              <a:rPr dirty="0" err="1"/>
              <a:t>Kaczor</a:t>
            </a:r>
            <a:r>
              <a:rPr dirty="0"/>
              <a:t>, K. (2025, April 7). Accountability, responsibility and authority in Scrum. Scrum.org. https://www.scrum.org/resources/blog/accountability-responsibility-and-authority-scrum</a:t>
            </a:r>
          </a:p>
          <a:p>
            <a:r>
              <a:rPr dirty="0"/>
              <a:t>• Coleman, J. (2024, October 17). Developers accountability in Scrum. Scrum.org. https://www.scrum.org/resources/blog/developers-accountability-scrum</a:t>
            </a:r>
          </a:p>
          <a:p>
            <a:r>
              <a:rPr dirty="0"/>
              <a:t>• Southern New Hampshire University. (2026). SNHU Travel course simulation [Unpublished CS 250 course exercises]. (Course material, not a public webpage.)</a:t>
            </a:r>
          </a:p>
          <a:p>
            <a:r>
              <a:rPr dirty="0"/>
              <a:t>Visuals and tables were constructed from original PowerPoint shapes; their cited concepts are attributed above.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Describe the seven phases of the SDLC using IBM 2025. Scrum puts these activities in an iterative delivery context. In the classroom exercise, implementation and verification were practiced but actual deployment and maintenance of a live travel application were not demonstrated.</a:t>
            </a:r>
          </a:p>
          <a:p>
            <a:endParaRPr dirty="0"/>
          </a:p>
          <a:p>
            <a:r>
              <a:rPr dirty="0"/>
              <a:t>SOURCE ATTRIBUTIONS</a:t>
            </a:r>
          </a:p>
          <a:p>
            <a:r>
              <a:rPr dirty="0"/>
              <a:t>• Jackson, G., Holdsworth, J., &amp; Kosinski, M. (2025, July 25). What is the software development life cycle (SDLC)? IBM. https://www.ibm.com/think/topics/sdlc</a:t>
            </a:r>
          </a:p>
          <a:p>
            <a:r>
              <a:rPr dirty="0"/>
              <a:t>• </a:t>
            </a:r>
            <a:r>
              <a:rPr dirty="0" err="1"/>
              <a:t>Schwaber</a:t>
            </a:r>
            <a:r>
              <a:rPr dirty="0"/>
              <a:t>, K., &amp; Sutherland, J. (2020). The Scrum Guide: The definitive guide to Scrum—The rules of the game. https://scrumguides.org/scrum-guide.html</a:t>
            </a:r>
          </a:p>
          <a:p>
            <a:r>
              <a:rPr dirty="0"/>
              <a:t>• Southern New Hampshire University. (2026). SNHU Travel course simulation [Unpublished CS 250 course exercises]. (Course material, not a public webpage.)</a:t>
            </a:r>
          </a:p>
          <a:p>
            <a:r>
              <a:rPr dirty="0"/>
              <a:t>Visuals and tables were constructed from original PowerPoint shapes; their cited concepts are attributed above.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Do not claim that every scenario was developed and deployed. The destination list was represented by developer coursework, while price filter and cruise preference were user-story/test-case exercises. That distinction provides honest evidence of the method without overstating the outcome.</a:t>
            </a:r>
          </a:p>
          <a:p>
            <a:endParaRPr dirty="0"/>
          </a:p>
          <a:p>
            <a:r>
              <a:rPr dirty="0"/>
              <a:t>SOURCE ATTRIBUTIONS </a:t>
            </a:r>
            <a:endParaRPr lang="en-US" dirty="0"/>
          </a:p>
          <a:p>
            <a:r>
              <a:rPr dirty="0"/>
              <a:t>• Southern New Hampshire University. (2026). SNHU Travel course simulation [Unpublished CS 250 course exercises]. (Course material, not a public webpage.)</a:t>
            </a:r>
          </a:p>
          <a:p>
            <a:r>
              <a:rPr dirty="0"/>
              <a:t>• Jackson, G., Holdsworth, J., &amp; Kosinski, M. (2025, July 25). What is the software development life cycle (SDLC)? IBM. https://www.ibm.com/think/topics/sdlc</a:t>
            </a:r>
          </a:p>
          <a:p>
            <a:r>
              <a:rPr dirty="0"/>
              <a:t>Visuals and tables were constructed from original PowerPoint shapes; their cited concepts are attributed above.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user’s developer assignment changed slideshow expectations. In Scrum, the Product Owner clarifies value and backlog priority, Developers estimate rework and adjust implementation, and testers revise acceptance and regression checks. In a sequential model, a late change usually requires more formal revisiting of signed-off deliverables.</a:t>
            </a:r>
          </a:p>
          <a:p>
            <a:endParaRPr dirty="0"/>
          </a:p>
          <a:p>
            <a:r>
              <a:rPr dirty="0"/>
              <a:t>SOURCE ATTRIBUTIONS </a:t>
            </a:r>
            <a:endParaRPr lang="en-US" dirty="0"/>
          </a:p>
          <a:p>
            <a:r>
              <a:rPr dirty="0"/>
              <a:t>• </a:t>
            </a:r>
            <a:r>
              <a:rPr dirty="0" err="1"/>
              <a:t>Schwaber</a:t>
            </a:r>
            <a:r>
              <a:rPr dirty="0"/>
              <a:t>, K., &amp; Sutherland, J. (2020). The Scrum Guide: The definitive guide to Scrum—The rules of the game. https://scrumguides.org/scrum-guide.html</a:t>
            </a:r>
          </a:p>
          <a:p>
            <a:r>
              <a:rPr dirty="0"/>
              <a:t>• Jackson, G., Holdsworth, J., &amp; Kosinski, M. (2025, July 25). What is the software development life cycle (SDLC)? IBM. https://www.ibm.com/think/topics/sdlc</a:t>
            </a:r>
          </a:p>
          <a:p>
            <a:r>
              <a:rPr dirty="0"/>
              <a:t>• Southern New Hampshire University. (2026). SNHU Travel course simulation [Unpublished CS 250 course exercises]. (Course material, not a public webpage.)</a:t>
            </a:r>
          </a:p>
          <a:p>
            <a:r>
              <a:rPr dirty="0"/>
              <a:t>Visuals and tables were constructed from original PowerPoint shapes; their cited concepts are attributed above.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Use Scrum events to explain when and why artifacts are inspected. Boards, tests, and Jira support shared understanding but do not replace conversations. Review is about product outcomes with stakeholders; retrospective is about process improvements.</a:t>
            </a:r>
          </a:p>
          <a:p>
            <a:endParaRPr dirty="0"/>
          </a:p>
          <a:p>
            <a:r>
              <a:rPr dirty="0"/>
              <a:t>SOURCE ATTRIBUTIONS </a:t>
            </a:r>
          </a:p>
          <a:p>
            <a:r>
              <a:rPr dirty="0"/>
              <a:t>• </a:t>
            </a:r>
            <a:r>
              <a:rPr dirty="0" err="1"/>
              <a:t>Schwaber</a:t>
            </a:r>
            <a:r>
              <a:rPr dirty="0"/>
              <a:t>, K., &amp; Sutherland, J. (2020). The Scrum Guide: The definitive guide to Scrum—The rules of the game. https://scrumguides.org/scrum-guide.html</a:t>
            </a:r>
          </a:p>
          <a:p>
            <a:r>
              <a:rPr dirty="0"/>
              <a:t>• </a:t>
            </a:r>
            <a:r>
              <a:rPr dirty="0" err="1"/>
              <a:t>Deneir</a:t>
            </a:r>
            <a:r>
              <a:rPr dirty="0"/>
              <a:t>, S. (2024, September 5). Scrum’s essential elements (SG003). Scrum.org. https://www.scrum.org/resources/blog/scrums-essential-elements-sg003</a:t>
            </a:r>
          </a:p>
          <a:p>
            <a:r>
              <a:rPr dirty="0"/>
              <a:t>Visuals and tables were constructed from original PowerPoint shapes; their cited concepts are attributed above.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These are sample communications from reflection assignments, not emails confirmed as sent. Explain why each question requests actionable information and why a shared Jira or Azure Boards item preserves the decision for developers, testers and the Product Owner.</a:t>
            </a:r>
          </a:p>
          <a:p>
            <a:endParaRPr dirty="0"/>
          </a:p>
          <a:p>
            <a:r>
              <a:rPr dirty="0"/>
              <a:t>SOURCE ATTRIBUTIONS </a:t>
            </a:r>
          </a:p>
          <a:p>
            <a:r>
              <a:rPr dirty="0"/>
              <a:t>• </a:t>
            </a:r>
            <a:r>
              <a:rPr dirty="0" err="1"/>
              <a:t>Kaczor</a:t>
            </a:r>
            <a:r>
              <a:rPr dirty="0"/>
              <a:t>, K. (2025, April 7). Accountability, responsibility and authority in Scrum. Scrum.org. https://www.scrum.org/resources/blog/accountability-responsibility-and-authority-scrum</a:t>
            </a:r>
          </a:p>
          <a:p>
            <a:r>
              <a:rPr dirty="0"/>
              <a:t>• Coleman, J. (2024, October 17). Developers accountability in Scrum. Scrum.org. https://www.scrum.org/resources/blog/developers-accountability-scrum</a:t>
            </a:r>
          </a:p>
          <a:p>
            <a:r>
              <a:rPr dirty="0"/>
              <a:t>• Southern New Hampshire University. (2026). SNHU Travel course simulation [Unpublished CS 250 course exercises]. (Course material, not a public webpage.)</a:t>
            </a:r>
          </a:p>
          <a:p>
            <a:r>
              <a:rPr dirty="0"/>
              <a:t>Visuals and tables were constructed from original PowerPoint shapes; their cited concepts are attributed above.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Avoid saying one approach always outperforms another. Both can implement appropriate testing, documentation and governance. The key contrast is sequential commitment versus iterative re-planning and feedback.</a:t>
            </a:r>
          </a:p>
          <a:p>
            <a:endParaRPr dirty="0"/>
          </a:p>
          <a:p>
            <a:r>
              <a:rPr dirty="0"/>
              <a:t>SOURCE ATTRIBUTIONS</a:t>
            </a:r>
          </a:p>
          <a:p>
            <a:r>
              <a:rPr dirty="0"/>
              <a:t>• Jackson, G., Holdsworth, J., &amp; Kosinski, M. (2025, July 25). What is the software development life cycle (SDLC)? IBM. https://www.ibm.com/think/topics/sdlc</a:t>
            </a:r>
          </a:p>
          <a:p>
            <a:r>
              <a:rPr dirty="0"/>
              <a:t>• Project Management Institute. (2024). The future of project work: Moving past office-centric models (Pulse of the Profession® 2024). https://www.pmi.org/learning/thought-leadership/future-of-project-work</a:t>
            </a:r>
          </a:p>
          <a:p>
            <a:r>
              <a:rPr dirty="0"/>
              <a:t>• </a:t>
            </a:r>
            <a:r>
              <a:rPr dirty="0" err="1"/>
              <a:t>Schwaber</a:t>
            </a:r>
            <a:r>
              <a:rPr dirty="0"/>
              <a:t>, K., &amp; Sutherland, J. (2020). The Scrum Guide: The definitive guide to Scrum—The rules of the game. https://scrumguides.org/scrum-guide.html</a:t>
            </a:r>
          </a:p>
          <a:p>
            <a:r>
              <a:rPr dirty="0"/>
              <a:t>Visuals and tables were constructed from original PowerPoint shapes; their cited concepts are attributed above.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Use the SNHU Travel slideshow interruption as a reason Scrum was well suited to this course scenario, while recognizing PMI evidence that method choice by itself does not guarantee success. Hybrid project delivery can be worth exploring across a diverse organization.</a:t>
            </a:r>
          </a:p>
          <a:p>
            <a:endParaRPr dirty="0"/>
          </a:p>
          <a:p>
            <a:r>
              <a:rPr dirty="0"/>
              <a:t>SOURCE ATTRIBUTIONS </a:t>
            </a:r>
          </a:p>
          <a:p>
            <a:r>
              <a:rPr dirty="0"/>
              <a:t>• Project Management Institute. (2024). The future of project work: Moving past office-centric models (Pulse of the Profession® 2024). https://www.pmi.org/learning/thought-leadership/future-of-project-work</a:t>
            </a:r>
          </a:p>
          <a:p>
            <a:r>
              <a:rPr dirty="0"/>
              <a:t>• Jackson, G., Holdsworth, J., &amp; Kosinski, M. (2025, July 25). What is the software development life cycle (SDLC)? IBM. https://www.ibm.com/think/topics/sdlc</a:t>
            </a:r>
          </a:p>
          <a:p>
            <a:r>
              <a:rPr dirty="0"/>
              <a:t>Visuals and tables were constructed from original PowerPoint shapes; their cited concepts are attributed above.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a proposed leadership pilot, not a report of measured results from the class exercise. Secure a real, available Product Owner and stable Scrum Team; define a small product goal; build acceptance testing and quality into Done; record metrics in a consistent way; and discuss tradeoffs at every review.</a:t>
            </a:r>
          </a:p>
          <a:p>
            <a:endParaRPr dirty="0"/>
          </a:p>
          <a:p>
            <a:r>
              <a:rPr dirty="0"/>
              <a:t>SOURCE ATTRIBUTIONS</a:t>
            </a:r>
          </a:p>
          <a:p>
            <a:r>
              <a:rPr dirty="0"/>
              <a:t>• </a:t>
            </a:r>
            <a:r>
              <a:rPr dirty="0" err="1"/>
              <a:t>Schwaber</a:t>
            </a:r>
            <a:r>
              <a:rPr dirty="0"/>
              <a:t>, K., &amp; Sutherland, J. (2020). The Scrum Guide: The definitive guide to Scrum—The rules of the game. https://scrumguides.org/scrum-guide.html</a:t>
            </a:r>
          </a:p>
          <a:p>
            <a:r>
              <a:rPr dirty="0"/>
              <a:t>• Digital.ai. (2025). The 18th State of Agile report. https://digital.ai/resource-center/analyst-reports/18th-state-of-agile-report/</a:t>
            </a:r>
          </a:p>
          <a:p>
            <a:r>
              <a:rPr dirty="0"/>
              <a:t>• Project Management Institute. (2024). The future of project work: Moving past office-centric models (Pulse of the Profession® 2024). https://www.pmi.org/learning/thought-leadership/future-of-project-work</a:t>
            </a:r>
          </a:p>
          <a:p>
            <a:r>
              <a:rPr dirty="0"/>
              <a:t>Visuals and tables were constructed from original PowerPoint shapes; their cited concepts are attributed above.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Close with the decision leadership can make today. Ask for permission to run a measured pilot with decision authority, testing standards, transparent work, and explicit review criteria. The course demonstrated a useful process but not production outcomes.</a:t>
            </a:r>
          </a:p>
          <a:p>
            <a:endParaRPr dirty="0"/>
          </a:p>
          <a:p>
            <a:r>
              <a:rPr dirty="0"/>
              <a:t>SOURCE ATTRIBUTIONS</a:t>
            </a:r>
          </a:p>
          <a:p>
            <a:r>
              <a:rPr dirty="0"/>
              <a:t>• </a:t>
            </a:r>
            <a:r>
              <a:rPr dirty="0" err="1"/>
              <a:t>Schwaber</a:t>
            </a:r>
            <a:r>
              <a:rPr dirty="0"/>
              <a:t>, K., &amp; Sutherland, J. (2020). The Scrum Guide: The definitive guide to Scrum—The rules of the game. https://scrumguides.org/scrum-guide.html</a:t>
            </a:r>
          </a:p>
          <a:p>
            <a:r>
              <a:rPr dirty="0"/>
              <a:t>• Project Management Institute. (2024). The future of project work: Moving past office-centric models (Pulse of the Profession® 2024). https://www.pmi.org/learning/thought-leadership/future-of-project-work</a:t>
            </a:r>
          </a:p>
          <a:p>
            <a:r>
              <a:rPr dirty="0"/>
              <a:t>Visuals and tables were constructed from original PowerPoint shapes; their cited concepts are attributed above.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Full APA-style source entries and clickable source URLs are shown on this slide. The Southern New Hampshire University material is course-provided, not a public source. All diagrams, workflow visuals, and tables in this presentation are original PowerPoint shapes rather than copied third-party images.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Full APA-style source entries and clickable source URLs are shown on this slide. The Southern New Hampshire University material is course-provided, not a public source. All diagrams, workflow visuals, and tables in this presentation are original PowerPoint shapes rather than copied third-party images.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www.scrum.org/resources/blog/developers-accountability-scrum"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www.ibm.com/think/topics/sdlc" TargetMode="External"/><Relationship Id="rId5" Type="http://schemas.openxmlformats.org/officeDocument/2006/relationships/hyperlink" Target="https://digital.ai/resource-center/analyst-reports/18th-state-of-agile-report/" TargetMode="External"/><Relationship Id="rId4" Type="http://schemas.openxmlformats.org/officeDocument/2006/relationships/hyperlink" Target="https://www.scrum.org/resources/blog/scrums-essential-elements-sg003"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scrum.org/resources/blog/accountability-responsibility-and-authority-scrum"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hyperlink" Target="https://scrumguides.org/scrum-guide.html" TargetMode="External"/><Relationship Id="rId4" Type="http://schemas.openxmlformats.org/officeDocument/2006/relationships/hyperlink" Target="https://www.pmi.org/learning/thought-leadership/future-of-project-work"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04088" y="1115568"/>
            <a:ext cx="64008" cy="4142232"/>
          </a:xfrm>
          <a:prstGeom prst="rect">
            <a:avLst/>
          </a:prstGeom>
          <a:solidFill>
            <a:srgbClr val="3260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05840" y="1243584"/>
            <a:ext cx="9144000" cy="274320"/>
          </a:xfrm>
          <a:prstGeom prst="rect">
            <a:avLst/>
          </a:prstGeom>
          <a:noFill/>
        </p:spPr>
        <p:txBody>
          <a:bodyPr wrap="square" lIns="0" tIns="0" rIns="0" bIns="0" anchor="t">
            <a:spAutoFit/>
          </a:bodyPr>
          <a:lstStyle/>
          <a:p>
            <a:pPr algn="l">
              <a:lnSpc>
                <a:spcPct val="115000"/>
              </a:lnSpc>
              <a:spcBef>
                <a:spcPts val="0"/>
              </a:spcBef>
              <a:spcAft>
                <a:spcPts val="0"/>
              </a:spcAft>
            </a:pPr>
            <a:r>
              <a:rPr sz="1200" b="1" i="0">
                <a:solidFill>
                  <a:srgbClr val="326084"/>
                </a:solidFill>
                <a:latin typeface="Arial"/>
              </a:rPr>
              <a:t>CHADATECH  /  LEADERSHIP BRIEF</a:t>
            </a:r>
          </a:p>
        </p:txBody>
      </p:sp>
      <p:sp>
        <p:nvSpPr>
          <p:cNvPr id="4" name="TextBox 3"/>
          <p:cNvSpPr txBox="1"/>
          <p:nvPr/>
        </p:nvSpPr>
        <p:spPr>
          <a:xfrm>
            <a:off x="978408" y="1837943"/>
            <a:ext cx="10378440" cy="1572768"/>
          </a:xfrm>
          <a:prstGeom prst="rect">
            <a:avLst/>
          </a:prstGeom>
          <a:noFill/>
        </p:spPr>
        <p:txBody>
          <a:bodyPr wrap="square" lIns="0" tIns="0" rIns="0" bIns="0" anchor="t">
            <a:spAutoFit/>
          </a:bodyPr>
          <a:lstStyle/>
          <a:p>
            <a:pPr algn="l">
              <a:lnSpc>
                <a:spcPct val="104000"/>
              </a:lnSpc>
              <a:spcBef>
                <a:spcPts val="0"/>
              </a:spcBef>
              <a:spcAft>
                <a:spcPts val="0"/>
              </a:spcAft>
            </a:pPr>
            <a:r>
              <a:rPr sz="3700" b="1" i="0">
                <a:solidFill>
                  <a:srgbClr val="1F2E3B"/>
                </a:solidFill>
                <a:latin typeface="Arial"/>
              </a:rPr>
              <a:t>From Waterfall</a:t>
            </a:r>
          </a:p>
          <a:p>
            <a:pPr algn="l">
              <a:lnSpc>
                <a:spcPct val="104000"/>
              </a:lnSpc>
              <a:spcBef>
                <a:spcPts val="0"/>
              </a:spcBef>
              <a:spcAft>
                <a:spcPts val="0"/>
              </a:spcAft>
            </a:pPr>
            <a:r>
              <a:rPr sz="3700" b="1" i="0">
                <a:solidFill>
                  <a:srgbClr val="1F2E3B"/>
                </a:solidFill>
                <a:latin typeface="Arial"/>
              </a:rPr>
              <a:t>to Scrum–Agile</a:t>
            </a:r>
          </a:p>
        </p:txBody>
      </p:sp>
      <p:sp>
        <p:nvSpPr>
          <p:cNvPr id="5" name="TextBox 4"/>
          <p:cNvSpPr txBox="1"/>
          <p:nvPr/>
        </p:nvSpPr>
        <p:spPr>
          <a:xfrm>
            <a:off x="1005840" y="3941063"/>
            <a:ext cx="9784080" cy="859536"/>
          </a:xfrm>
          <a:prstGeom prst="rect">
            <a:avLst/>
          </a:prstGeom>
          <a:noFill/>
        </p:spPr>
        <p:txBody>
          <a:bodyPr wrap="square" lIns="0" tIns="0" rIns="0" bIns="0" anchor="t">
            <a:spAutoFit/>
          </a:bodyPr>
          <a:lstStyle/>
          <a:p>
            <a:pPr algn="l">
              <a:lnSpc>
                <a:spcPct val="127000"/>
              </a:lnSpc>
              <a:spcBef>
                <a:spcPts val="0"/>
              </a:spcBef>
              <a:spcAft>
                <a:spcPts val="0"/>
              </a:spcAft>
            </a:pPr>
            <a:r>
              <a:rPr sz="1900" b="0" i="0">
                <a:solidFill>
                  <a:srgbClr val="313D48"/>
                </a:solidFill>
                <a:latin typeface="Arial"/>
              </a:rPr>
              <a:t>What the SNHU Travel pilot teaches us about</a:t>
            </a:r>
          </a:p>
          <a:p>
            <a:pPr algn="l">
              <a:lnSpc>
                <a:spcPct val="127000"/>
              </a:lnSpc>
              <a:spcBef>
                <a:spcPts val="0"/>
              </a:spcBef>
              <a:spcAft>
                <a:spcPts val="0"/>
              </a:spcAft>
            </a:pPr>
            <a:r>
              <a:rPr sz="1900" b="0" i="0">
                <a:solidFill>
                  <a:srgbClr val="313D48"/>
                </a:solidFill>
                <a:latin typeface="Arial"/>
              </a:rPr>
              <a:t>roles, change, quality, and delivery decisions</a:t>
            </a:r>
          </a:p>
        </p:txBody>
      </p:sp>
      <p:cxnSp>
        <p:nvCxnSpPr>
          <p:cNvPr id="6" name="Connector 5"/>
          <p:cNvCxnSpPr/>
          <p:nvPr/>
        </p:nvCxnSpPr>
        <p:spPr>
          <a:xfrm>
            <a:off x="1005840" y="5650992"/>
            <a:ext cx="10405872" cy="0"/>
          </a:xfrm>
          <a:prstGeom prst="line">
            <a:avLst/>
          </a:prstGeom>
          <a:ln w="13970">
            <a:solidFill>
              <a:srgbClr val="D8DF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05840" y="5870448"/>
            <a:ext cx="9601200" cy="347472"/>
          </a:xfrm>
          <a:prstGeom prst="rect">
            <a:avLst/>
          </a:prstGeom>
          <a:noFill/>
        </p:spPr>
        <p:txBody>
          <a:bodyPr wrap="square" lIns="0" tIns="0" rIns="0" bIns="0" anchor="t">
            <a:spAutoFit/>
          </a:bodyPr>
          <a:lstStyle/>
          <a:p>
            <a:pPr algn="l">
              <a:lnSpc>
                <a:spcPct val="115000"/>
              </a:lnSpc>
              <a:spcBef>
                <a:spcPts val="0"/>
              </a:spcBef>
              <a:spcAft>
                <a:spcPts val="0"/>
              </a:spcAft>
            </a:pPr>
            <a:r>
              <a:rPr sz="1300" b="0" i="0">
                <a:solidFill>
                  <a:srgbClr val="65737E"/>
                </a:solidFill>
                <a:latin typeface="Arial"/>
              </a:rPr>
              <a:t>CS 250 Final Project  •  October 2026</a:t>
            </a:r>
          </a:p>
        </p:txBody>
      </p:sp>
      <p:sp>
        <p:nvSpPr>
          <p:cNvPr id="8" name="TextBox 7"/>
          <p:cNvSpPr txBox="1"/>
          <p:nvPr/>
        </p:nvSpPr>
        <p:spPr>
          <a:xfrm>
            <a:off x="1005840" y="6473952"/>
            <a:ext cx="10058400" cy="201168"/>
          </a:xfrm>
          <a:prstGeom prst="rect">
            <a:avLst/>
          </a:prstGeom>
          <a:noFill/>
        </p:spPr>
        <p:txBody>
          <a:bodyPr wrap="square" lIns="0" tIns="0" rIns="0" bIns="0">
            <a:noAutofit/>
          </a:bodyPr>
          <a:lstStyle/>
          <a:p>
            <a:r>
              <a:rPr sz="930" b="0">
                <a:solidFill>
                  <a:srgbClr val="616F7A"/>
                </a:solidFill>
                <a:latin typeface="Arial"/>
              </a:rPr>
              <a:t>Course scenario: SNHU Travel course simulation </a:t>
            </a:r>
            <a:r>
              <a:rPr sz="930" b="0">
                <a:solidFill>
                  <a:srgbClr val="2B5A7E"/>
                </a:solidFill>
                <a:latin typeface="Arial"/>
              </a:rPr>
              <a:t>(Southern New Hampshire University,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374904"/>
            <a:ext cx="9875520" cy="237744"/>
          </a:xfrm>
          <a:prstGeom prst="rect">
            <a:avLst/>
          </a:prstGeom>
          <a:noFill/>
        </p:spPr>
        <p:txBody>
          <a:bodyPr wrap="square" lIns="0" tIns="0" rIns="0" bIns="0" anchor="t">
            <a:spAutoFit/>
          </a:bodyPr>
          <a:lstStyle/>
          <a:p>
            <a:pPr algn="l">
              <a:lnSpc>
                <a:spcPct val="115000"/>
              </a:lnSpc>
              <a:spcBef>
                <a:spcPts val="0"/>
              </a:spcBef>
              <a:spcAft>
                <a:spcPts val="0"/>
              </a:spcAft>
            </a:pPr>
            <a:r>
              <a:rPr sz="1100" b="1" i="0">
                <a:solidFill>
                  <a:srgbClr val="326084"/>
                </a:solidFill>
                <a:latin typeface="Arial"/>
              </a:rPr>
              <a:t>THE EXECUTIVE VIEW</a:t>
            </a:r>
          </a:p>
        </p:txBody>
      </p:sp>
      <p:sp>
        <p:nvSpPr>
          <p:cNvPr id="3" name="TextBox 2"/>
          <p:cNvSpPr txBox="1"/>
          <p:nvPr/>
        </p:nvSpPr>
        <p:spPr>
          <a:xfrm>
            <a:off x="676656" y="722376"/>
            <a:ext cx="10881360" cy="484632"/>
          </a:xfrm>
          <a:prstGeom prst="rect">
            <a:avLst/>
          </a:prstGeom>
          <a:noFill/>
        </p:spPr>
        <p:txBody>
          <a:bodyPr wrap="square" lIns="0" tIns="0" rIns="0" bIns="0" anchor="t">
            <a:spAutoFit/>
          </a:bodyPr>
          <a:lstStyle/>
          <a:p>
            <a:pPr algn="l">
              <a:lnSpc>
                <a:spcPct val="115000"/>
              </a:lnSpc>
              <a:spcBef>
                <a:spcPts val="0"/>
              </a:spcBef>
              <a:spcAft>
                <a:spcPts val="0"/>
              </a:spcAft>
            </a:pPr>
            <a:r>
              <a:rPr sz="2700" b="1" i="0">
                <a:solidFill>
                  <a:srgbClr val="1F2E3B"/>
                </a:solidFill>
                <a:latin typeface="Arial"/>
              </a:rPr>
              <a:t>Recommendation: scale learning, not assumptions</a:t>
            </a:r>
          </a:p>
        </p:txBody>
      </p:sp>
      <p:sp>
        <p:nvSpPr>
          <p:cNvPr id="4" name="TextBox 3"/>
          <p:cNvSpPr txBox="1"/>
          <p:nvPr/>
        </p:nvSpPr>
        <p:spPr>
          <a:xfrm>
            <a:off x="685800" y="1380744"/>
            <a:ext cx="10881360" cy="521207"/>
          </a:xfrm>
          <a:prstGeom prst="rect">
            <a:avLst/>
          </a:prstGeom>
          <a:noFill/>
        </p:spPr>
        <p:txBody>
          <a:bodyPr wrap="square" lIns="0" tIns="0" rIns="0" bIns="0" anchor="t">
            <a:noAutofit/>
          </a:bodyPr>
          <a:lstStyle/>
          <a:p>
            <a:pPr algn="l">
              <a:lnSpc>
                <a:spcPct val="115000"/>
              </a:lnSpc>
              <a:spcBef>
                <a:spcPts val="0"/>
              </a:spcBef>
              <a:spcAft>
                <a:spcPts val="0"/>
              </a:spcAft>
            </a:pPr>
            <a:r>
              <a:rPr sz="1400" b="0">
                <a:solidFill>
                  <a:srgbClr val="1F2E3B"/>
                </a:solidFill>
                <a:latin typeface="Arial"/>
              </a:rPr>
              <a:t>A small Scrum pilot lets ChadaTech assess fit before a company-wide transition </a:t>
            </a:r>
            <a:r>
              <a:rPr sz="1200" b="0">
                <a:solidFill>
                  <a:srgbClr val="2B5A7E"/>
                </a:solidFill>
                <a:latin typeface="Arial"/>
              </a:rPr>
              <a:t>(Project Management Institute, 2024).</a:t>
            </a:r>
          </a:p>
        </p:txBody>
      </p:sp>
      <p:cxnSp>
        <p:nvCxnSpPr>
          <p:cNvPr id="5" name="Connector 4"/>
          <p:cNvCxnSpPr/>
          <p:nvPr/>
        </p:nvCxnSpPr>
        <p:spPr>
          <a:xfrm>
            <a:off x="685800" y="1897380"/>
            <a:ext cx="10808208" cy="0"/>
          </a:xfrm>
          <a:prstGeom prst="line">
            <a:avLst/>
          </a:prstGeom>
          <a:ln w="13970">
            <a:solidFill>
              <a:srgbClr val="D8DF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991088" y="6419088"/>
            <a:ext cx="521207" cy="237744"/>
          </a:xfrm>
          <a:prstGeom prst="rect">
            <a:avLst/>
          </a:prstGeom>
          <a:noFill/>
        </p:spPr>
        <p:txBody>
          <a:bodyPr wrap="square" lIns="0" tIns="0" rIns="0" bIns="0" anchor="t">
            <a:spAutoFit/>
          </a:bodyPr>
          <a:lstStyle/>
          <a:p>
            <a:pPr algn="r">
              <a:lnSpc>
                <a:spcPct val="115000"/>
              </a:lnSpc>
              <a:spcBef>
                <a:spcPts val="0"/>
              </a:spcBef>
              <a:spcAft>
                <a:spcPts val="0"/>
              </a:spcAft>
            </a:pPr>
            <a:r>
              <a:rPr sz="1050" b="0" i="0">
                <a:solidFill>
                  <a:srgbClr val="65737E"/>
                </a:solidFill>
                <a:latin typeface="Arial"/>
              </a:rPr>
              <a:t>02</a:t>
            </a:r>
          </a:p>
        </p:txBody>
      </p:sp>
      <p:sp>
        <p:nvSpPr>
          <p:cNvPr id="8" name="TextBox 7"/>
          <p:cNvSpPr txBox="1"/>
          <p:nvPr/>
        </p:nvSpPr>
        <p:spPr>
          <a:xfrm>
            <a:off x="740664" y="2286000"/>
            <a:ext cx="594360" cy="320040"/>
          </a:xfrm>
          <a:prstGeom prst="rect">
            <a:avLst/>
          </a:prstGeom>
          <a:noFill/>
        </p:spPr>
        <p:txBody>
          <a:bodyPr wrap="square" lIns="0" tIns="0" rIns="0" bIns="0" anchor="t">
            <a:spAutoFit/>
          </a:bodyPr>
          <a:lstStyle/>
          <a:p>
            <a:pPr algn="l">
              <a:lnSpc>
                <a:spcPct val="115000"/>
              </a:lnSpc>
              <a:spcBef>
                <a:spcPts val="0"/>
              </a:spcBef>
              <a:spcAft>
                <a:spcPts val="0"/>
              </a:spcAft>
            </a:pPr>
            <a:r>
              <a:rPr sz="1800" b="1" i="0">
                <a:solidFill>
                  <a:srgbClr val="326084"/>
                </a:solidFill>
                <a:latin typeface="Arial"/>
              </a:rPr>
              <a:t>01</a:t>
            </a:r>
          </a:p>
        </p:txBody>
      </p:sp>
      <p:sp>
        <p:nvSpPr>
          <p:cNvPr id="9" name="TextBox 8"/>
          <p:cNvSpPr txBox="1"/>
          <p:nvPr/>
        </p:nvSpPr>
        <p:spPr>
          <a:xfrm>
            <a:off x="1389888" y="2267712"/>
            <a:ext cx="2971800" cy="320040"/>
          </a:xfrm>
          <a:prstGeom prst="rect">
            <a:avLst/>
          </a:prstGeom>
          <a:noFill/>
        </p:spPr>
        <p:txBody>
          <a:bodyPr wrap="square" lIns="0" tIns="0" rIns="0" bIns="0" anchor="t">
            <a:spAutoFit/>
          </a:bodyPr>
          <a:lstStyle/>
          <a:p>
            <a:pPr algn="l">
              <a:lnSpc>
                <a:spcPct val="115000"/>
              </a:lnSpc>
              <a:spcBef>
                <a:spcPts val="0"/>
              </a:spcBef>
              <a:spcAft>
                <a:spcPts val="0"/>
              </a:spcAft>
            </a:pPr>
            <a:r>
              <a:rPr sz="1800" b="1" i="0">
                <a:solidFill>
                  <a:srgbClr val="1F2E3B"/>
                </a:solidFill>
                <a:latin typeface="Arial"/>
              </a:rPr>
              <a:t>Respond to change</a:t>
            </a:r>
          </a:p>
        </p:txBody>
      </p:sp>
      <p:sp>
        <p:nvSpPr>
          <p:cNvPr id="10" name="TextBox 9"/>
          <p:cNvSpPr txBox="1"/>
          <p:nvPr/>
        </p:nvSpPr>
        <p:spPr>
          <a:xfrm>
            <a:off x="4288536" y="2258568"/>
            <a:ext cx="6958584" cy="566928"/>
          </a:xfrm>
          <a:prstGeom prst="rect">
            <a:avLst/>
          </a:prstGeom>
          <a:noFill/>
        </p:spPr>
        <p:txBody>
          <a:bodyPr wrap="square" lIns="0" tIns="0" rIns="0" bIns="0" anchor="t">
            <a:noAutofit/>
          </a:bodyPr>
          <a:lstStyle/>
          <a:p>
            <a:pPr algn="l">
              <a:lnSpc>
                <a:spcPct val="115000"/>
              </a:lnSpc>
              <a:spcBef>
                <a:spcPts val="0"/>
              </a:spcBef>
              <a:spcAft>
                <a:spcPts val="0"/>
              </a:spcAft>
            </a:pPr>
            <a:r>
              <a:rPr sz="1410" b="0">
                <a:solidFill>
                  <a:srgbClr val="1F2E3B"/>
                </a:solidFill>
                <a:latin typeface="Arial"/>
              </a:rPr>
              <a:t>Backlog clarification helped handle the revised slideshow request </a:t>
            </a:r>
            <a:r>
              <a:rPr sz="1140" b="0">
                <a:solidFill>
                  <a:srgbClr val="2B5A7E"/>
                </a:solidFill>
                <a:latin typeface="Arial"/>
              </a:rPr>
              <a:t>(Southern New Hampshire University, 2026).</a:t>
            </a:r>
          </a:p>
        </p:txBody>
      </p:sp>
      <p:cxnSp>
        <p:nvCxnSpPr>
          <p:cNvPr id="11" name="Connector 10"/>
          <p:cNvCxnSpPr/>
          <p:nvPr/>
        </p:nvCxnSpPr>
        <p:spPr>
          <a:xfrm>
            <a:off x="731520" y="2990088"/>
            <a:ext cx="10725912" cy="0"/>
          </a:xfrm>
          <a:prstGeom prst="line">
            <a:avLst/>
          </a:prstGeom>
          <a:ln w="8890">
            <a:solidFill>
              <a:srgbClr val="D8DFE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0664" y="3246120"/>
            <a:ext cx="594360" cy="320040"/>
          </a:xfrm>
          <a:prstGeom prst="rect">
            <a:avLst/>
          </a:prstGeom>
          <a:noFill/>
        </p:spPr>
        <p:txBody>
          <a:bodyPr wrap="square" lIns="0" tIns="0" rIns="0" bIns="0" anchor="t">
            <a:spAutoFit/>
          </a:bodyPr>
          <a:lstStyle/>
          <a:p>
            <a:pPr algn="l">
              <a:lnSpc>
                <a:spcPct val="115000"/>
              </a:lnSpc>
              <a:spcBef>
                <a:spcPts val="0"/>
              </a:spcBef>
              <a:spcAft>
                <a:spcPts val="0"/>
              </a:spcAft>
            </a:pPr>
            <a:r>
              <a:rPr sz="1800" b="1" i="0">
                <a:solidFill>
                  <a:srgbClr val="326084"/>
                </a:solidFill>
                <a:latin typeface="Arial"/>
              </a:rPr>
              <a:t>02</a:t>
            </a:r>
          </a:p>
        </p:txBody>
      </p:sp>
      <p:sp>
        <p:nvSpPr>
          <p:cNvPr id="13" name="TextBox 12"/>
          <p:cNvSpPr txBox="1"/>
          <p:nvPr/>
        </p:nvSpPr>
        <p:spPr>
          <a:xfrm>
            <a:off x="1389888" y="3227832"/>
            <a:ext cx="2971800" cy="320040"/>
          </a:xfrm>
          <a:prstGeom prst="rect">
            <a:avLst/>
          </a:prstGeom>
          <a:noFill/>
        </p:spPr>
        <p:txBody>
          <a:bodyPr wrap="square" lIns="0" tIns="0" rIns="0" bIns="0" anchor="t">
            <a:spAutoFit/>
          </a:bodyPr>
          <a:lstStyle/>
          <a:p>
            <a:pPr algn="l">
              <a:lnSpc>
                <a:spcPct val="115000"/>
              </a:lnSpc>
              <a:spcBef>
                <a:spcPts val="0"/>
              </a:spcBef>
              <a:spcAft>
                <a:spcPts val="0"/>
              </a:spcAft>
            </a:pPr>
            <a:r>
              <a:rPr sz="1800" b="1" i="0">
                <a:solidFill>
                  <a:srgbClr val="1F2E3B"/>
                </a:solidFill>
                <a:latin typeface="Arial"/>
              </a:rPr>
              <a:t>Make work visible</a:t>
            </a:r>
          </a:p>
        </p:txBody>
      </p:sp>
      <p:sp>
        <p:nvSpPr>
          <p:cNvPr id="14" name="TextBox 13"/>
          <p:cNvSpPr txBox="1"/>
          <p:nvPr/>
        </p:nvSpPr>
        <p:spPr>
          <a:xfrm>
            <a:off x="4288536" y="3218688"/>
            <a:ext cx="6958584" cy="566928"/>
          </a:xfrm>
          <a:prstGeom prst="rect">
            <a:avLst/>
          </a:prstGeom>
          <a:noFill/>
        </p:spPr>
        <p:txBody>
          <a:bodyPr wrap="square" lIns="0" tIns="0" rIns="0" bIns="0" anchor="t">
            <a:noAutofit/>
          </a:bodyPr>
          <a:lstStyle/>
          <a:p>
            <a:pPr algn="l">
              <a:lnSpc>
                <a:spcPct val="115000"/>
              </a:lnSpc>
              <a:spcBef>
                <a:spcPts val="0"/>
              </a:spcBef>
              <a:spcAft>
                <a:spcPts val="0"/>
              </a:spcAft>
            </a:pPr>
            <a:r>
              <a:rPr sz="1410" b="0">
                <a:solidFill>
                  <a:srgbClr val="1F2E3B"/>
                </a:solidFill>
                <a:latin typeface="Arial"/>
              </a:rPr>
              <a:t>User stories and acceptance criteria made expectations visible </a:t>
            </a:r>
            <a:r>
              <a:rPr sz="1140" b="0">
                <a:solidFill>
                  <a:srgbClr val="2B5A7E"/>
                </a:solidFill>
                <a:latin typeface="Arial"/>
              </a:rPr>
              <a:t>(Southern New Hampshire University, 2026).</a:t>
            </a:r>
          </a:p>
        </p:txBody>
      </p:sp>
      <p:cxnSp>
        <p:nvCxnSpPr>
          <p:cNvPr id="15" name="Connector 14"/>
          <p:cNvCxnSpPr/>
          <p:nvPr/>
        </p:nvCxnSpPr>
        <p:spPr>
          <a:xfrm>
            <a:off x="731520" y="3950208"/>
            <a:ext cx="10725912" cy="0"/>
          </a:xfrm>
          <a:prstGeom prst="line">
            <a:avLst/>
          </a:prstGeom>
          <a:ln w="8890">
            <a:solidFill>
              <a:srgbClr val="D8DF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40664" y="4206240"/>
            <a:ext cx="594360" cy="320040"/>
          </a:xfrm>
          <a:prstGeom prst="rect">
            <a:avLst/>
          </a:prstGeom>
          <a:noFill/>
        </p:spPr>
        <p:txBody>
          <a:bodyPr wrap="square" lIns="0" tIns="0" rIns="0" bIns="0" anchor="t">
            <a:spAutoFit/>
          </a:bodyPr>
          <a:lstStyle/>
          <a:p>
            <a:pPr algn="l">
              <a:lnSpc>
                <a:spcPct val="115000"/>
              </a:lnSpc>
              <a:spcBef>
                <a:spcPts val="0"/>
              </a:spcBef>
              <a:spcAft>
                <a:spcPts val="0"/>
              </a:spcAft>
            </a:pPr>
            <a:r>
              <a:rPr sz="1800" b="1" i="0">
                <a:solidFill>
                  <a:srgbClr val="326084"/>
                </a:solidFill>
                <a:latin typeface="Arial"/>
              </a:rPr>
              <a:t>03</a:t>
            </a:r>
          </a:p>
        </p:txBody>
      </p:sp>
      <p:sp>
        <p:nvSpPr>
          <p:cNvPr id="17" name="TextBox 16"/>
          <p:cNvSpPr txBox="1"/>
          <p:nvPr/>
        </p:nvSpPr>
        <p:spPr>
          <a:xfrm>
            <a:off x="1389888" y="4187952"/>
            <a:ext cx="2971800" cy="320040"/>
          </a:xfrm>
          <a:prstGeom prst="rect">
            <a:avLst/>
          </a:prstGeom>
          <a:noFill/>
        </p:spPr>
        <p:txBody>
          <a:bodyPr wrap="square" lIns="0" tIns="0" rIns="0" bIns="0" anchor="t">
            <a:spAutoFit/>
          </a:bodyPr>
          <a:lstStyle/>
          <a:p>
            <a:pPr algn="l">
              <a:lnSpc>
                <a:spcPct val="115000"/>
              </a:lnSpc>
              <a:spcBef>
                <a:spcPts val="0"/>
              </a:spcBef>
              <a:spcAft>
                <a:spcPts val="0"/>
              </a:spcAft>
            </a:pPr>
            <a:r>
              <a:rPr sz="1800" b="1" i="0">
                <a:solidFill>
                  <a:srgbClr val="1F2E3B"/>
                </a:solidFill>
                <a:latin typeface="Arial"/>
              </a:rPr>
              <a:t>Protect quality</a:t>
            </a:r>
          </a:p>
        </p:txBody>
      </p:sp>
      <p:sp>
        <p:nvSpPr>
          <p:cNvPr id="18" name="TextBox 17"/>
          <p:cNvSpPr txBox="1"/>
          <p:nvPr/>
        </p:nvSpPr>
        <p:spPr>
          <a:xfrm>
            <a:off x="4288536" y="4178808"/>
            <a:ext cx="6958584" cy="566928"/>
          </a:xfrm>
          <a:prstGeom prst="rect">
            <a:avLst/>
          </a:prstGeom>
          <a:noFill/>
        </p:spPr>
        <p:txBody>
          <a:bodyPr wrap="square" lIns="0" tIns="0" rIns="0" bIns="0" anchor="t">
            <a:noAutofit/>
          </a:bodyPr>
          <a:lstStyle/>
          <a:p>
            <a:pPr algn="l">
              <a:lnSpc>
                <a:spcPct val="115000"/>
              </a:lnSpc>
              <a:spcBef>
                <a:spcPts val="0"/>
              </a:spcBef>
              <a:spcAft>
                <a:spcPts val="0"/>
              </a:spcAft>
            </a:pPr>
            <a:r>
              <a:rPr sz="1410" b="0">
                <a:solidFill>
                  <a:srgbClr val="1F2E3B"/>
                </a:solidFill>
                <a:latin typeface="Arial"/>
              </a:rPr>
              <a:t>A shared Definition of Done keeps verification part of the Increment </a:t>
            </a:r>
            <a:r>
              <a:rPr sz="1150" b="0">
                <a:solidFill>
                  <a:srgbClr val="2B5A7E"/>
                </a:solidFill>
                <a:latin typeface="Arial"/>
              </a:rPr>
              <a:t>(Schwaber &amp; Sutherland, 2020).</a:t>
            </a:r>
          </a:p>
        </p:txBody>
      </p:sp>
      <p:cxnSp>
        <p:nvCxnSpPr>
          <p:cNvPr id="19" name="Connector 18"/>
          <p:cNvCxnSpPr/>
          <p:nvPr/>
        </p:nvCxnSpPr>
        <p:spPr>
          <a:xfrm>
            <a:off x="731520" y="4910328"/>
            <a:ext cx="10725912" cy="0"/>
          </a:xfrm>
          <a:prstGeom prst="line">
            <a:avLst/>
          </a:prstGeom>
          <a:ln w="8890">
            <a:solidFill>
              <a:srgbClr val="D8DFE4"/>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731520" y="5285232"/>
            <a:ext cx="10716768" cy="786384"/>
          </a:xfrm>
          <a:prstGeom prst="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50976" y="5440680"/>
            <a:ext cx="2121408" cy="292608"/>
          </a:xfrm>
          <a:prstGeom prst="rect">
            <a:avLst/>
          </a:prstGeom>
          <a:noFill/>
        </p:spPr>
        <p:txBody>
          <a:bodyPr wrap="square" lIns="0" tIns="0" rIns="0" bIns="0" anchor="t">
            <a:spAutoFit/>
          </a:bodyPr>
          <a:lstStyle/>
          <a:p>
            <a:pPr algn="l">
              <a:lnSpc>
                <a:spcPct val="115000"/>
              </a:lnSpc>
              <a:spcBef>
                <a:spcPts val="0"/>
              </a:spcBef>
              <a:spcAft>
                <a:spcPts val="0"/>
              </a:spcAft>
            </a:pPr>
            <a:r>
              <a:rPr sz="1150" b="1" i="0">
                <a:solidFill>
                  <a:srgbClr val="326084"/>
                </a:solidFill>
                <a:latin typeface="Arial"/>
              </a:rPr>
              <a:t>EVIDENCE BOUNDARY</a:t>
            </a:r>
          </a:p>
        </p:txBody>
      </p:sp>
      <p:sp>
        <p:nvSpPr>
          <p:cNvPr id="22" name="TextBox 21"/>
          <p:cNvSpPr txBox="1"/>
          <p:nvPr/>
        </p:nvSpPr>
        <p:spPr>
          <a:xfrm>
            <a:off x="2962656" y="5404104"/>
            <a:ext cx="8183879" cy="475488"/>
          </a:xfrm>
          <a:prstGeom prst="rect">
            <a:avLst/>
          </a:prstGeom>
          <a:noFill/>
        </p:spPr>
        <p:txBody>
          <a:bodyPr wrap="square" lIns="0" tIns="0" rIns="0" bIns="0" anchor="t">
            <a:noAutofit/>
          </a:bodyPr>
          <a:lstStyle/>
          <a:p>
            <a:pPr algn="l">
              <a:lnSpc>
                <a:spcPct val="115000"/>
              </a:lnSpc>
              <a:spcBef>
                <a:spcPts val="0"/>
              </a:spcBef>
              <a:spcAft>
                <a:spcPts val="0"/>
              </a:spcAft>
            </a:pPr>
            <a:r>
              <a:rPr sz="1290" b="0">
                <a:solidFill>
                  <a:srgbClr val="1F2E3B"/>
                </a:solidFill>
                <a:latin typeface="Arial"/>
              </a:rPr>
              <a:t>SNHU Travel was a course simulation, not a deployed product </a:t>
            </a:r>
            <a:r>
              <a:rPr sz="1090" b="0">
                <a:solidFill>
                  <a:srgbClr val="2B5A7E"/>
                </a:solidFill>
                <a:latin typeface="Arial"/>
              </a:rPr>
              <a:t>(Southern New Hampshire University, 2026).</a:t>
            </a:r>
          </a:p>
        </p:txBody>
      </p:sp>
      <p:sp>
        <p:nvSpPr>
          <p:cNvPr id="23" name="TextBox 22"/>
          <p:cNvSpPr txBox="1"/>
          <p:nvPr/>
        </p:nvSpPr>
        <p:spPr>
          <a:xfrm>
            <a:off x="685800" y="6382512"/>
            <a:ext cx="9875520" cy="237744"/>
          </a:xfrm>
          <a:prstGeom prst="rect">
            <a:avLst/>
          </a:prstGeom>
          <a:noFill/>
        </p:spPr>
        <p:txBody>
          <a:bodyPr wrap="none" lIns="0" tIns="0" rIns="0" bIns="0">
            <a:spAutoFit/>
          </a:bodyPr>
          <a:lstStyle/>
          <a:p>
            <a:r>
              <a:rPr sz="930">
                <a:solidFill>
                  <a:srgbClr val="616F7A"/>
                </a:solidFill>
                <a:latin typeface="Arial"/>
              </a:rPr>
              <a:t>Complete reference entries and source links: slides 14–15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374904"/>
            <a:ext cx="9875520" cy="237744"/>
          </a:xfrm>
          <a:prstGeom prst="rect">
            <a:avLst/>
          </a:prstGeom>
          <a:noFill/>
        </p:spPr>
        <p:txBody>
          <a:bodyPr wrap="square" lIns="0" tIns="0" rIns="0" bIns="0" anchor="t">
            <a:spAutoFit/>
          </a:bodyPr>
          <a:lstStyle/>
          <a:p>
            <a:pPr algn="l">
              <a:lnSpc>
                <a:spcPct val="115000"/>
              </a:lnSpc>
              <a:spcBef>
                <a:spcPts val="0"/>
              </a:spcBef>
              <a:spcAft>
                <a:spcPts val="0"/>
              </a:spcAft>
            </a:pPr>
            <a:r>
              <a:rPr sz="1100" b="1" i="0">
                <a:solidFill>
                  <a:srgbClr val="326084"/>
                </a:solidFill>
                <a:latin typeface="Arial"/>
              </a:rPr>
              <a:t>METHOD</a:t>
            </a:r>
          </a:p>
        </p:txBody>
      </p:sp>
      <p:sp>
        <p:nvSpPr>
          <p:cNvPr id="3" name="TextBox 2"/>
          <p:cNvSpPr txBox="1"/>
          <p:nvPr/>
        </p:nvSpPr>
        <p:spPr>
          <a:xfrm>
            <a:off x="676656" y="722376"/>
            <a:ext cx="10881360" cy="484632"/>
          </a:xfrm>
          <a:prstGeom prst="rect">
            <a:avLst/>
          </a:prstGeom>
          <a:noFill/>
        </p:spPr>
        <p:txBody>
          <a:bodyPr wrap="square" lIns="0" tIns="0" rIns="0" bIns="0" anchor="t">
            <a:spAutoFit/>
          </a:bodyPr>
          <a:lstStyle/>
          <a:p>
            <a:pPr algn="l">
              <a:lnSpc>
                <a:spcPct val="115000"/>
              </a:lnSpc>
              <a:spcBef>
                <a:spcPts val="0"/>
              </a:spcBef>
              <a:spcAft>
                <a:spcPts val="0"/>
              </a:spcAft>
            </a:pPr>
            <a:r>
              <a:rPr sz="2770" b="1" i="0">
                <a:solidFill>
                  <a:srgbClr val="1F2E3B"/>
                </a:solidFill>
                <a:latin typeface="Arial"/>
              </a:rPr>
              <a:t>Scrum turns feedback into repeatable decisions</a:t>
            </a:r>
          </a:p>
        </p:txBody>
      </p:sp>
      <p:sp>
        <p:nvSpPr>
          <p:cNvPr id="4" name="TextBox 3"/>
          <p:cNvSpPr txBox="1"/>
          <p:nvPr/>
        </p:nvSpPr>
        <p:spPr>
          <a:xfrm>
            <a:off x="685800" y="1380744"/>
            <a:ext cx="10881360" cy="521207"/>
          </a:xfrm>
          <a:prstGeom prst="rect">
            <a:avLst/>
          </a:prstGeom>
          <a:noFill/>
        </p:spPr>
        <p:txBody>
          <a:bodyPr wrap="square" lIns="0" tIns="0" rIns="0" bIns="0" anchor="t">
            <a:noAutofit/>
          </a:bodyPr>
          <a:lstStyle/>
          <a:p>
            <a:pPr algn="l">
              <a:lnSpc>
                <a:spcPct val="115000"/>
              </a:lnSpc>
              <a:spcBef>
                <a:spcPts val="0"/>
              </a:spcBef>
              <a:spcAft>
                <a:spcPts val="0"/>
              </a:spcAft>
            </a:pPr>
            <a:r>
              <a:rPr sz="1400" b="0" dirty="0">
                <a:solidFill>
                  <a:srgbClr val="1F2E3B"/>
                </a:solidFill>
                <a:latin typeface="Arial"/>
              </a:rPr>
              <a:t>Scrum relies on transparency, inspection, and adaptation across Sprints </a:t>
            </a:r>
            <a:r>
              <a:rPr sz="1150" b="0" dirty="0">
                <a:solidFill>
                  <a:srgbClr val="2B5A7E"/>
                </a:solidFill>
                <a:latin typeface="Arial"/>
              </a:rPr>
              <a:t>(</a:t>
            </a:r>
            <a:r>
              <a:rPr sz="1150" b="0" dirty="0" err="1">
                <a:solidFill>
                  <a:srgbClr val="2B5A7E"/>
                </a:solidFill>
                <a:latin typeface="Arial"/>
              </a:rPr>
              <a:t>Schwaber</a:t>
            </a:r>
            <a:r>
              <a:rPr sz="1150" b="0" dirty="0">
                <a:solidFill>
                  <a:srgbClr val="2B5A7E"/>
                </a:solidFill>
                <a:latin typeface="Arial"/>
              </a:rPr>
              <a:t> &amp; Sutherland, 2020; </a:t>
            </a:r>
            <a:r>
              <a:rPr sz="1150" b="0" dirty="0" err="1">
                <a:solidFill>
                  <a:srgbClr val="2B5A7E"/>
                </a:solidFill>
                <a:latin typeface="Arial"/>
              </a:rPr>
              <a:t>Deneir</a:t>
            </a:r>
            <a:r>
              <a:rPr sz="1150" b="0" dirty="0">
                <a:solidFill>
                  <a:srgbClr val="2B5A7E"/>
                </a:solidFill>
                <a:latin typeface="Arial"/>
              </a:rPr>
              <a:t>, 2024).</a:t>
            </a:r>
          </a:p>
        </p:txBody>
      </p:sp>
      <p:cxnSp>
        <p:nvCxnSpPr>
          <p:cNvPr id="5" name="Connector 4"/>
          <p:cNvCxnSpPr/>
          <p:nvPr/>
        </p:nvCxnSpPr>
        <p:spPr>
          <a:xfrm>
            <a:off x="685800" y="1897380"/>
            <a:ext cx="10808208" cy="0"/>
          </a:xfrm>
          <a:prstGeom prst="line">
            <a:avLst/>
          </a:prstGeom>
          <a:ln w="13970">
            <a:solidFill>
              <a:srgbClr val="D8DF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991088" y="6419088"/>
            <a:ext cx="521207" cy="237744"/>
          </a:xfrm>
          <a:prstGeom prst="rect">
            <a:avLst/>
          </a:prstGeom>
          <a:noFill/>
        </p:spPr>
        <p:txBody>
          <a:bodyPr wrap="square" lIns="0" tIns="0" rIns="0" bIns="0" anchor="t">
            <a:spAutoFit/>
          </a:bodyPr>
          <a:lstStyle/>
          <a:p>
            <a:pPr algn="r">
              <a:lnSpc>
                <a:spcPct val="115000"/>
              </a:lnSpc>
              <a:spcBef>
                <a:spcPts val="0"/>
              </a:spcBef>
              <a:spcAft>
                <a:spcPts val="0"/>
              </a:spcAft>
            </a:pPr>
            <a:r>
              <a:rPr sz="1050" b="0" i="0">
                <a:solidFill>
                  <a:srgbClr val="65737E"/>
                </a:solidFill>
                <a:latin typeface="Arial"/>
              </a:rPr>
              <a:t>03</a:t>
            </a:r>
          </a:p>
        </p:txBody>
      </p:sp>
      <p:sp>
        <p:nvSpPr>
          <p:cNvPr id="8" name="Rectangle 7"/>
          <p:cNvSpPr/>
          <p:nvPr/>
        </p:nvSpPr>
        <p:spPr>
          <a:xfrm>
            <a:off x="694944" y="2185416"/>
            <a:ext cx="3456432" cy="1033271"/>
          </a:xfrm>
          <a:prstGeom prst="rect">
            <a:avLst/>
          </a:prstGeom>
          <a:solidFill>
            <a:srgbClr val="F5F7F9"/>
          </a:solidFill>
          <a:ln w="1016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2350008"/>
            <a:ext cx="3108960" cy="237744"/>
          </a:xfrm>
          <a:prstGeom prst="rect">
            <a:avLst/>
          </a:prstGeom>
          <a:noFill/>
        </p:spPr>
        <p:txBody>
          <a:bodyPr wrap="square" lIns="0" tIns="0" rIns="0" bIns="0" anchor="t">
            <a:spAutoFit/>
          </a:bodyPr>
          <a:lstStyle/>
          <a:p>
            <a:pPr algn="l">
              <a:lnSpc>
                <a:spcPct val="115000"/>
              </a:lnSpc>
              <a:spcBef>
                <a:spcPts val="0"/>
              </a:spcBef>
              <a:spcAft>
                <a:spcPts val="0"/>
              </a:spcAft>
            </a:pPr>
            <a:r>
              <a:rPr sz="1200" b="1" i="0" dirty="0">
                <a:solidFill>
                  <a:srgbClr val="326084"/>
                </a:solidFill>
                <a:latin typeface="Arial"/>
              </a:rPr>
              <a:t>TRANSPARENCY</a:t>
            </a:r>
          </a:p>
        </p:txBody>
      </p:sp>
      <p:sp>
        <p:nvSpPr>
          <p:cNvPr id="10" name="TextBox 9"/>
          <p:cNvSpPr txBox="1"/>
          <p:nvPr/>
        </p:nvSpPr>
        <p:spPr>
          <a:xfrm>
            <a:off x="886968" y="2679192"/>
            <a:ext cx="3099816" cy="384048"/>
          </a:xfrm>
          <a:prstGeom prst="rect">
            <a:avLst/>
          </a:prstGeom>
          <a:noFill/>
        </p:spPr>
        <p:txBody>
          <a:bodyPr wrap="square" lIns="0" tIns="0" rIns="0" bIns="0" anchor="t">
            <a:spAutoFit/>
          </a:bodyPr>
          <a:lstStyle/>
          <a:p>
            <a:pPr algn="l">
              <a:lnSpc>
                <a:spcPct val="115000"/>
              </a:lnSpc>
              <a:spcBef>
                <a:spcPts val="0"/>
              </a:spcBef>
              <a:spcAft>
                <a:spcPts val="0"/>
              </a:spcAft>
            </a:pPr>
            <a:r>
              <a:rPr sz="1400" b="0" i="0" dirty="0">
                <a:solidFill>
                  <a:srgbClr val="313D48"/>
                </a:solidFill>
                <a:latin typeface="Arial"/>
              </a:rPr>
              <a:t>Make priorities and status visible</a:t>
            </a:r>
          </a:p>
        </p:txBody>
      </p:sp>
      <p:sp>
        <p:nvSpPr>
          <p:cNvPr id="11" name="Rectangle 10"/>
          <p:cNvSpPr/>
          <p:nvPr/>
        </p:nvSpPr>
        <p:spPr>
          <a:xfrm>
            <a:off x="4352544" y="2185416"/>
            <a:ext cx="3456432" cy="1033271"/>
          </a:xfrm>
          <a:prstGeom prst="rect">
            <a:avLst/>
          </a:prstGeom>
          <a:solidFill>
            <a:srgbClr val="F5F7F9"/>
          </a:solidFill>
          <a:ln w="1016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44568" y="2350008"/>
            <a:ext cx="3108960" cy="237744"/>
          </a:xfrm>
          <a:prstGeom prst="rect">
            <a:avLst/>
          </a:prstGeom>
          <a:noFill/>
        </p:spPr>
        <p:txBody>
          <a:bodyPr wrap="square" lIns="0" tIns="0" rIns="0" bIns="0" anchor="t">
            <a:spAutoFit/>
          </a:bodyPr>
          <a:lstStyle/>
          <a:p>
            <a:pPr algn="l">
              <a:lnSpc>
                <a:spcPct val="115000"/>
              </a:lnSpc>
              <a:spcBef>
                <a:spcPts val="0"/>
              </a:spcBef>
              <a:spcAft>
                <a:spcPts val="0"/>
              </a:spcAft>
            </a:pPr>
            <a:r>
              <a:rPr sz="1200" b="1" i="0">
                <a:solidFill>
                  <a:srgbClr val="326084"/>
                </a:solidFill>
                <a:latin typeface="Arial"/>
              </a:rPr>
              <a:t>INSPECTION</a:t>
            </a:r>
          </a:p>
        </p:txBody>
      </p:sp>
      <p:sp>
        <p:nvSpPr>
          <p:cNvPr id="13" name="TextBox 12"/>
          <p:cNvSpPr txBox="1"/>
          <p:nvPr/>
        </p:nvSpPr>
        <p:spPr>
          <a:xfrm>
            <a:off x="4544568" y="2679192"/>
            <a:ext cx="3099816" cy="384048"/>
          </a:xfrm>
          <a:prstGeom prst="rect">
            <a:avLst/>
          </a:prstGeom>
          <a:noFill/>
        </p:spPr>
        <p:txBody>
          <a:bodyPr wrap="square" lIns="0" tIns="0" rIns="0" bIns="0" anchor="t">
            <a:spAutoFit/>
          </a:bodyPr>
          <a:lstStyle/>
          <a:p>
            <a:pPr algn="l">
              <a:lnSpc>
                <a:spcPct val="115000"/>
              </a:lnSpc>
              <a:spcBef>
                <a:spcPts val="0"/>
              </a:spcBef>
              <a:spcAft>
                <a:spcPts val="0"/>
              </a:spcAft>
            </a:pPr>
            <a:r>
              <a:rPr sz="1400" b="0" i="0">
                <a:solidFill>
                  <a:srgbClr val="313D48"/>
                </a:solidFill>
                <a:latin typeface="Arial"/>
              </a:rPr>
              <a:t>Review progress and the increment</a:t>
            </a:r>
          </a:p>
        </p:txBody>
      </p:sp>
      <p:sp>
        <p:nvSpPr>
          <p:cNvPr id="14" name="Rectangle 13"/>
          <p:cNvSpPr/>
          <p:nvPr/>
        </p:nvSpPr>
        <p:spPr>
          <a:xfrm>
            <a:off x="8010144" y="2185416"/>
            <a:ext cx="3456432" cy="1033271"/>
          </a:xfrm>
          <a:prstGeom prst="rect">
            <a:avLst/>
          </a:prstGeom>
          <a:solidFill>
            <a:srgbClr val="F5F7F9"/>
          </a:solidFill>
          <a:ln w="1016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02168" y="2350008"/>
            <a:ext cx="3108960" cy="237744"/>
          </a:xfrm>
          <a:prstGeom prst="rect">
            <a:avLst/>
          </a:prstGeom>
          <a:noFill/>
        </p:spPr>
        <p:txBody>
          <a:bodyPr wrap="square" lIns="0" tIns="0" rIns="0" bIns="0" anchor="t">
            <a:spAutoFit/>
          </a:bodyPr>
          <a:lstStyle/>
          <a:p>
            <a:pPr algn="l">
              <a:lnSpc>
                <a:spcPct val="115000"/>
              </a:lnSpc>
              <a:spcBef>
                <a:spcPts val="0"/>
              </a:spcBef>
              <a:spcAft>
                <a:spcPts val="0"/>
              </a:spcAft>
            </a:pPr>
            <a:r>
              <a:rPr sz="1200" b="1" i="0">
                <a:solidFill>
                  <a:srgbClr val="326084"/>
                </a:solidFill>
                <a:latin typeface="Arial"/>
              </a:rPr>
              <a:t>ADAPTATION</a:t>
            </a:r>
          </a:p>
        </p:txBody>
      </p:sp>
      <p:sp>
        <p:nvSpPr>
          <p:cNvPr id="16" name="TextBox 15"/>
          <p:cNvSpPr txBox="1"/>
          <p:nvPr/>
        </p:nvSpPr>
        <p:spPr>
          <a:xfrm>
            <a:off x="8202168" y="2679192"/>
            <a:ext cx="3099816" cy="384048"/>
          </a:xfrm>
          <a:prstGeom prst="rect">
            <a:avLst/>
          </a:prstGeom>
          <a:noFill/>
        </p:spPr>
        <p:txBody>
          <a:bodyPr wrap="square" lIns="0" tIns="0" rIns="0" bIns="0" anchor="t">
            <a:spAutoFit/>
          </a:bodyPr>
          <a:lstStyle/>
          <a:p>
            <a:pPr algn="l">
              <a:lnSpc>
                <a:spcPct val="115000"/>
              </a:lnSpc>
              <a:spcBef>
                <a:spcPts val="0"/>
              </a:spcBef>
              <a:spcAft>
                <a:spcPts val="0"/>
              </a:spcAft>
            </a:pPr>
            <a:r>
              <a:rPr sz="1400" b="0" i="0">
                <a:solidFill>
                  <a:srgbClr val="313D48"/>
                </a:solidFill>
                <a:latin typeface="Arial"/>
              </a:rPr>
              <a:t>Adjust product and process</a:t>
            </a:r>
          </a:p>
        </p:txBody>
      </p:sp>
      <p:sp>
        <p:nvSpPr>
          <p:cNvPr id="17" name="TextBox 16"/>
          <p:cNvSpPr txBox="1"/>
          <p:nvPr/>
        </p:nvSpPr>
        <p:spPr>
          <a:xfrm>
            <a:off x="722376" y="3602736"/>
            <a:ext cx="8321040" cy="320040"/>
          </a:xfrm>
          <a:prstGeom prst="rect">
            <a:avLst/>
          </a:prstGeom>
          <a:noFill/>
        </p:spPr>
        <p:txBody>
          <a:bodyPr wrap="square" lIns="0" tIns="0" rIns="0" bIns="0" anchor="t">
            <a:spAutoFit/>
          </a:bodyPr>
          <a:lstStyle/>
          <a:p>
            <a:pPr algn="l">
              <a:lnSpc>
                <a:spcPct val="115000"/>
              </a:lnSpc>
              <a:spcBef>
                <a:spcPts val="0"/>
              </a:spcBef>
              <a:spcAft>
                <a:spcPts val="0"/>
              </a:spcAft>
            </a:pPr>
            <a:r>
              <a:rPr sz="1200" b="1" i="0">
                <a:solidFill>
                  <a:srgbClr val="326084"/>
                </a:solidFill>
                <a:latin typeface="Arial"/>
              </a:rPr>
              <a:t>A SPRINT IN FOUR STEPS</a:t>
            </a:r>
          </a:p>
        </p:txBody>
      </p:sp>
      <p:sp>
        <p:nvSpPr>
          <p:cNvPr id="18" name="Rectangle 17"/>
          <p:cNvSpPr/>
          <p:nvPr/>
        </p:nvSpPr>
        <p:spPr>
          <a:xfrm>
            <a:off x="704088" y="4059936"/>
            <a:ext cx="2532888" cy="950976"/>
          </a:xfrm>
          <a:prstGeom prst="rect">
            <a:avLst/>
          </a:prstGeom>
          <a:solidFill>
            <a:srgbClr val="FFFFFF"/>
          </a:solidFill>
          <a:ln w="1397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9536" y="4261104"/>
            <a:ext cx="448056" cy="301752"/>
          </a:xfrm>
          <a:prstGeom prst="rect">
            <a:avLst/>
          </a:prstGeom>
          <a:noFill/>
        </p:spPr>
        <p:txBody>
          <a:bodyPr wrap="square" lIns="0" tIns="0" rIns="0" bIns="0" anchor="t">
            <a:spAutoFit/>
          </a:bodyPr>
          <a:lstStyle/>
          <a:p>
            <a:pPr algn="l">
              <a:lnSpc>
                <a:spcPct val="115000"/>
              </a:lnSpc>
              <a:spcBef>
                <a:spcPts val="0"/>
              </a:spcBef>
              <a:spcAft>
                <a:spcPts val="0"/>
              </a:spcAft>
            </a:pPr>
            <a:r>
              <a:rPr sz="1700" b="1" i="0">
                <a:solidFill>
                  <a:srgbClr val="326084"/>
                </a:solidFill>
                <a:latin typeface="Arial"/>
              </a:rPr>
              <a:t>01</a:t>
            </a:r>
          </a:p>
        </p:txBody>
      </p:sp>
      <p:sp>
        <p:nvSpPr>
          <p:cNvPr id="20" name="TextBox 19"/>
          <p:cNvSpPr txBox="1"/>
          <p:nvPr/>
        </p:nvSpPr>
        <p:spPr>
          <a:xfrm>
            <a:off x="1353312" y="4197096"/>
            <a:ext cx="1700784" cy="548640"/>
          </a:xfrm>
          <a:prstGeom prst="rect">
            <a:avLst/>
          </a:prstGeom>
          <a:noFill/>
        </p:spPr>
        <p:txBody>
          <a:bodyPr wrap="square" lIns="0" tIns="0" rIns="0" bIns="0" anchor="ctr">
            <a:spAutoFit/>
          </a:bodyPr>
          <a:lstStyle/>
          <a:p>
            <a:pPr algn="l">
              <a:lnSpc>
                <a:spcPct val="115000"/>
              </a:lnSpc>
              <a:spcBef>
                <a:spcPts val="0"/>
              </a:spcBef>
              <a:spcAft>
                <a:spcPts val="0"/>
              </a:spcAft>
            </a:pPr>
            <a:r>
              <a:rPr sz="1430" b="1" i="0" dirty="0">
                <a:solidFill>
                  <a:srgbClr val="1F2E3B"/>
                </a:solidFill>
                <a:latin typeface="Arial"/>
              </a:rPr>
              <a:t>Sprint Planning</a:t>
            </a:r>
          </a:p>
        </p:txBody>
      </p:sp>
      <p:sp>
        <p:nvSpPr>
          <p:cNvPr id="21" name="Rectangle 20"/>
          <p:cNvSpPr/>
          <p:nvPr/>
        </p:nvSpPr>
        <p:spPr>
          <a:xfrm>
            <a:off x="3456432" y="4059936"/>
            <a:ext cx="2532888" cy="950976"/>
          </a:xfrm>
          <a:prstGeom prst="rect">
            <a:avLst/>
          </a:prstGeom>
          <a:solidFill>
            <a:srgbClr val="FFFFFF"/>
          </a:solidFill>
          <a:ln w="1397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11879" y="4261104"/>
            <a:ext cx="448056" cy="301752"/>
          </a:xfrm>
          <a:prstGeom prst="rect">
            <a:avLst/>
          </a:prstGeom>
          <a:noFill/>
        </p:spPr>
        <p:txBody>
          <a:bodyPr wrap="square" lIns="0" tIns="0" rIns="0" bIns="0" anchor="t">
            <a:spAutoFit/>
          </a:bodyPr>
          <a:lstStyle/>
          <a:p>
            <a:pPr algn="l">
              <a:lnSpc>
                <a:spcPct val="115000"/>
              </a:lnSpc>
              <a:spcBef>
                <a:spcPts val="0"/>
              </a:spcBef>
              <a:spcAft>
                <a:spcPts val="0"/>
              </a:spcAft>
            </a:pPr>
            <a:r>
              <a:rPr sz="1700" b="1" i="0">
                <a:solidFill>
                  <a:srgbClr val="326084"/>
                </a:solidFill>
                <a:latin typeface="Arial"/>
              </a:rPr>
              <a:t>02</a:t>
            </a:r>
          </a:p>
        </p:txBody>
      </p:sp>
      <p:sp>
        <p:nvSpPr>
          <p:cNvPr id="23" name="TextBox 22"/>
          <p:cNvSpPr txBox="1"/>
          <p:nvPr/>
        </p:nvSpPr>
        <p:spPr>
          <a:xfrm>
            <a:off x="4105656" y="4197096"/>
            <a:ext cx="1700784" cy="548640"/>
          </a:xfrm>
          <a:prstGeom prst="rect">
            <a:avLst/>
          </a:prstGeom>
          <a:noFill/>
        </p:spPr>
        <p:txBody>
          <a:bodyPr wrap="square" lIns="0" tIns="0" rIns="0" bIns="0" anchor="ctr">
            <a:spAutoFit/>
          </a:bodyPr>
          <a:lstStyle/>
          <a:p>
            <a:pPr algn="l">
              <a:lnSpc>
                <a:spcPct val="115000"/>
              </a:lnSpc>
              <a:spcBef>
                <a:spcPts val="0"/>
              </a:spcBef>
              <a:spcAft>
                <a:spcPts val="0"/>
              </a:spcAft>
            </a:pPr>
            <a:r>
              <a:rPr sz="1430" b="1" i="0" dirty="0">
                <a:solidFill>
                  <a:srgbClr val="1F2E3B"/>
                </a:solidFill>
                <a:latin typeface="Arial"/>
              </a:rPr>
              <a:t>Build + Daily Scrum</a:t>
            </a:r>
          </a:p>
        </p:txBody>
      </p:sp>
      <p:sp>
        <p:nvSpPr>
          <p:cNvPr id="24" name="Rectangle 23"/>
          <p:cNvSpPr/>
          <p:nvPr/>
        </p:nvSpPr>
        <p:spPr>
          <a:xfrm>
            <a:off x="6208775" y="4059936"/>
            <a:ext cx="2532888" cy="950976"/>
          </a:xfrm>
          <a:prstGeom prst="rect">
            <a:avLst/>
          </a:prstGeom>
          <a:solidFill>
            <a:srgbClr val="FFFFFF"/>
          </a:solidFill>
          <a:ln w="1397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64223" y="4261104"/>
            <a:ext cx="448056" cy="301752"/>
          </a:xfrm>
          <a:prstGeom prst="rect">
            <a:avLst/>
          </a:prstGeom>
          <a:noFill/>
        </p:spPr>
        <p:txBody>
          <a:bodyPr wrap="square" lIns="0" tIns="0" rIns="0" bIns="0" anchor="t">
            <a:spAutoFit/>
          </a:bodyPr>
          <a:lstStyle/>
          <a:p>
            <a:pPr algn="l">
              <a:lnSpc>
                <a:spcPct val="115000"/>
              </a:lnSpc>
              <a:spcBef>
                <a:spcPts val="0"/>
              </a:spcBef>
              <a:spcAft>
                <a:spcPts val="0"/>
              </a:spcAft>
            </a:pPr>
            <a:r>
              <a:rPr sz="1700" b="1" i="0">
                <a:solidFill>
                  <a:srgbClr val="326084"/>
                </a:solidFill>
                <a:latin typeface="Arial"/>
              </a:rPr>
              <a:t>03</a:t>
            </a:r>
          </a:p>
        </p:txBody>
      </p:sp>
      <p:sp>
        <p:nvSpPr>
          <p:cNvPr id="26" name="TextBox 25"/>
          <p:cNvSpPr txBox="1"/>
          <p:nvPr/>
        </p:nvSpPr>
        <p:spPr>
          <a:xfrm>
            <a:off x="6857999" y="4197096"/>
            <a:ext cx="1700784" cy="548640"/>
          </a:xfrm>
          <a:prstGeom prst="rect">
            <a:avLst/>
          </a:prstGeom>
          <a:noFill/>
        </p:spPr>
        <p:txBody>
          <a:bodyPr wrap="square" lIns="0" tIns="0" rIns="0" bIns="0" anchor="ctr">
            <a:spAutoFit/>
          </a:bodyPr>
          <a:lstStyle/>
          <a:p>
            <a:pPr algn="l">
              <a:lnSpc>
                <a:spcPct val="115000"/>
              </a:lnSpc>
              <a:spcBef>
                <a:spcPts val="0"/>
              </a:spcBef>
              <a:spcAft>
                <a:spcPts val="0"/>
              </a:spcAft>
            </a:pPr>
            <a:r>
              <a:rPr sz="1430" b="1" i="0" dirty="0">
                <a:solidFill>
                  <a:srgbClr val="1F2E3B"/>
                </a:solidFill>
                <a:latin typeface="Arial"/>
              </a:rPr>
              <a:t>Sprint Review</a:t>
            </a:r>
          </a:p>
        </p:txBody>
      </p:sp>
      <p:sp>
        <p:nvSpPr>
          <p:cNvPr id="27" name="Rectangle 26"/>
          <p:cNvSpPr/>
          <p:nvPr/>
        </p:nvSpPr>
        <p:spPr>
          <a:xfrm>
            <a:off x="8961119" y="4059936"/>
            <a:ext cx="2532888" cy="950976"/>
          </a:xfrm>
          <a:prstGeom prst="rect">
            <a:avLst/>
          </a:prstGeom>
          <a:solidFill>
            <a:srgbClr val="FFFFFF"/>
          </a:solidFill>
          <a:ln w="1397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16567" y="4261104"/>
            <a:ext cx="448056" cy="301752"/>
          </a:xfrm>
          <a:prstGeom prst="rect">
            <a:avLst/>
          </a:prstGeom>
          <a:noFill/>
        </p:spPr>
        <p:txBody>
          <a:bodyPr wrap="square" lIns="0" tIns="0" rIns="0" bIns="0" anchor="t">
            <a:spAutoFit/>
          </a:bodyPr>
          <a:lstStyle/>
          <a:p>
            <a:pPr algn="l">
              <a:lnSpc>
                <a:spcPct val="115000"/>
              </a:lnSpc>
              <a:spcBef>
                <a:spcPts val="0"/>
              </a:spcBef>
              <a:spcAft>
                <a:spcPts val="0"/>
              </a:spcAft>
            </a:pPr>
            <a:r>
              <a:rPr sz="1700" b="1" i="0">
                <a:solidFill>
                  <a:srgbClr val="326084"/>
                </a:solidFill>
                <a:latin typeface="Arial"/>
              </a:rPr>
              <a:t>04</a:t>
            </a:r>
          </a:p>
        </p:txBody>
      </p:sp>
      <p:sp>
        <p:nvSpPr>
          <p:cNvPr id="29" name="TextBox 28"/>
          <p:cNvSpPr txBox="1"/>
          <p:nvPr/>
        </p:nvSpPr>
        <p:spPr>
          <a:xfrm>
            <a:off x="9610343" y="4197096"/>
            <a:ext cx="1700784" cy="548640"/>
          </a:xfrm>
          <a:prstGeom prst="rect">
            <a:avLst/>
          </a:prstGeom>
          <a:noFill/>
        </p:spPr>
        <p:txBody>
          <a:bodyPr wrap="square" lIns="0" tIns="0" rIns="0" bIns="0" anchor="ctr">
            <a:spAutoFit/>
          </a:bodyPr>
          <a:lstStyle/>
          <a:p>
            <a:pPr algn="l">
              <a:lnSpc>
                <a:spcPct val="115000"/>
              </a:lnSpc>
              <a:spcBef>
                <a:spcPts val="0"/>
              </a:spcBef>
              <a:spcAft>
                <a:spcPts val="0"/>
              </a:spcAft>
            </a:pPr>
            <a:r>
              <a:rPr sz="1430" b="1" i="0" dirty="0">
                <a:solidFill>
                  <a:srgbClr val="1F2E3B"/>
                </a:solidFill>
                <a:latin typeface="Arial"/>
              </a:rPr>
              <a:t>Sprint Retrospective</a:t>
            </a:r>
          </a:p>
        </p:txBody>
      </p:sp>
      <p:sp>
        <p:nvSpPr>
          <p:cNvPr id="30" name="Rectangle 29"/>
          <p:cNvSpPr/>
          <p:nvPr/>
        </p:nvSpPr>
        <p:spPr>
          <a:xfrm>
            <a:off x="704088" y="5349240"/>
            <a:ext cx="10808208" cy="585216"/>
          </a:xfrm>
          <a:prstGeom prst="rect">
            <a:avLst/>
          </a:prstGeom>
          <a:solidFill>
            <a:srgbClr val="EB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50976" y="5495544"/>
            <a:ext cx="10222992" cy="274320"/>
          </a:xfrm>
          <a:prstGeom prst="rect">
            <a:avLst/>
          </a:prstGeom>
          <a:noFill/>
        </p:spPr>
        <p:txBody>
          <a:bodyPr wrap="square" lIns="0" tIns="0" rIns="0" bIns="0" anchor="t">
            <a:noAutofit/>
          </a:bodyPr>
          <a:lstStyle/>
          <a:p>
            <a:pPr algn="l">
              <a:lnSpc>
                <a:spcPct val="115000"/>
              </a:lnSpc>
              <a:spcBef>
                <a:spcPts val="0"/>
              </a:spcBef>
              <a:spcAft>
                <a:spcPts val="0"/>
              </a:spcAft>
            </a:pPr>
            <a:r>
              <a:rPr sz="1440" b="1" dirty="0">
                <a:solidFill>
                  <a:srgbClr val="1F2E3B"/>
                </a:solidFill>
                <a:latin typeface="Arial"/>
              </a:rPr>
              <a:t>Each Sprint creates an Increment for inspection and feedback </a:t>
            </a:r>
            <a:r>
              <a:rPr sz="1180" b="0" dirty="0">
                <a:solidFill>
                  <a:srgbClr val="2B5A7E"/>
                </a:solidFill>
                <a:latin typeface="Arial"/>
              </a:rPr>
              <a:t>(</a:t>
            </a:r>
            <a:r>
              <a:rPr sz="1180" b="0" dirty="0" err="1">
                <a:solidFill>
                  <a:srgbClr val="2B5A7E"/>
                </a:solidFill>
                <a:latin typeface="Arial"/>
              </a:rPr>
              <a:t>Schwaber</a:t>
            </a:r>
            <a:r>
              <a:rPr sz="1180" b="0" dirty="0">
                <a:solidFill>
                  <a:srgbClr val="2B5A7E"/>
                </a:solidFill>
                <a:latin typeface="Arial"/>
              </a:rPr>
              <a:t> &amp; Sutherland, 2020).</a:t>
            </a:r>
          </a:p>
        </p:txBody>
      </p:sp>
      <p:sp>
        <p:nvSpPr>
          <p:cNvPr id="32" name="TextBox 31"/>
          <p:cNvSpPr txBox="1"/>
          <p:nvPr/>
        </p:nvSpPr>
        <p:spPr>
          <a:xfrm>
            <a:off x="685800" y="6382512"/>
            <a:ext cx="9875520" cy="237744"/>
          </a:xfrm>
          <a:prstGeom prst="rect">
            <a:avLst/>
          </a:prstGeom>
          <a:noFill/>
        </p:spPr>
        <p:txBody>
          <a:bodyPr wrap="none" lIns="0" tIns="0" rIns="0" bIns="0">
            <a:spAutoFit/>
          </a:bodyPr>
          <a:lstStyle/>
          <a:p>
            <a:r>
              <a:rPr sz="930">
                <a:solidFill>
                  <a:srgbClr val="616F7A"/>
                </a:solidFill>
                <a:latin typeface="Arial"/>
              </a:rPr>
              <a:t>Complete reference entries and source links: slides 14–15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374904"/>
            <a:ext cx="9875520" cy="237744"/>
          </a:xfrm>
          <a:prstGeom prst="rect">
            <a:avLst/>
          </a:prstGeom>
          <a:noFill/>
        </p:spPr>
        <p:txBody>
          <a:bodyPr wrap="square" lIns="0" tIns="0" rIns="0" bIns="0" anchor="t">
            <a:spAutoFit/>
          </a:bodyPr>
          <a:lstStyle/>
          <a:p>
            <a:pPr algn="l">
              <a:lnSpc>
                <a:spcPct val="115000"/>
              </a:lnSpc>
              <a:spcBef>
                <a:spcPts val="0"/>
              </a:spcBef>
              <a:spcAft>
                <a:spcPts val="0"/>
              </a:spcAft>
            </a:pPr>
            <a:r>
              <a:rPr sz="1100" b="1" i="0">
                <a:solidFill>
                  <a:srgbClr val="326084"/>
                </a:solidFill>
                <a:latin typeface="Arial"/>
              </a:rPr>
              <a:t>PEOPLE</a:t>
            </a:r>
          </a:p>
        </p:txBody>
      </p:sp>
      <p:sp>
        <p:nvSpPr>
          <p:cNvPr id="3" name="TextBox 2"/>
          <p:cNvSpPr txBox="1"/>
          <p:nvPr/>
        </p:nvSpPr>
        <p:spPr>
          <a:xfrm>
            <a:off x="676656" y="722376"/>
            <a:ext cx="10881360" cy="484632"/>
          </a:xfrm>
          <a:prstGeom prst="rect">
            <a:avLst/>
          </a:prstGeom>
          <a:noFill/>
        </p:spPr>
        <p:txBody>
          <a:bodyPr wrap="square" lIns="0" tIns="0" rIns="0" bIns="0" anchor="t">
            <a:spAutoFit/>
          </a:bodyPr>
          <a:lstStyle/>
          <a:p>
            <a:pPr algn="l">
              <a:lnSpc>
                <a:spcPct val="115000"/>
              </a:lnSpc>
              <a:spcBef>
                <a:spcPts val="0"/>
              </a:spcBef>
              <a:spcAft>
                <a:spcPts val="0"/>
              </a:spcAft>
            </a:pPr>
            <a:r>
              <a:rPr sz="2750" b="1" i="0">
                <a:solidFill>
                  <a:srgbClr val="1F2E3B"/>
                </a:solidFill>
                <a:latin typeface="Arial"/>
              </a:rPr>
              <a:t>Three Scrum accountabilities. One team outcome.</a:t>
            </a:r>
          </a:p>
        </p:txBody>
      </p:sp>
      <p:sp>
        <p:nvSpPr>
          <p:cNvPr id="4" name="TextBox 3"/>
          <p:cNvSpPr txBox="1"/>
          <p:nvPr/>
        </p:nvSpPr>
        <p:spPr>
          <a:xfrm>
            <a:off x="685800" y="1380744"/>
            <a:ext cx="10881360" cy="557784"/>
          </a:xfrm>
          <a:prstGeom prst="rect">
            <a:avLst/>
          </a:prstGeom>
          <a:noFill/>
        </p:spPr>
        <p:txBody>
          <a:bodyPr wrap="square" lIns="0" tIns="0" rIns="0" bIns="0" anchor="t">
            <a:noAutofit/>
          </a:bodyPr>
          <a:lstStyle/>
          <a:p>
            <a:pPr algn="l">
              <a:lnSpc>
                <a:spcPct val="115000"/>
              </a:lnSpc>
              <a:spcBef>
                <a:spcPts val="0"/>
              </a:spcBef>
              <a:spcAft>
                <a:spcPts val="0"/>
              </a:spcAft>
            </a:pPr>
            <a:r>
              <a:rPr sz="1400" b="0">
                <a:solidFill>
                  <a:srgbClr val="1F2E3B"/>
                </a:solidFill>
                <a:latin typeface="Arial"/>
              </a:rPr>
              <a:t>Scrum has three accountabilities, with testing shared by the Developers </a:t>
            </a:r>
            <a:r>
              <a:rPr sz="1140" b="0">
                <a:solidFill>
                  <a:srgbClr val="2B5A7E"/>
                </a:solidFill>
                <a:latin typeface="Arial"/>
              </a:rPr>
              <a:t>(Schwaber &amp; Sutherland, 2020; Coleman, 2024).</a:t>
            </a:r>
          </a:p>
        </p:txBody>
      </p:sp>
      <p:cxnSp>
        <p:nvCxnSpPr>
          <p:cNvPr id="5" name="Connector 4"/>
          <p:cNvCxnSpPr/>
          <p:nvPr/>
        </p:nvCxnSpPr>
        <p:spPr>
          <a:xfrm>
            <a:off x="685800" y="1897380"/>
            <a:ext cx="10808208" cy="0"/>
          </a:xfrm>
          <a:prstGeom prst="line">
            <a:avLst/>
          </a:prstGeom>
          <a:ln w="13970">
            <a:solidFill>
              <a:srgbClr val="D8DF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991088" y="6419088"/>
            <a:ext cx="521207" cy="237744"/>
          </a:xfrm>
          <a:prstGeom prst="rect">
            <a:avLst/>
          </a:prstGeom>
          <a:noFill/>
        </p:spPr>
        <p:txBody>
          <a:bodyPr wrap="square" lIns="0" tIns="0" rIns="0" bIns="0" anchor="t">
            <a:spAutoFit/>
          </a:bodyPr>
          <a:lstStyle/>
          <a:p>
            <a:pPr algn="r">
              <a:lnSpc>
                <a:spcPct val="115000"/>
              </a:lnSpc>
              <a:spcBef>
                <a:spcPts val="0"/>
              </a:spcBef>
              <a:spcAft>
                <a:spcPts val="0"/>
              </a:spcAft>
            </a:pPr>
            <a:r>
              <a:rPr sz="1050" b="0" i="0">
                <a:solidFill>
                  <a:srgbClr val="65737E"/>
                </a:solidFill>
                <a:latin typeface="Arial"/>
              </a:rPr>
              <a:t>04</a:t>
            </a:r>
          </a:p>
        </p:txBody>
      </p:sp>
      <p:sp>
        <p:nvSpPr>
          <p:cNvPr id="8" name="Rectangle 7"/>
          <p:cNvSpPr/>
          <p:nvPr/>
        </p:nvSpPr>
        <p:spPr>
          <a:xfrm>
            <a:off x="694944" y="2130552"/>
            <a:ext cx="3465576" cy="3904487"/>
          </a:xfrm>
          <a:prstGeom prst="rect">
            <a:avLst/>
          </a:prstGeom>
          <a:solidFill>
            <a:srgbClr val="FFFFFF"/>
          </a:solidFill>
          <a:ln w="1270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94944" y="2130552"/>
            <a:ext cx="3465576" cy="68580"/>
          </a:xfrm>
          <a:prstGeom prst="rect">
            <a:avLst/>
          </a:prstGeom>
          <a:solidFill>
            <a:srgbClr val="3260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2368296"/>
            <a:ext cx="3099816" cy="301752"/>
          </a:xfrm>
          <a:prstGeom prst="rect">
            <a:avLst/>
          </a:prstGeom>
          <a:noFill/>
        </p:spPr>
        <p:txBody>
          <a:bodyPr wrap="square" lIns="0" tIns="0" rIns="0" bIns="0" anchor="t">
            <a:spAutoFit/>
          </a:bodyPr>
          <a:lstStyle/>
          <a:p>
            <a:pPr algn="l">
              <a:lnSpc>
                <a:spcPct val="115000"/>
              </a:lnSpc>
              <a:spcBef>
                <a:spcPts val="0"/>
              </a:spcBef>
              <a:spcAft>
                <a:spcPts val="0"/>
              </a:spcAft>
            </a:pPr>
            <a:r>
              <a:rPr sz="1540" b="1" i="0">
                <a:solidFill>
                  <a:srgbClr val="1F2E3B"/>
                </a:solidFill>
                <a:latin typeface="Arial"/>
              </a:rPr>
              <a:t>PRODUCT OWNER</a:t>
            </a:r>
          </a:p>
        </p:txBody>
      </p:sp>
      <p:sp>
        <p:nvSpPr>
          <p:cNvPr id="11" name="TextBox 10"/>
          <p:cNvSpPr txBox="1"/>
          <p:nvPr/>
        </p:nvSpPr>
        <p:spPr>
          <a:xfrm>
            <a:off x="877824" y="2798064"/>
            <a:ext cx="3090672" cy="530352"/>
          </a:xfrm>
          <a:prstGeom prst="rect">
            <a:avLst/>
          </a:prstGeom>
          <a:noFill/>
        </p:spPr>
        <p:txBody>
          <a:bodyPr wrap="square" lIns="0" tIns="0" rIns="0" bIns="0" anchor="t">
            <a:spAutoFit/>
          </a:bodyPr>
          <a:lstStyle/>
          <a:p>
            <a:pPr algn="l">
              <a:lnSpc>
                <a:spcPct val="115000"/>
              </a:lnSpc>
              <a:spcBef>
                <a:spcPts val="0"/>
              </a:spcBef>
              <a:spcAft>
                <a:spcPts val="0"/>
              </a:spcAft>
            </a:pPr>
            <a:r>
              <a:rPr sz="1410" b="1" i="0">
                <a:solidFill>
                  <a:srgbClr val="313D48"/>
                </a:solidFill>
                <a:latin typeface="Arial"/>
              </a:rPr>
              <a:t>Decides what matters most</a:t>
            </a:r>
          </a:p>
        </p:txBody>
      </p:sp>
      <p:sp>
        <p:nvSpPr>
          <p:cNvPr id="12" name="TextBox 11"/>
          <p:cNvSpPr txBox="1"/>
          <p:nvPr/>
        </p:nvSpPr>
        <p:spPr>
          <a:xfrm>
            <a:off x="877824" y="3529584"/>
            <a:ext cx="3035808" cy="448056"/>
          </a:xfrm>
          <a:prstGeom prst="rect">
            <a:avLst/>
          </a:prstGeom>
          <a:noFill/>
        </p:spPr>
        <p:txBody>
          <a:bodyPr wrap="square" lIns="0" tIns="0" rIns="0" bIns="0" anchor="t">
            <a:spAutoFit/>
          </a:bodyPr>
          <a:lstStyle/>
          <a:p>
            <a:pPr algn="l">
              <a:lnSpc>
                <a:spcPct val="115000"/>
              </a:lnSpc>
              <a:spcBef>
                <a:spcPts val="0"/>
              </a:spcBef>
              <a:spcAft>
                <a:spcPts val="0"/>
              </a:spcAft>
            </a:pPr>
            <a:r>
              <a:rPr sz="1315" b="0" i="0">
                <a:solidFill>
                  <a:srgbClr val="313D48"/>
                </a:solidFill>
                <a:latin typeface="Arial"/>
              </a:rPr>
              <a:t>•  Orders the Product Backlog</a:t>
            </a:r>
          </a:p>
        </p:txBody>
      </p:sp>
      <p:sp>
        <p:nvSpPr>
          <p:cNvPr id="13" name="TextBox 12"/>
          <p:cNvSpPr txBox="1"/>
          <p:nvPr/>
        </p:nvSpPr>
        <p:spPr>
          <a:xfrm>
            <a:off x="877824" y="3968496"/>
            <a:ext cx="3035808" cy="448056"/>
          </a:xfrm>
          <a:prstGeom prst="rect">
            <a:avLst/>
          </a:prstGeom>
          <a:noFill/>
        </p:spPr>
        <p:txBody>
          <a:bodyPr wrap="square" lIns="0" tIns="0" rIns="0" bIns="0" anchor="t">
            <a:spAutoFit/>
          </a:bodyPr>
          <a:lstStyle/>
          <a:p>
            <a:pPr algn="l">
              <a:lnSpc>
                <a:spcPct val="115000"/>
              </a:lnSpc>
              <a:spcBef>
                <a:spcPts val="0"/>
              </a:spcBef>
              <a:spcAft>
                <a:spcPts val="0"/>
              </a:spcAft>
            </a:pPr>
            <a:r>
              <a:rPr sz="1315" b="0" i="0">
                <a:solidFill>
                  <a:srgbClr val="313D48"/>
                </a:solidFill>
                <a:latin typeface="Arial"/>
              </a:rPr>
              <a:t>•  Clarifies stakeholder requests</a:t>
            </a:r>
          </a:p>
        </p:txBody>
      </p:sp>
      <p:sp>
        <p:nvSpPr>
          <p:cNvPr id="14" name="TextBox 13"/>
          <p:cNvSpPr txBox="1"/>
          <p:nvPr/>
        </p:nvSpPr>
        <p:spPr>
          <a:xfrm>
            <a:off x="877824" y="4407408"/>
            <a:ext cx="3035808" cy="448056"/>
          </a:xfrm>
          <a:prstGeom prst="rect">
            <a:avLst/>
          </a:prstGeom>
          <a:noFill/>
        </p:spPr>
        <p:txBody>
          <a:bodyPr wrap="square" lIns="0" tIns="0" rIns="0" bIns="0" anchor="t">
            <a:spAutoFit/>
          </a:bodyPr>
          <a:lstStyle/>
          <a:p>
            <a:pPr algn="l">
              <a:lnSpc>
                <a:spcPct val="115000"/>
              </a:lnSpc>
              <a:spcBef>
                <a:spcPts val="0"/>
              </a:spcBef>
              <a:spcAft>
                <a:spcPts val="0"/>
              </a:spcAft>
            </a:pPr>
            <a:r>
              <a:rPr sz="1315" b="0" i="0">
                <a:solidFill>
                  <a:srgbClr val="313D48"/>
                </a:solidFill>
                <a:latin typeface="Arial"/>
              </a:rPr>
              <a:t>•  Accepts priorities and tradeoffs</a:t>
            </a:r>
          </a:p>
        </p:txBody>
      </p:sp>
      <p:cxnSp>
        <p:nvCxnSpPr>
          <p:cNvPr id="15" name="Connector 14"/>
          <p:cNvCxnSpPr/>
          <p:nvPr/>
        </p:nvCxnSpPr>
        <p:spPr>
          <a:xfrm>
            <a:off x="859536" y="4965192"/>
            <a:ext cx="3108960" cy="0"/>
          </a:xfrm>
          <a:prstGeom prst="line">
            <a:avLst/>
          </a:prstGeom>
          <a:ln w="11430">
            <a:solidFill>
              <a:srgbClr val="D8DF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77824" y="5129784"/>
            <a:ext cx="3054096" cy="704088"/>
          </a:xfrm>
          <a:prstGeom prst="rect">
            <a:avLst/>
          </a:prstGeom>
          <a:noFill/>
        </p:spPr>
        <p:txBody>
          <a:bodyPr wrap="square" lIns="0" tIns="0" rIns="0" bIns="0" anchor="t">
            <a:spAutoFit/>
          </a:bodyPr>
          <a:lstStyle/>
          <a:p>
            <a:pPr algn="l">
              <a:lnSpc>
                <a:spcPct val="115000"/>
              </a:lnSpc>
              <a:spcBef>
                <a:spcPts val="0"/>
              </a:spcBef>
              <a:spcAft>
                <a:spcPts val="0"/>
              </a:spcAft>
            </a:pPr>
            <a:r>
              <a:rPr sz="1220" b="0" i="0">
                <a:solidFill>
                  <a:srgbClr val="65737E"/>
                </a:solidFill>
                <a:latin typeface="Arial"/>
              </a:rPr>
              <a:t>SNHU Travel: prioritized destination, price, and cruise stories.</a:t>
            </a:r>
          </a:p>
        </p:txBody>
      </p:sp>
      <p:sp>
        <p:nvSpPr>
          <p:cNvPr id="17" name="Rectangle 16"/>
          <p:cNvSpPr/>
          <p:nvPr/>
        </p:nvSpPr>
        <p:spPr>
          <a:xfrm>
            <a:off x="4352544" y="2130552"/>
            <a:ext cx="3465576" cy="3904487"/>
          </a:xfrm>
          <a:prstGeom prst="rect">
            <a:avLst/>
          </a:prstGeom>
          <a:solidFill>
            <a:srgbClr val="FFFFFF"/>
          </a:solidFill>
          <a:ln w="1270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52544" y="2130552"/>
            <a:ext cx="3465576" cy="68580"/>
          </a:xfrm>
          <a:prstGeom prst="rect">
            <a:avLst/>
          </a:prstGeom>
          <a:solidFill>
            <a:srgbClr val="3260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35424" y="2368296"/>
            <a:ext cx="3099816" cy="301752"/>
          </a:xfrm>
          <a:prstGeom prst="rect">
            <a:avLst/>
          </a:prstGeom>
          <a:noFill/>
        </p:spPr>
        <p:txBody>
          <a:bodyPr wrap="square" lIns="0" tIns="0" rIns="0" bIns="0" anchor="t">
            <a:spAutoFit/>
          </a:bodyPr>
          <a:lstStyle/>
          <a:p>
            <a:pPr algn="l">
              <a:lnSpc>
                <a:spcPct val="115000"/>
              </a:lnSpc>
              <a:spcBef>
                <a:spcPts val="0"/>
              </a:spcBef>
              <a:spcAft>
                <a:spcPts val="0"/>
              </a:spcAft>
            </a:pPr>
            <a:r>
              <a:rPr sz="1540" b="1" i="0">
                <a:solidFill>
                  <a:srgbClr val="1F2E3B"/>
                </a:solidFill>
                <a:latin typeface="Arial"/>
              </a:rPr>
              <a:t>SCRUM MASTER</a:t>
            </a:r>
          </a:p>
        </p:txBody>
      </p:sp>
      <p:sp>
        <p:nvSpPr>
          <p:cNvPr id="20" name="TextBox 19"/>
          <p:cNvSpPr txBox="1"/>
          <p:nvPr/>
        </p:nvSpPr>
        <p:spPr>
          <a:xfrm>
            <a:off x="4535424" y="2798064"/>
            <a:ext cx="3090672" cy="530352"/>
          </a:xfrm>
          <a:prstGeom prst="rect">
            <a:avLst/>
          </a:prstGeom>
          <a:noFill/>
        </p:spPr>
        <p:txBody>
          <a:bodyPr wrap="square" lIns="0" tIns="0" rIns="0" bIns="0" anchor="t">
            <a:spAutoFit/>
          </a:bodyPr>
          <a:lstStyle/>
          <a:p>
            <a:pPr algn="l">
              <a:lnSpc>
                <a:spcPct val="115000"/>
              </a:lnSpc>
              <a:spcBef>
                <a:spcPts val="0"/>
              </a:spcBef>
              <a:spcAft>
                <a:spcPts val="0"/>
              </a:spcAft>
            </a:pPr>
            <a:r>
              <a:rPr sz="1410" b="1" i="0">
                <a:solidFill>
                  <a:srgbClr val="313D48"/>
                </a:solidFill>
                <a:latin typeface="Arial"/>
              </a:rPr>
              <a:t>Helps the team work effectively</a:t>
            </a:r>
          </a:p>
        </p:txBody>
      </p:sp>
      <p:sp>
        <p:nvSpPr>
          <p:cNvPr id="21" name="TextBox 20"/>
          <p:cNvSpPr txBox="1"/>
          <p:nvPr/>
        </p:nvSpPr>
        <p:spPr>
          <a:xfrm>
            <a:off x="4535424" y="3529584"/>
            <a:ext cx="3035808" cy="448056"/>
          </a:xfrm>
          <a:prstGeom prst="rect">
            <a:avLst/>
          </a:prstGeom>
          <a:noFill/>
        </p:spPr>
        <p:txBody>
          <a:bodyPr wrap="square" lIns="0" tIns="0" rIns="0" bIns="0" anchor="t">
            <a:spAutoFit/>
          </a:bodyPr>
          <a:lstStyle/>
          <a:p>
            <a:pPr algn="l">
              <a:lnSpc>
                <a:spcPct val="115000"/>
              </a:lnSpc>
              <a:spcBef>
                <a:spcPts val="0"/>
              </a:spcBef>
              <a:spcAft>
                <a:spcPts val="0"/>
              </a:spcAft>
            </a:pPr>
            <a:r>
              <a:rPr sz="1315" b="0" i="0">
                <a:solidFill>
                  <a:srgbClr val="313D48"/>
                </a:solidFill>
                <a:latin typeface="Arial"/>
              </a:rPr>
              <a:t>•  Coaches Scrum practices</a:t>
            </a:r>
          </a:p>
        </p:txBody>
      </p:sp>
      <p:sp>
        <p:nvSpPr>
          <p:cNvPr id="22" name="TextBox 21"/>
          <p:cNvSpPr txBox="1"/>
          <p:nvPr/>
        </p:nvSpPr>
        <p:spPr>
          <a:xfrm>
            <a:off x="4535424" y="3968496"/>
            <a:ext cx="3035808" cy="448056"/>
          </a:xfrm>
          <a:prstGeom prst="rect">
            <a:avLst/>
          </a:prstGeom>
          <a:noFill/>
        </p:spPr>
        <p:txBody>
          <a:bodyPr wrap="square" lIns="0" tIns="0" rIns="0" bIns="0" anchor="t">
            <a:spAutoFit/>
          </a:bodyPr>
          <a:lstStyle/>
          <a:p>
            <a:pPr algn="l">
              <a:lnSpc>
                <a:spcPct val="115000"/>
              </a:lnSpc>
              <a:spcBef>
                <a:spcPts val="0"/>
              </a:spcBef>
              <a:spcAft>
                <a:spcPts val="0"/>
              </a:spcAft>
            </a:pPr>
            <a:r>
              <a:rPr sz="1315" b="0" i="0">
                <a:solidFill>
                  <a:srgbClr val="313D48"/>
                </a:solidFill>
                <a:latin typeface="Arial"/>
              </a:rPr>
              <a:t>•  Helps remove impediments</a:t>
            </a:r>
          </a:p>
        </p:txBody>
      </p:sp>
      <p:sp>
        <p:nvSpPr>
          <p:cNvPr id="23" name="TextBox 22"/>
          <p:cNvSpPr txBox="1"/>
          <p:nvPr/>
        </p:nvSpPr>
        <p:spPr>
          <a:xfrm>
            <a:off x="4535424" y="4407408"/>
            <a:ext cx="3035808" cy="448056"/>
          </a:xfrm>
          <a:prstGeom prst="rect">
            <a:avLst/>
          </a:prstGeom>
          <a:noFill/>
        </p:spPr>
        <p:txBody>
          <a:bodyPr wrap="square" lIns="0" tIns="0" rIns="0" bIns="0" anchor="t">
            <a:spAutoFit/>
          </a:bodyPr>
          <a:lstStyle/>
          <a:p>
            <a:pPr algn="l">
              <a:lnSpc>
                <a:spcPct val="115000"/>
              </a:lnSpc>
              <a:spcBef>
                <a:spcPts val="0"/>
              </a:spcBef>
              <a:spcAft>
                <a:spcPts val="0"/>
              </a:spcAft>
            </a:pPr>
            <a:r>
              <a:rPr sz="1315" b="0" i="0">
                <a:solidFill>
                  <a:srgbClr val="313D48"/>
                </a:solidFill>
                <a:latin typeface="Arial"/>
              </a:rPr>
              <a:t>•  Makes improvements actionable</a:t>
            </a:r>
          </a:p>
        </p:txBody>
      </p:sp>
      <p:cxnSp>
        <p:nvCxnSpPr>
          <p:cNvPr id="24" name="Connector 23"/>
          <p:cNvCxnSpPr/>
          <p:nvPr/>
        </p:nvCxnSpPr>
        <p:spPr>
          <a:xfrm>
            <a:off x="4517136" y="4965192"/>
            <a:ext cx="3108960" cy="0"/>
          </a:xfrm>
          <a:prstGeom prst="line">
            <a:avLst/>
          </a:prstGeom>
          <a:ln w="11430">
            <a:solidFill>
              <a:srgbClr val="D8DFE4"/>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535424" y="5129784"/>
            <a:ext cx="3054096" cy="704088"/>
          </a:xfrm>
          <a:prstGeom prst="rect">
            <a:avLst/>
          </a:prstGeom>
          <a:noFill/>
        </p:spPr>
        <p:txBody>
          <a:bodyPr wrap="square" lIns="0" tIns="0" rIns="0" bIns="0" anchor="t">
            <a:spAutoFit/>
          </a:bodyPr>
          <a:lstStyle/>
          <a:p>
            <a:pPr algn="l">
              <a:lnSpc>
                <a:spcPct val="115000"/>
              </a:lnSpc>
              <a:spcBef>
                <a:spcPts val="0"/>
              </a:spcBef>
              <a:spcAft>
                <a:spcPts val="0"/>
              </a:spcAft>
            </a:pPr>
            <a:r>
              <a:rPr sz="1220" b="0" i="0">
                <a:solidFill>
                  <a:srgbClr val="65737E"/>
                </a:solidFill>
                <a:latin typeface="Arial"/>
              </a:rPr>
              <a:t>SNHU Travel: facilitates change discussion and retrospectives.</a:t>
            </a:r>
          </a:p>
        </p:txBody>
      </p:sp>
      <p:sp>
        <p:nvSpPr>
          <p:cNvPr id="26" name="Rectangle 25"/>
          <p:cNvSpPr/>
          <p:nvPr/>
        </p:nvSpPr>
        <p:spPr>
          <a:xfrm>
            <a:off x="8010144" y="2130552"/>
            <a:ext cx="3465576" cy="3904487"/>
          </a:xfrm>
          <a:prstGeom prst="rect">
            <a:avLst/>
          </a:prstGeom>
          <a:solidFill>
            <a:srgbClr val="FFFFFF"/>
          </a:solidFill>
          <a:ln w="1270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010144" y="2130552"/>
            <a:ext cx="3465576" cy="68580"/>
          </a:xfrm>
          <a:prstGeom prst="rect">
            <a:avLst/>
          </a:prstGeom>
          <a:solidFill>
            <a:srgbClr val="3260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193023" y="2368296"/>
            <a:ext cx="3099816" cy="301752"/>
          </a:xfrm>
          <a:prstGeom prst="rect">
            <a:avLst/>
          </a:prstGeom>
          <a:noFill/>
        </p:spPr>
        <p:txBody>
          <a:bodyPr wrap="square" lIns="0" tIns="0" rIns="0" bIns="0" anchor="t">
            <a:spAutoFit/>
          </a:bodyPr>
          <a:lstStyle/>
          <a:p>
            <a:pPr algn="l">
              <a:lnSpc>
                <a:spcPct val="115000"/>
              </a:lnSpc>
              <a:spcBef>
                <a:spcPts val="0"/>
              </a:spcBef>
              <a:spcAft>
                <a:spcPts val="0"/>
              </a:spcAft>
            </a:pPr>
            <a:r>
              <a:rPr sz="1540" b="1" i="0">
                <a:solidFill>
                  <a:srgbClr val="1F2E3B"/>
                </a:solidFill>
                <a:latin typeface="Arial"/>
              </a:rPr>
              <a:t>DEVELOPERS</a:t>
            </a:r>
          </a:p>
        </p:txBody>
      </p:sp>
      <p:sp>
        <p:nvSpPr>
          <p:cNvPr id="29" name="TextBox 28"/>
          <p:cNvSpPr txBox="1"/>
          <p:nvPr/>
        </p:nvSpPr>
        <p:spPr>
          <a:xfrm>
            <a:off x="8193023" y="2798064"/>
            <a:ext cx="3090672" cy="530352"/>
          </a:xfrm>
          <a:prstGeom prst="rect">
            <a:avLst/>
          </a:prstGeom>
          <a:noFill/>
        </p:spPr>
        <p:txBody>
          <a:bodyPr wrap="square" lIns="0" tIns="0" rIns="0" bIns="0" anchor="t">
            <a:spAutoFit/>
          </a:bodyPr>
          <a:lstStyle/>
          <a:p>
            <a:pPr algn="l">
              <a:lnSpc>
                <a:spcPct val="115000"/>
              </a:lnSpc>
              <a:spcBef>
                <a:spcPts val="0"/>
              </a:spcBef>
              <a:spcAft>
                <a:spcPts val="0"/>
              </a:spcAft>
            </a:pPr>
            <a:r>
              <a:rPr sz="1410" b="1" i="0">
                <a:solidFill>
                  <a:srgbClr val="313D48"/>
                </a:solidFill>
                <a:latin typeface="Arial"/>
              </a:rPr>
              <a:t>Produce and verify the increment</a:t>
            </a:r>
          </a:p>
        </p:txBody>
      </p:sp>
      <p:sp>
        <p:nvSpPr>
          <p:cNvPr id="30" name="TextBox 29"/>
          <p:cNvSpPr txBox="1"/>
          <p:nvPr/>
        </p:nvSpPr>
        <p:spPr>
          <a:xfrm>
            <a:off x="8193023" y="3529584"/>
            <a:ext cx="3035808" cy="448056"/>
          </a:xfrm>
          <a:prstGeom prst="rect">
            <a:avLst/>
          </a:prstGeom>
          <a:noFill/>
        </p:spPr>
        <p:txBody>
          <a:bodyPr wrap="square" lIns="0" tIns="0" rIns="0" bIns="0" anchor="t">
            <a:spAutoFit/>
          </a:bodyPr>
          <a:lstStyle/>
          <a:p>
            <a:pPr algn="l">
              <a:lnSpc>
                <a:spcPct val="115000"/>
              </a:lnSpc>
              <a:spcBef>
                <a:spcPts val="0"/>
              </a:spcBef>
              <a:spcAft>
                <a:spcPts val="0"/>
              </a:spcAft>
            </a:pPr>
            <a:r>
              <a:rPr sz="1315" b="0" i="0">
                <a:solidFill>
                  <a:srgbClr val="313D48"/>
                </a:solidFill>
                <a:latin typeface="Arial"/>
              </a:rPr>
              <a:t>•  Plan and implement the work</a:t>
            </a:r>
          </a:p>
        </p:txBody>
      </p:sp>
      <p:sp>
        <p:nvSpPr>
          <p:cNvPr id="31" name="TextBox 30"/>
          <p:cNvSpPr txBox="1"/>
          <p:nvPr/>
        </p:nvSpPr>
        <p:spPr>
          <a:xfrm>
            <a:off x="8193023" y="3968496"/>
            <a:ext cx="3035808" cy="448056"/>
          </a:xfrm>
          <a:prstGeom prst="rect">
            <a:avLst/>
          </a:prstGeom>
          <a:noFill/>
        </p:spPr>
        <p:txBody>
          <a:bodyPr wrap="square" lIns="0" tIns="0" rIns="0" bIns="0" anchor="t">
            <a:spAutoFit/>
          </a:bodyPr>
          <a:lstStyle/>
          <a:p>
            <a:pPr algn="l">
              <a:lnSpc>
                <a:spcPct val="115000"/>
              </a:lnSpc>
              <a:spcBef>
                <a:spcPts val="0"/>
              </a:spcBef>
              <a:spcAft>
                <a:spcPts val="0"/>
              </a:spcAft>
            </a:pPr>
            <a:r>
              <a:rPr sz="1315" b="0" i="0">
                <a:solidFill>
                  <a:srgbClr val="313D48"/>
                </a:solidFill>
                <a:latin typeface="Arial"/>
              </a:rPr>
              <a:t>•  Test against acceptance criteria</a:t>
            </a:r>
          </a:p>
        </p:txBody>
      </p:sp>
      <p:sp>
        <p:nvSpPr>
          <p:cNvPr id="32" name="TextBox 31"/>
          <p:cNvSpPr txBox="1"/>
          <p:nvPr/>
        </p:nvSpPr>
        <p:spPr>
          <a:xfrm>
            <a:off x="8193023" y="4407408"/>
            <a:ext cx="3035808" cy="448056"/>
          </a:xfrm>
          <a:prstGeom prst="rect">
            <a:avLst/>
          </a:prstGeom>
          <a:noFill/>
        </p:spPr>
        <p:txBody>
          <a:bodyPr wrap="square" lIns="0" tIns="0" rIns="0" bIns="0" anchor="t">
            <a:spAutoFit/>
          </a:bodyPr>
          <a:lstStyle/>
          <a:p>
            <a:pPr algn="l">
              <a:lnSpc>
                <a:spcPct val="115000"/>
              </a:lnSpc>
              <a:spcBef>
                <a:spcPts val="0"/>
              </a:spcBef>
              <a:spcAft>
                <a:spcPts val="0"/>
              </a:spcAft>
            </a:pPr>
            <a:r>
              <a:rPr sz="1315" b="0" i="0">
                <a:solidFill>
                  <a:srgbClr val="313D48"/>
                </a:solidFill>
                <a:latin typeface="Arial"/>
              </a:rPr>
              <a:t>•  Maintain a usable Definition of Done</a:t>
            </a:r>
          </a:p>
        </p:txBody>
      </p:sp>
      <p:cxnSp>
        <p:nvCxnSpPr>
          <p:cNvPr id="33" name="Connector 32"/>
          <p:cNvCxnSpPr/>
          <p:nvPr/>
        </p:nvCxnSpPr>
        <p:spPr>
          <a:xfrm>
            <a:off x="8174736" y="4965192"/>
            <a:ext cx="3108960" cy="0"/>
          </a:xfrm>
          <a:prstGeom prst="line">
            <a:avLst/>
          </a:prstGeom>
          <a:ln w="11430">
            <a:solidFill>
              <a:srgbClr val="D8DFE4"/>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193023" y="5129784"/>
            <a:ext cx="3054096" cy="704088"/>
          </a:xfrm>
          <a:prstGeom prst="rect">
            <a:avLst/>
          </a:prstGeom>
          <a:noFill/>
        </p:spPr>
        <p:txBody>
          <a:bodyPr wrap="square" lIns="0" tIns="0" rIns="0" bIns="0" anchor="t">
            <a:spAutoFit/>
          </a:bodyPr>
          <a:lstStyle/>
          <a:p>
            <a:pPr algn="l">
              <a:lnSpc>
                <a:spcPct val="115000"/>
              </a:lnSpc>
              <a:spcBef>
                <a:spcPts val="0"/>
              </a:spcBef>
              <a:spcAft>
                <a:spcPts val="0"/>
              </a:spcAft>
            </a:pPr>
            <a:r>
              <a:rPr sz="1220" b="0" i="0">
                <a:solidFill>
                  <a:srgbClr val="65737E"/>
                </a:solidFill>
                <a:latin typeface="Arial"/>
              </a:rPr>
              <a:t>SNHU Travel: destination feature, test cases, slideshow updates.</a:t>
            </a:r>
          </a:p>
        </p:txBody>
      </p:sp>
      <p:sp>
        <p:nvSpPr>
          <p:cNvPr id="35" name="TextBox 34"/>
          <p:cNvSpPr txBox="1"/>
          <p:nvPr/>
        </p:nvSpPr>
        <p:spPr>
          <a:xfrm>
            <a:off x="694944" y="1721104"/>
            <a:ext cx="10698480" cy="265176"/>
          </a:xfrm>
          <a:prstGeom prst="rect">
            <a:avLst/>
          </a:prstGeom>
          <a:noFill/>
        </p:spPr>
        <p:txBody>
          <a:bodyPr wrap="none" lIns="0" tIns="0" rIns="0" bIns="0">
            <a:spAutoFit/>
          </a:bodyPr>
          <a:lstStyle/>
          <a:p>
            <a:pPr algn="l"/>
            <a:r>
              <a:rPr sz="1080" dirty="0">
                <a:solidFill>
                  <a:srgbClr val="616F7A"/>
                </a:solidFill>
                <a:latin typeface="Arial"/>
              </a:rPr>
              <a:t>The role examples below are drawn from the SNHU Travel coursework </a:t>
            </a:r>
            <a:r>
              <a:rPr sz="1019" dirty="0">
                <a:solidFill>
                  <a:srgbClr val="2B5A7E"/>
                </a:solidFill>
                <a:latin typeface="Arial"/>
              </a:rPr>
              <a:t>(Southern New Hampshire University, 2026).</a:t>
            </a:r>
          </a:p>
        </p:txBody>
      </p:sp>
      <p:sp>
        <p:nvSpPr>
          <p:cNvPr id="36" name="TextBox 35"/>
          <p:cNvSpPr txBox="1"/>
          <p:nvPr/>
        </p:nvSpPr>
        <p:spPr>
          <a:xfrm>
            <a:off x="685800" y="6382512"/>
            <a:ext cx="9875520" cy="237744"/>
          </a:xfrm>
          <a:prstGeom prst="rect">
            <a:avLst/>
          </a:prstGeom>
          <a:noFill/>
        </p:spPr>
        <p:txBody>
          <a:bodyPr wrap="none" lIns="0" tIns="0" rIns="0" bIns="0">
            <a:spAutoFit/>
          </a:bodyPr>
          <a:lstStyle/>
          <a:p>
            <a:r>
              <a:rPr sz="930">
                <a:solidFill>
                  <a:srgbClr val="616F7A"/>
                </a:solidFill>
                <a:latin typeface="Arial"/>
              </a:rPr>
              <a:t>Complete reference entries and source links: slides 14–15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374904"/>
            <a:ext cx="9875520" cy="237744"/>
          </a:xfrm>
          <a:prstGeom prst="rect">
            <a:avLst/>
          </a:prstGeom>
          <a:noFill/>
        </p:spPr>
        <p:txBody>
          <a:bodyPr wrap="square" lIns="0" tIns="0" rIns="0" bIns="0" anchor="t">
            <a:spAutoFit/>
          </a:bodyPr>
          <a:lstStyle/>
          <a:p>
            <a:pPr algn="l">
              <a:lnSpc>
                <a:spcPct val="115000"/>
              </a:lnSpc>
              <a:spcBef>
                <a:spcPts val="0"/>
              </a:spcBef>
              <a:spcAft>
                <a:spcPts val="0"/>
              </a:spcAft>
            </a:pPr>
            <a:r>
              <a:rPr sz="1100" b="1" i="0">
                <a:solidFill>
                  <a:srgbClr val="326084"/>
                </a:solidFill>
                <a:latin typeface="Arial"/>
              </a:rPr>
              <a:t>DEVELOPMENT LIFECYCLE</a:t>
            </a:r>
          </a:p>
        </p:txBody>
      </p:sp>
      <p:sp>
        <p:nvSpPr>
          <p:cNvPr id="3" name="TextBox 2"/>
          <p:cNvSpPr txBox="1"/>
          <p:nvPr/>
        </p:nvSpPr>
        <p:spPr>
          <a:xfrm>
            <a:off x="676656" y="722376"/>
            <a:ext cx="10881360" cy="484632"/>
          </a:xfrm>
          <a:prstGeom prst="rect">
            <a:avLst/>
          </a:prstGeom>
          <a:noFill/>
        </p:spPr>
        <p:txBody>
          <a:bodyPr wrap="square" lIns="0" tIns="0" rIns="0" bIns="0" anchor="t">
            <a:spAutoFit/>
          </a:bodyPr>
          <a:lstStyle/>
          <a:p>
            <a:pPr algn="l">
              <a:lnSpc>
                <a:spcPct val="115000"/>
              </a:lnSpc>
              <a:spcBef>
                <a:spcPts val="0"/>
              </a:spcBef>
              <a:spcAft>
                <a:spcPts val="0"/>
              </a:spcAft>
            </a:pPr>
            <a:r>
              <a:rPr sz="2700" b="1" i="0">
                <a:solidFill>
                  <a:srgbClr val="1F2E3B"/>
                </a:solidFill>
                <a:latin typeface="Arial"/>
              </a:rPr>
              <a:t>Agile does not skip SDLC phases—it repeats them</a:t>
            </a:r>
          </a:p>
        </p:txBody>
      </p:sp>
      <p:sp>
        <p:nvSpPr>
          <p:cNvPr id="4" name="TextBox 3"/>
          <p:cNvSpPr txBox="1"/>
          <p:nvPr/>
        </p:nvSpPr>
        <p:spPr>
          <a:xfrm>
            <a:off x="685800" y="1380744"/>
            <a:ext cx="10881360" cy="521207"/>
          </a:xfrm>
          <a:prstGeom prst="rect">
            <a:avLst/>
          </a:prstGeom>
          <a:noFill/>
        </p:spPr>
        <p:txBody>
          <a:bodyPr wrap="square" lIns="0" tIns="0" rIns="0" bIns="0" anchor="t">
            <a:noAutofit/>
          </a:bodyPr>
          <a:lstStyle/>
          <a:p>
            <a:pPr algn="l">
              <a:lnSpc>
                <a:spcPct val="115000"/>
              </a:lnSpc>
              <a:spcBef>
                <a:spcPts val="0"/>
              </a:spcBef>
              <a:spcAft>
                <a:spcPts val="0"/>
              </a:spcAft>
            </a:pPr>
            <a:r>
              <a:rPr sz="1400" b="0">
                <a:solidFill>
                  <a:srgbClr val="1F2E3B"/>
                </a:solidFill>
                <a:latin typeface="Arial"/>
              </a:rPr>
              <a:t>Teams repeat planning, design, coding, testing, and feedback across increments </a:t>
            </a:r>
            <a:r>
              <a:rPr sz="1150" b="0">
                <a:solidFill>
                  <a:srgbClr val="2B5A7E"/>
                </a:solidFill>
                <a:latin typeface="Arial"/>
              </a:rPr>
              <a:t>(Jackson et al., 2025; Schwaber &amp; Sutherland, 2020).</a:t>
            </a:r>
          </a:p>
        </p:txBody>
      </p:sp>
      <p:cxnSp>
        <p:nvCxnSpPr>
          <p:cNvPr id="5" name="Connector 4"/>
          <p:cNvCxnSpPr/>
          <p:nvPr/>
        </p:nvCxnSpPr>
        <p:spPr>
          <a:xfrm>
            <a:off x="685800" y="1897380"/>
            <a:ext cx="10808208" cy="0"/>
          </a:xfrm>
          <a:prstGeom prst="line">
            <a:avLst/>
          </a:prstGeom>
          <a:ln w="13970">
            <a:solidFill>
              <a:srgbClr val="D8DF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991088" y="6419088"/>
            <a:ext cx="521207" cy="237744"/>
          </a:xfrm>
          <a:prstGeom prst="rect">
            <a:avLst/>
          </a:prstGeom>
          <a:noFill/>
        </p:spPr>
        <p:txBody>
          <a:bodyPr wrap="square" lIns="0" tIns="0" rIns="0" bIns="0" anchor="t">
            <a:spAutoFit/>
          </a:bodyPr>
          <a:lstStyle/>
          <a:p>
            <a:pPr algn="r">
              <a:lnSpc>
                <a:spcPct val="115000"/>
              </a:lnSpc>
              <a:spcBef>
                <a:spcPts val="0"/>
              </a:spcBef>
              <a:spcAft>
                <a:spcPts val="0"/>
              </a:spcAft>
            </a:pPr>
            <a:r>
              <a:rPr sz="1050" b="0" i="0">
                <a:solidFill>
                  <a:srgbClr val="65737E"/>
                </a:solidFill>
                <a:latin typeface="Arial"/>
              </a:rPr>
              <a:t>05</a:t>
            </a:r>
          </a:p>
        </p:txBody>
      </p:sp>
      <p:sp>
        <p:nvSpPr>
          <p:cNvPr id="8" name="TextBox 7"/>
          <p:cNvSpPr txBox="1"/>
          <p:nvPr/>
        </p:nvSpPr>
        <p:spPr>
          <a:xfrm>
            <a:off x="713232" y="2212848"/>
            <a:ext cx="457200" cy="384048"/>
          </a:xfrm>
          <a:prstGeom prst="rect">
            <a:avLst/>
          </a:prstGeom>
          <a:noFill/>
        </p:spPr>
        <p:txBody>
          <a:bodyPr wrap="square" lIns="0" tIns="0" rIns="0" bIns="0" anchor="t">
            <a:spAutoFit/>
          </a:bodyPr>
          <a:lstStyle/>
          <a:p>
            <a:pPr algn="l">
              <a:lnSpc>
                <a:spcPct val="115000"/>
              </a:lnSpc>
              <a:spcBef>
                <a:spcPts val="0"/>
              </a:spcBef>
              <a:spcAft>
                <a:spcPts val="0"/>
              </a:spcAft>
            </a:pPr>
            <a:r>
              <a:rPr sz="1700" b="1" i="0">
                <a:solidFill>
                  <a:srgbClr val="326084"/>
                </a:solidFill>
                <a:latin typeface="Arial"/>
              </a:rPr>
              <a:t>01</a:t>
            </a:r>
          </a:p>
        </p:txBody>
      </p:sp>
      <p:sp>
        <p:nvSpPr>
          <p:cNvPr id="9" name="TextBox 8"/>
          <p:cNvSpPr txBox="1"/>
          <p:nvPr/>
        </p:nvSpPr>
        <p:spPr>
          <a:xfrm>
            <a:off x="1335024" y="2212848"/>
            <a:ext cx="1901952" cy="365760"/>
          </a:xfrm>
          <a:prstGeom prst="rect">
            <a:avLst/>
          </a:prstGeom>
          <a:noFill/>
        </p:spPr>
        <p:txBody>
          <a:bodyPr wrap="square" lIns="0" tIns="0" rIns="0" bIns="0" anchor="t">
            <a:spAutoFit/>
          </a:bodyPr>
          <a:lstStyle/>
          <a:p>
            <a:pPr algn="l">
              <a:lnSpc>
                <a:spcPct val="115000"/>
              </a:lnSpc>
              <a:spcBef>
                <a:spcPts val="0"/>
              </a:spcBef>
              <a:spcAft>
                <a:spcPts val="0"/>
              </a:spcAft>
            </a:pPr>
            <a:r>
              <a:rPr sz="1600" b="1" i="0">
                <a:solidFill>
                  <a:srgbClr val="1F2E3B"/>
                </a:solidFill>
                <a:latin typeface="Arial"/>
              </a:rPr>
              <a:t>PLAN</a:t>
            </a:r>
          </a:p>
        </p:txBody>
      </p:sp>
      <p:sp>
        <p:nvSpPr>
          <p:cNvPr id="10" name="TextBox 9"/>
          <p:cNvSpPr txBox="1"/>
          <p:nvPr/>
        </p:nvSpPr>
        <p:spPr>
          <a:xfrm>
            <a:off x="3392424" y="2226564"/>
            <a:ext cx="2313432" cy="393192"/>
          </a:xfrm>
          <a:prstGeom prst="rect">
            <a:avLst/>
          </a:prstGeom>
          <a:noFill/>
        </p:spPr>
        <p:txBody>
          <a:bodyPr wrap="square" lIns="0" tIns="0" rIns="0" bIns="0" anchor="t">
            <a:spAutoFit/>
          </a:bodyPr>
          <a:lstStyle/>
          <a:p>
            <a:pPr algn="l">
              <a:lnSpc>
                <a:spcPct val="115000"/>
              </a:lnSpc>
              <a:spcBef>
                <a:spcPts val="0"/>
              </a:spcBef>
              <a:spcAft>
                <a:spcPts val="0"/>
              </a:spcAft>
            </a:pPr>
            <a:r>
              <a:rPr sz="1420" b="0" i="0">
                <a:solidFill>
                  <a:srgbClr val="313D48"/>
                </a:solidFill>
                <a:latin typeface="Arial"/>
              </a:rPr>
              <a:t>Align goals</a:t>
            </a:r>
          </a:p>
        </p:txBody>
      </p:sp>
      <p:cxnSp>
        <p:nvCxnSpPr>
          <p:cNvPr id="11" name="Connector 10"/>
          <p:cNvCxnSpPr/>
          <p:nvPr/>
        </p:nvCxnSpPr>
        <p:spPr>
          <a:xfrm>
            <a:off x="713232" y="2752344"/>
            <a:ext cx="5010912" cy="0"/>
          </a:xfrm>
          <a:prstGeom prst="line">
            <a:avLst/>
          </a:prstGeom>
          <a:ln w="10795">
            <a:solidFill>
              <a:srgbClr val="D8DFE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13232" y="2971800"/>
            <a:ext cx="457200" cy="384048"/>
          </a:xfrm>
          <a:prstGeom prst="rect">
            <a:avLst/>
          </a:prstGeom>
          <a:noFill/>
        </p:spPr>
        <p:txBody>
          <a:bodyPr wrap="square" lIns="0" tIns="0" rIns="0" bIns="0" anchor="t">
            <a:spAutoFit/>
          </a:bodyPr>
          <a:lstStyle/>
          <a:p>
            <a:pPr algn="l">
              <a:lnSpc>
                <a:spcPct val="115000"/>
              </a:lnSpc>
              <a:spcBef>
                <a:spcPts val="0"/>
              </a:spcBef>
              <a:spcAft>
                <a:spcPts val="0"/>
              </a:spcAft>
            </a:pPr>
            <a:r>
              <a:rPr sz="1700" b="1" i="0">
                <a:solidFill>
                  <a:srgbClr val="326084"/>
                </a:solidFill>
                <a:latin typeface="Arial"/>
              </a:rPr>
              <a:t>02</a:t>
            </a:r>
          </a:p>
        </p:txBody>
      </p:sp>
      <p:sp>
        <p:nvSpPr>
          <p:cNvPr id="13" name="TextBox 12"/>
          <p:cNvSpPr txBox="1"/>
          <p:nvPr/>
        </p:nvSpPr>
        <p:spPr>
          <a:xfrm>
            <a:off x="1335024" y="2971800"/>
            <a:ext cx="1901952" cy="365760"/>
          </a:xfrm>
          <a:prstGeom prst="rect">
            <a:avLst/>
          </a:prstGeom>
          <a:noFill/>
        </p:spPr>
        <p:txBody>
          <a:bodyPr wrap="square" lIns="0" tIns="0" rIns="0" bIns="0" anchor="t">
            <a:spAutoFit/>
          </a:bodyPr>
          <a:lstStyle/>
          <a:p>
            <a:pPr algn="l">
              <a:lnSpc>
                <a:spcPct val="115000"/>
              </a:lnSpc>
              <a:spcBef>
                <a:spcPts val="0"/>
              </a:spcBef>
              <a:spcAft>
                <a:spcPts val="0"/>
              </a:spcAft>
            </a:pPr>
            <a:r>
              <a:rPr sz="1600" b="1" i="0">
                <a:solidFill>
                  <a:srgbClr val="1F2E3B"/>
                </a:solidFill>
                <a:latin typeface="Arial"/>
              </a:rPr>
              <a:t>ANALYZE</a:t>
            </a:r>
          </a:p>
        </p:txBody>
      </p:sp>
      <p:sp>
        <p:nvSpPr>
          <p:cNvPr id="14" name="TextBox 13"/>
          <p:cNvSpPr txBox="1"/>
          <p:nvPr/>
        </p:nvSpPr>
        <p:spPr>
          <a:xfrm>
            <a:off x="3392424" y="2985516"/>
            <a:ext cx="2313432" cy="393192"/>
          </a:xfrm>
          <a:prstGeom prst="rect">
            <a:avLst/>
          </a:prstGeom>
          <a:noFill/>
        </p:spPr>
        <p:txBody>
          <a:bodyPr wrap="square" lIns="0" tIns="0" rIns="0" bIns="0" anchor="t">
            <a:spAutoFit/>
          </a:bodyPr>
          <a:lstStyle/>
          <a:p>
            <a:pPr algn="l">
              <a:lnSpc>
                <a:spcPct val="115000"/>
              </a:lnSpc>
              <a:spcBef>
                <a:spcPts val="0"/>
              </a:spcBef>
              <a:spcAft>
                <a:spcPts val="0"/>
              </a:spcAft>
            </a:pPr>
            <a:r>
              <a:rPr sz="1420" b="0" i="0">
                <a:solidFill>
                  <a:srgbClr val="313D48"/>
                </a:solidFill>
                <a:latin typeface="Arial"/>
              </a:rPr>
              <a:t>Clarify needs</a:t>
            </a:r>
          </a:p>
        </p:txBody>
      </p:sp>
      <p:cxnSp>
        <p:nvCxnSpPr>
          <p:cNvPr id="15" name="Connector 14"/>
          <p:cNvCxnSpPr/>
          <p:nvPr/>
        </p:nvCxnSpPr>
        <p:spPr>
          <a:xfrm>
            <a:off x="713232" y="3511296"/>
            <a:ext cx="5010912" cy="0"/>
          </a:xfrm>
          <a:prstGeom prst="line">
            <a:avLst/>
          </a:prstGeom>
          <a:ln w="10795">
            <a:solidFill>
              <a:srgbClr val="D8DF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13232" y="3730752"/>
            <a:ext cx="457200" cy="384048"/>
          </a:xfrm>
          <a:prstGeom prst="rect">
            <a:avLst/>
          </a:prstGeom>
          <a:noFill/>
        </p:spPr>
        <p:txBody>
          <a:bodyPr wrap="square" lIns="0" tIns="0" rIns="0" bIns="0" anchor="t">
            <a:spAutoFit/>
          </a:bodyPr>
          <a:lstStyle/>
          <a:p>
            <a:pPr algn="l">
              <a:lnSpc>
                <a:spcPct val="115000"/>
              </a:lnSpc>
              <a:spcBef>
                <a:spcPts val="0"/>
              </a:spcBef>
              <a:spcAft>
                <a:spcPts val="0"/>
              </a:spcAft>
            </a:pPr>
            <a:r>
              <a:rPr sz="1700" b="1" i="0">
                <a:solidFill>
                  <a:srgbClr val="326084"/>
                </a:solidFill>
                <a:latin typeface="Arial"/>
              </a:rPr>
              <a:t>03</a:t>
            </a:r>
          </a:p>
        </p:txBody>
      </p:sp>
      <p:sp>
        <p:nvSpPr>
          <p:cNvPr id="17" name="TextBox 16"/>
          <p:cNvSpPr txBox="1"/>
          <p:nvPr/>
        </p:nvSpPr>
        <p:spPr>
          <a:xfrm>
            <a:off x="1335024" y="3730752"/>
            <a:ext cx="1901952" cy="365760"/>
          </a:xfrm>
          <a:prstGeom prst="rect">
            <a:avLst/>
          </a:prstGeom>
          <a:noFill/>
        </p:spPr>
        <p:txBody>
          <a:bodyPr wrap="square" lIns="0" tIns="0" rIns="0" bIns="0" anchor="t">
            <a:spAutoFit/>
          </a:bodyPr>
          <a:lstStyle/>
          <a:p>
            <a:pPr algn="l">
              <a:lnSpc>
                <a:spcPct val="115000"/>
              </a:lnSpc>
              <a:spcBef>
                <a:spcPts val="0"/>
              </a:spcBef>
              <a:spcAft>
                <a:spcPts val="0"/>
              </a:spcAft>
            </a:pPr>
            <a:r>
              <a:rPr sz="1600" b="1" i="0">
                <a:solidFill>
                  <a:srgbClr val="1F2E3B"/>
                </a:solidFill>
                <a:latin typeface="Arial"/>
              </a:rPr>
              <a:t>DESIGN</a:t>
            </a:r>
          </a:p>
        </p:txBody>
      </p:sp>
      <p:sp>
        <p:nvSpPr>
          <p:cNvPr id="18" name="TextBox 17"/>
          <p:cNvSpPr txBox="1"/>
          <p:nvPr/>
        </p:nvSpPr>
        <p:spPr>
          <a:xfrm>
            <a:off x="3392424" y="3744468"/>
            <a:ext cx="2313432" cy="393192"/>
          </a:xfrm>
          <a:prstGeom prst="rect">
            <a:avLst/>
          </a:prstGeom>
          <a:noFill/>
        </p:spPr>
        <p:txBody>
          <a:bodyPr wrap="square" lIns="0" tIns="0" rIns="0" bIns="0" anchor="t">
            <a:spAutoFit/>
          </a:bodyPr>
          <a:lstStyle/>
          <a:p>
            <a:pPr algn="l">
              <a:lnSpc>
                <a:spcPct val="115000"/>
              </a:lnSpc>
              <a:spcBef>
                <a:spcPts val="0"/>
              </a:spcBef>
              <a:spcAft>
                <a:spcPts val="0"/>
              </a:spcAft>
            </a:pPr>
            <a:r>
              <a:rPr sz="1420" b="0" i="0">
                <a:solidFill>
                  <a:srgbClr val="313D48"/>
                </a:solidFill>
                <a:latin typeface="Arial"/>
              </a:rPr>
              <a:t>Shape solution</a:t>
            </a:r>
          </a:p>
        </p:txBody>
      </p:sp>
      <p:cxnSp>
        <p:nvCxnSpPr>
          <p:cNvPr id="19" name="Connector 18"/>
          <p:cNvCxnSpPr/>
          <p:nvPr/>
        </p:nvCxnSpPr>
        <p:spPr>
          <a:xfrm>
            <a:off x="713232" y="4270248"/>
            <a:ext cx="5010912" cy="0"/>
          </a:xfrm>
          <a:prstGeom prst="line">
            <a:avLst/>
          </a:prstGeom>
          <a:ln w="10795">
            <a:solidFill>
              <a:srgbClr val="D8DFE4"/>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13232" y="4489704"/>
            <a:ext cx="457200" cy="384048"/>
          </a:xfrm>
          <a:prstGeom prst="rect">
            <a:avLst/>
          </a:prstGeom>
          <a:noFill/>
        </p:spPr>
        <p:txBody>
          <a:bodyPr wrap="square" lIns="0" tIns="0" rIns="0" bIns="0" anchor="t">
            <a:spAutoFit/>
          </a:bodyPr>
          <a:lstStyle/>
          <a:p>
            <a:pPr algn="l">
              <a:lnSpc>
                <a:spcPct val="115000"/>
              </a:lnSpc>
              <a:spcBef>
                <a:spcPts val="0"/>
              </a:spcBef>
              <a:spcAft>
                <a:spcPts val="0"/>
              </a:spcAft>
            </a:pPr>
            <a:r>
              <a:rPr sz="1700" b="1" i="0">
                <a:solidFill>
                  <a:srgbClr val="326084"/>
                </a:solidFill>
                <a:latin typeface="Arial"/>
              </a:rPr>
              <a:t>04</a:t>
            </a:r>
          </a:p>
        </p:txBody>
      </p:sp>
      <p:sp>
        <p:nvSpPr>
          <p:cNvPr id="21" name="TextBox 20"/>
          <p:cNvSpPr txBox="1"/>
          <p:nvPr/>
        </p:nvSpPr>
        <p:spPr>
          <a:xfrm>
            <a:off x="1335024" y="4489704"/>
            <a:ext cx="1901952" cy="365760"/>
          </a:xfrm>
          <a:prstGeom prst="rect">
            <a:avLst/>
          </a:prstGeom>
          <a:noFill/>
        </p:spPr>
        <p:txBody>
          <a:bodyPr wrap="square" lIns="0" tIns="0" rIns="0" bIns="0" anchor="t">
            <a:spAutoFit/>
          </a:bodyPr>
          <a:lstStyle/>
          <a:p>
            <a:pPr algn="l">
              <a:lnSpc>
                <a:spcPct val="115000"/>
              </a:lnSpc>
              <a:spcBef>
                <a:spcPts val="0"/>
              </a:spcBef>
              <a:spcAft>
                <a:spcPts val="0"/>
              </a:spcAft>
            </a:pPr>
            <a:r>
              <a:rPr sz="1600" b="1" i="0">
                <a:solidFill>
                  <a:srgbClr val="1F2E3B"/>
                </a:solidFill>
                <a:latin typeface="Arial"/>
              </a:rPr>
              <a:t>CODE</a:t>
            </a:r>
          </a:p>
        </p:txBody>
      </p:sp>
      <p:sp>
        <p:nvSpPr>
          <p:cNvPr id="22" name="TextBox 21"/>
          <p:cNvSpPr txBox="1"/>
          <p:nvPr/>
        </p:nvSpPr>
        <p:spPr>
          <a:xfrm>
            <a:off x="3392424" y="4503420"/>
            <a:ext cx="2313432" cy="393192"/>
          </a:xfrm>
          <a:prstGeom prst="rect">
            <a:avLst/>
          </a:prstGeom>
          <a:noFill/>
        </p:spPr>
        <p:txBody>
          <a:bodyPr wrap="square" lIns="0" tIns="0" rIns="0" bIns="0" anchor="t">
            <a:spAutoFit/>
          </a:bodyPr>
          <a:lstStyle/>
          <a:p>
            <a:pPr algn="l">
              <a:lnSpc>
                <a:spcPct val="115000"/>
              </a:lnSpc>
              <a:spcBef>
                <a:spcPts val="0"/>
              </a:spcBef>
              <a:spcAft>
                <a:spcPts val="0"/>
              </a:spcAft>
            </a:pPr>
            <a:r>
              <a:rPr sz="1420" b="0" i="0">
                <a:solidFill>
                  <a:srgbClr val="313D48"/>
                </a:solidFill>
                <a:latin typeface="Arial"/>
              </a:rPr>
              <a:t>Implement</a:t>
            </a:r>
          </a:p>
        </p:txBody>
      </p:sp>
      <p:cxnSp>
        <p:nvCxnSpPr>
          <p:cNvPr id="23" name="Connector 22"/>
          <p:cNvCxnSpPr/>
          <p:nvPr/>
        </p:nvCxnSpPr>
        <p:spPr>
          <a:xfrm>
            <a:off x="713232" y="5029200"/>
            <a:ext cx="5010912" cy="0"/>
          </a:xfrm>
          <a:prstGeom prst="line">
            <a:avLst/>
          </a:prstGeom>
          <a:ln w="10795">
            <a:solidFill>
              <a:srgbClr val="D8DFE4"/>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227064" y="2212848"/>
            <a:ext cx="457200" cy="384048"/>
          </a:xfrm>
          <a:prstGeom prst="rect">
            <a:avLst/>
          </a:prstGeom>
          <a:noFill/>
        </p:spPr>
        <p:txBody>
          <a:bodyPr wrap="square" lIns="0" tIns="0" rIns="0" bIns="0" anchor="t">
            <a:spAutoFit/>
          </a:bodyPr>
          <a:lstStyle/>
          <a:p>
            <a:pPr algn="l">
              <a:lnSpc>
                <a:spcPct val="115000"/>
              </a:lnSpc>
              <a:spcBef>
                <a:spcPts val="0"/>
              </a:spcBef>
              <a:spcAft>
                <a:spcPts val="0"/>
              </a:spcAft>
            </a:pPr>
            <a:r>
              <a:rPr sz="1700" b="1" i="0">
                <a:solidFill>
                  <a:srgbClr val="326084"/>
                </a:solidFill>
                <a:latin typeface="Arial"/>
              </a:rPr>
              <a:t>05</a:t>
            </a:r>
          </a:p>
        </p:txBody>
      </p:sp>
      <p:sp>
        <p:nvSpPr>
          <p:cNvPr id="25" name="TextBox 24"/>
          <p:cNvSpPr txBox="1"/>
          <p:nvPr/>
        </p:nvSpPr>
        <p:spPr>
          <a:xfrm>
            <a:off x="6848855" y="2212848"/>
            <a:ext cx="1901952" cy="365760"/>
          </a:xfrm>
          <a:prstGeom prst="rect">
            <a:avLst/>
          </a:prstGeom>
          <a:noFill/>
        </p:spPr>
        <p:txBody>
          <a:bodyPr wrap="square" lIns="0" tIns="0" rIns="0" bIns="0" anchor="t">
            <a:spAutoFit/>
          </a:bodyPr>
          <a:lstStyle/>
          <a:p>
            <a:pPr algn="l">
              <a:lnSpc>
                <a:spcPct val="115000"/>
              </a:lnSpc>
              <a:spcBef>
                <a:spcPts val="0"/>
              </a:spcBef>
              <a:spcAft>
                <a:spcPts val="0"/>
              </a:spcAft>
            </a:pPr>
            <a:r>
              <a:rPr sz="1600" b="1" i="0">
                <a:solidFill>
                  <a:srgbClr val="1F2E3B"/>
                </a:solidFill>
                <a:latin typeface="Arial"/>
              </a:rPr>
              <a:t>TEST</a:t>
            </a:r>
          </a:p>
        </p:txBody>
      </p:sp>
      <p:sp>
        <p:nvSpPr>
          <p:cNvPr id="26" name="TextBox 25"/>
          <p:cNvSpPr txBox="1"/>
          <p:nvPr/>
        </p:nvSpPr>
        <p:spPr>
          <a:xfrm>
            <a:off x="8906256" y="2226564"/>
            <a:ext cx="2313432" cy="393192"/>
          </a:xfrm>
          <a:prstGeom prst="rect">
            <a:avLst/>
          </a:prstGeom>
          <a:noFill/>
        </p:spPr>
        <p:txBody>
          <a:bodyPr wrap="square" lIns="0" tIns="0" rIns="0" bIns="0" anchor="t">
            <a:spAutoFit/>
          </a:bodyPr>
          <a:lstStyle/>
          <a:p>
            <a:pPr algn="l">
              <a:lnSpc>
                <a:spcPct val="115000"/>
              </a:lnSpc>
              <a:spcBef>
                <a:spcPts val="0"/>
              </a:spcBef>
              <a:spcAft>
                <a:spcPts val="0"/>
              </a:spcAft>
            </a:pPr>
            <a:r>
              <a:rPr sz="1420" b="0" i="0">
                <a:solidFill>
                  <a:srgbClr val="313D48"/>
                </a:solidFill>
                <a:latin typeface="Arial"/>
              </a:rPr>
              <a:t>Verify behavior</a:t>
            </a:r>
          </a:p>
        </p:txBody>
      </p:sp>
      <p:cxnSp>
        <p:nvCxnSpPr>
          <p:cNvPr id="27" name="Connector 26"/>
          <p:cNvCxnSpPr/>
          <p:nvPr/>
        </p:nvCxnSpPr>
        <p:spPr>
          <a:xfrm>
            <a:off x="6227064" y="2752344"/>
            <a:ext cx="5010912" cy="0"/>
          </a:xfrm>
          <a:prstGeom prst="line">
            <a:avLst/>
          </a:prstGeom>
          <a:ln w="10795">
            <a:solidFill>
              <a:srgbClr val="D8DFE4"/>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227064" y="2971800"/>
            <a:ext cx="457200" cy="384048"/>
          </a:xfrm>
          <a:prstGeom prst="rect">
            <a:avLst/>
          </a:prstGeom>
          <a:noFill/>
        </p:spPr>
        <p:txBody>
          <a:bodyPr wrap="square" lIns="0" tIns="0" rIns="0" bIns="0" anchor="t">
            <a:spAutoFit/>
          </a:bodyPr>
          <a:lstStyle/>
          <a:p>
            <a:pPr algn="l">
              <a:lnSpc>
                <a:spcPct val="115000"/>
              </a:lnSpc>
              <a:spcBef>
                <a:spcPts val="0"/>
              </a:spcBef>
              <a:spcAft>
                <a:spcPts val="0"/>
              </a:spcAft>
            </a:pPr>
            <a:r>
              <a:rPr sz="1700" b="1" i="0">
                <a:solidFill>
                  <a:srgbClr val="326084"/>
                </a:solidFill>
                <a:latin typeface="Arial"/>
              </a:rPr>
              <a:t>06</a:t>
            </a:r>
          </a:p>
        </p:txBody>
      </p:sp>
      <p:sp>
        <p:nvSpPr>
          <p:cNvPr id="29" name="TextBox 28"/>
          <p:cNvSpPr txBox="1"/>
          <p:nvPr/>
        </p:nvSpPr>
        <p:spPr>
          <a:xfrm>
            <a:off x="6848855" y="2971800"/>
            <a:ext cx="1901952" cy="365760"/>
          </a:xfrm>
          <a:prstGeom prst="rect">
            <a:avLst/>
          </a:prstGeom>
          <a:noFill/>
        </p:spPr>
        <p:txBody>
          <a:bodyPr wrap="square" lIns="0" tIns="0" rIns="0" bIns="0" anchor="t">
            <a:spAutoFit/>
          </a:bodyPr>
          <a:lstStyle/>
          <a:p>
            <a:pPr algn="l">
              <a:lnSpc>
                <a:spcPct val="115000"/>
              </a:lnSpc>
              <a:spcBef>
                <a:spcPts val="0"/>
              </a:spcBef>
              <a:spcAft>
                <a:spcPts val="0"/>
              </a:spcAft>
            </a:pPr>
            <a:r>
              <a:rPr sz="1600" b="1" i="0">
                <a:solidFill>
                  <a:srgbClr val="1F2E3B"/>
                </a:solidFill>
                <a:latin typeface="Arial"/>
              </a:rPr>
              <a:t>DEPLOY</a:t>
            </a:r>
          </a:p>
        </p:txBody>
      </p:sp>
      <p:sp>
        <p:nvSpPr>
          <p:cNvPr id="30" name="TextBox 29"/>
          <p:cNvSpPr txBox="1"/>
          <p:nvPr/>
        </p:nvSpPr>
        <p:spPr>
          <a:xfrm>
            <a:off x="8906256" y="2985516"/>
            <a:ext cx="2313432" cy="393192"/>
          </a:xfrm>
          <a:prstGeom prst="rect">
            <a:avLst/>
          </a:prstGeom>
          <a:noFill/>
        </p:spPr>
        <p:txBody>
          <a:bodyPr wrap="square" lIns="0" tIns="0" rIns="0" bIns="0" anchor="t">
            <a:spAutoFit/>
          </a:bodyPr>
          <a:lstStyle/>
          <a:p>
            <a:pPr algn="l">
              <a:lnSpc>
                <a:spcPct val="115000"/>
              </a:lnSpc>
              <a:spcBef>
                <a:spcPts val="0"/>
              </a:spcBef>
              <a:spcAft>
                <a:spcPts val="0"/>
              </a:spcAft>
            </a:pPr>
            <a:r>
              <a:rPr sz="1420" b="0" i="0">
                <a:solidFill>
                  <a:srgbClr val="313D48"/>
                </a:solidFill>
                <a:latin typeface="Arial"/>
              </a:rPr>
              <a:t>Release when ready</a:t>
            </a:r>
          </a:p>
        </p:txBody>
      </p:sp>
      <p:cxnSp>
        <p:nvCxnSpPr>
          <p:cNvPr id="31" name="Connector 30"/>
          <p:cNvCxnSpPr/>
          <p:nvPr/>
        </p:nvCxnSpPr>
        <p:spPr>
          <a:xfrm>
            <a:off x="6227064" y="3511296"/>
            <a:ext cx="5010912" cy="0"/>
          </a:xfrm>
          <a:prstGeom prst="line">
            <a:avLst/>
          </a:prstGeom>
          <a:ln w="10795">
            <a:solidFill>
              <a:srgbClr val="D8DFE4"/>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227064" y="3730752"/>
            <a:ext cx="457200" cy="384048"/>
          </a:xfrm>
          <a:prstGeom prst="rect">
            <a:avLst/>
          </a:prstGeom>
          <a:noFill/>
        </p:spPr>
        <p:txBody>
          <a:bodyPr wrap="square" lIns="0" tIns="0" rIns="0" bIns="0" anchor="t">
            <a:spAutoFit/>
          </a:bodyPr>
          <a:lstStyle/>
          <a:p>
            <a:pPr algn="l">
              <a:lnSpc>
                <a:spcPct val="115000"/>
              </a:lnSpc>
              <a:spcBef>
                <a:spcPts val="0"/>
              </a:spcBef>
              <a:spcAft>
                <a:spcPts val="0"/>
              </a:spcAft>
            </a:pPr>
            <a:r>
              <a:rPr sz="1700" b="1" i="0">
                <a:solidFill>
                  <a:srgbClr val="326084"/>
                </a:solidFill>
                <a:latin typeface="Arial"/>
              </a:rPr>
              <a:t>07</a:t>
            </a:r>
          </a:p>
        </p:txBody>
      </p:sp>
      <p:sp>
        <p:nvSpPr>
          <p:cNvPr id="33" name="TextBox 32"/>
          <p:cNvSpPr txBox="1"/>
          <p:nvPr/>
        </p:nvSpPr>
        <p:spPr>
          <a:xfrm>
            <a:off x="6848855" y="3730752"/>
            <a:ext cx="1901952" cy="365760"/>
          </a:xfrm>
          <a:prstGeom prst="rect">
            <a:avLst/>
          </a:prstGeom>
          <a:noFill/>
        </p:spPr>
        <p:txBody>
          <a:bodyPr wrap="square" lIns="0" tIns="0" rIns="0" bIns="0" anchor="t">
            <a:spAutoFit/>
          </a:bodyPr>
          <a:lstStyle/>
          <a:p>
            <a:pPr algn="l">
              <a:lnSpc>
                <a:spcPct val="115000"/>
              </a:lnSpc>
              <a:spcBef>
                <a:spcPts val="0"/>
              </a:spcBef>
              <a:spcAft>
                <a:spcPts val="0"/>
              </a:spcAft>
            </a:pPr>
            <a:r>
              <a:rPr sz="1600" b="1" i="0">
                <a:solidFill>
                  <a:srgbClr val="1F2E3B"/>
                </a:solidFill>
                <a:latin typeface="Arial"/>
              </a:rPr>
              <a:t>MAINTAIN</a:t>
            </a:r>
          </a:p>
        </p:txBody>
      </p:sp>
      <p:sp>
        <p:nvSpPr>
          <p:cNvPr id="34" name="TextBox 33"/>
          <p:cNvSpPr txBox="1"/>
          <p:nvPr/>
        </p:nvSpPr>
        <p:spPr>
          <a:xfrm>
            <a:off x="8906256" y="3744468"/>
            <a:ext cx="2313432" cy="393192"/>
          </a:xfrm>
          <a:prstGeom prst="rect">
            <a:avLst/>
          </a:prstGeom>
          <a:noFill/>
        </p:spPr>
        <p:txBody>
          <a:bodyPr wrap="square" lIns="0" tIns="0" rIns="0" bIns="0" anchor="t">
            <a:spAutoFit/>
          </a:bodyPr>
          <a:lstStyle/>
          <a:p>
            <a:pPr algn="l">
              <a:lnSpc>
                <a:spcPct val="115000"/>
              </a:lnSpc>
              <a:spcBef>
                <a:spcPts val="0"/>
              </a:spcBef>
              <a:spcAft>
                <a:spcPts val="0"/>
              </a:spcAft>
            </a:pPr>
            <a:r>
              <a:rPr sz="1420" b="0" i="0">
                <a:solidFill>
                  <a:srgbClr val="313D48"/>
                </a:solidFill>
                <a:latin typeface="Arial"/>
              </a:rPr>
              <a:t>Learn and improve</a:t>
            </a:r>
          </a:p>
        </p:txBody>
      </p:sp>
      <p:cxnSp>
        <p:nvCxnSpPr>
          <p:cNvPr id="35" name="Connector 34"/>
          <p:cNvCxnSpPr/>
          <p:nvPr/>
        </p:nvCxnSpPr>
        <p:spPr>
          <a:xfrm>
            <a:off x="6227064" y="4270248"/>
            <a:ext cx="5010912" cy="0"/>
          </a:xfrm>
          <a:prstGeom prst="line">
            <a:avLst/>
          </a:prstGeom>
          <a:ln w="10795">
            <a:solidFill>
              <a:srgbClr val="D8DFE4"/>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13232" y="5431536"/>
            <a:ext cx="10789920" cy="649224"/>
          </a:xfrm>
          <a:prstGeom prst="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50976" y="5513832"/>
            <a:ext cx="10149840" cy="265176"/>
          </a:xfrm>
          <a:prstGeom prst="rect">
            <a:avLst/>
          </a:prstGeom>
          <a:noFill/>
        </p:spPr>
        <p:txBody>
          <a:bodyPr wrap="square" lIns="0" tIns="0" rIns="0" bIns="0" anchor="t">
            <a:spAutoFit/>
          </a:bodyPr>
          <a:lstStyle/>
          <a:p>
            <a:pPr algn="l">
              <a:lnSpc>
                <a:spcPct val="115000"/>
              </a:lnSpc>
              <a:spcBef>
                <a:spcPts val="0"/>
              </a:spcBef>
              <a:spcAft>
                <a:spcPts val="0"/>
              </a:spcAft>
            </a:pPr>
            <a:r>
              <a:rPr sz="1440" b="1" i="0">
                <a:solidFill>
                  <a:srgbClr val="1F2E3B"/>
                </a:solidFill>
                <a:latin typeface="Arial"/>
              </a:rPr>
              <a:t>Within a Sprint: plan → clarify → design → build → test → inspect → adapt</a:t>
            </a:r>
          </a:p>
        </p:txBody>
      </p:sp>
      <p:sp>
        <p:nvSpPr>
          <p:cNvPr id="38" name="TextBox 37"/>
          <p:cNvSpPr txBox="1"/>
          <p:nvPr/>
        </p:nvSpPr>
        <p:spPr>
          <a:xfrm>
            <a:off x="950976" y="5833872"/>
            <a:ext cx="10158984" cy="338328"/>
          </a:xfrm>
          <a:prstGeom prst="rect">
            <a:avLst/>
          </a:prstGeom>
          <a:noFill/>
        </p:spPr>
        <p:txBody>
          <a:bodyPr wrap="square" lIns="0" tIns="0" rIns="0" bIns="0" anchor="t">
            <a:noAutofit/>
          </a:bodyPr>
          <a:lstStyle/>
          <a:p>
            <a:pPr algn="l">
              <a:lnSpc>
                <a:spcPct val="115000"/>
              </a:lnSpc>
              <a:spcBef>
                <a:spcPts val="0"/>
              </a:spcBef>
              <a:spcAft>
                <a:spcPts val="0"/>
              </a:spcAft>
            </a:pPr>
            <a:r>
              <a:rPr sz="1100" b="0">
                <a:solidFill>
                  <a:srgbClr val="616F7A"/>
                </a:solidFill>
                <a:latin typeface="Arial"/>
              </a:rPr>
              <a:t>The SNHU Travel exercise did not document a live production release </a:t>
            </a:r>
            <a:r>
              <a:rPr sz="1000" b="0">
                <a:solidFill>
                  <a:srgbClr val="2B5A7E"/>
                </a:solidFill>
                <a:latin typeface="Arial"/>
              </a:rPr>
              <a:t>(Southern New Hampshire University, 2026).</a:t>
            </a:r>
          </a:p>
        </p:txBody>
      </p:sp>
      <p:sp>
        <p:nvSpPr>
          <p:cNvPr id="39" name="TextBox 38"/>
          <p:cNvSpPr txBox="1"/>
          <p:nvPr/>
        </p:nvSpPr>
        <p:spPr>
          <a:xfrm>
            <a:off x="685800" y="6382512"/>
            <a:ext cx="9875520" cy="237744"/>
          </a:xfrm>
          <a:prstGeom prst="rect">
            <a:avLst/>
          </a:prstGeom>
          <a:noFill/>
        </p:spPr>
        <p:txBody>
          <a:bodyPr wrap="none" lIns="0" tIns="0" rIns="0" bIns="0">
            <a:spAutoFit/>
          </a:bodyPr>
          <a:lstStyle/>
          <a:p>
            <a:r>
              <a:rPr sz="930">
                <a:solidFill>
                  <a:srgbClr val="616F7A"/>
                </a:solidFill>
                <a:latin typeface="Arial"/>
              </a:rPr>
              <a:t>Complete reference entries and source links: slides 14–15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374904"/>
            <a:ext cx="9875520" cy="237744"/>
          </a:xfrm>
          <a:prstGeom prst="rect">
            <a:avLst/>
          </a:prstGeom>
          <a:noFill/>
        </p:spPr>
        <p:txBody>
          <a:bodyPr wrap="square" lIns="0" tIns="0" rIns="0" bIns="0" anchor="t">
            <a:spAutoFit/>
          </a:bodyPr>
          <a:lstStyle/>
          <a:p>
            <a:pPr algn="l">
              <a:lnSpc>
                <a:spcPct val="115000"/>
              </a:lnSpc>
              <a:spcBef>
                <a:spcPts val="0"/>
              </a:spcBef>
              <a:spcAft>
                <a:spcPts val="0"/>
              </a:spcAft>
            </a:pPr>
            <a:r>
              <a:rPr sz="1100" b="1" i="0">
                <a:solidFill>
                  <a:srgbClr val="326084"/>
                </a:solidFill>
                <a:latin typeface="Arial"/>
              </a:rPr>
              <a:t>EVIDENCE FROM SNHU TRAVEL</a:t>
            </a:r>
          </a:p>
        </p:txBody>
      </p:sp>
      <p:sp>
        <p:nvSpPr>
          <p:cNvPr id="3" name="TextBox 2"/>
          <p:cNvSpPr txBox="1"/>
          <p:nvPr/>
        </p:nvSpPr>
        <p:spPr>
          <a:xfrm>
            <a:off x="676656" y="722376"/>
            <a:ext cx="10881360" cy="484632"/>
          </a:xfrm>
          <a:prstGeom prst="rect">
            <a:avLst/>
          </a:prstGeom>
          <a:noFill/>
        </p:spPr>
        <p:txBody>
          <a:bodyPr wrap="square" lIns="0" tIns="0" rIns="0" bIns="0" anchor="t">
            <a:spAutoFit/>
          </a:bodyPr>
          <a:lstStyle/>
          <a:p>
            <a:pPr algn="l">
              <a:lnSpc>
                <a:spcPct val="115000"/>
              </a:lnSpc>
              <a:spcBef>
                <a:spcPts val="0"/>
              </a:spcBef>
              <a:spcAft>
                <a:spcPts val="0"/>
              </a:spcAft>
            </a:pPr>
            <a:r>
              <a:rPr sz="2750" b="1" i="0">
                <a:solidFill>
                  <a:srgbClr val="1F2E3B"/>
                </a:solidFill>
                <a:latin typeface="Arial"/>
              </a:rPr>
              <a:t>From a customer request to something verifiable</a:t>
            </a:r>
          </a:p>
        </p:txBody>
      </p:sp>
      <p:sp>
        <p:nvSpPr>
          <p:cNvPr id="4" name="TextBox 3"/>
          <p:cNvSpPr txBox="1"/>
          <p:nvPr/>
        </p:nvSpPr>
        <p:spPr>
          <a:xfrm>
            <a:off x="685800" y="1380744"/>
            <a:ext cx="10881360" cy="521207"/>
          </a:xfrm>
          <a:prstGeom prst="rect">
            <a:avLst/>
          </a:prstGeom>
          <a:noFill/>
        </p:spPr>
        <p:txBody>
          <a:bodyPr wrap="square" lIns="0" tIns="0" rIns="0" bIns="0" anchor="t">
            <a:noAutofit/>
          </a:bodyPr>
          <a:lstStyle/>
          <a:p>
            <a:pPr algn="l">
              <a:lnSpc>
                <a:spcPct val="115000"/>
              </a:lnSpc>
              <a:spcBef>
                <a:spcPts val="0"/>
              </a:spcBef>
              <a:spcAft>
                <a:spcPts val="0"/>
              </a:spcAft>
            </a:pPr>
            <a:r>
              <a:rPr sz="1400" b="0">
                <a:solidFill>
                  <a:srgbClr val="1F2E3B"/>
                </a:solidFill>
                <a:latin typeface="Arial"/>
              </a:rPr>
              <a:t>SNHU Travel used small stories and test cases to practice verification </a:t>
            </a:r>
            <a:r>
              <a:rPr sz="1180" b="0">
                <a:solidFill>
                  <a:srgbClr val="2B5A7E"/>
                </a:solidFill>
                <a:latin typeface="Arial"/>
              </a:rPr>
              <a:t>(Southern New Hampshire University, 2026).</a:t>
            </a:r>
          </a:p>
        </p:txBody>
      </p:sp>
      <p:cxnSp>
        <p:nvCxnSpPr>
          <p:cNvPr id="5" name="Connector 4"/>
          <p:cNvCxnSpPr/>
          <p:nvPr/>
        </p:nvCxnSpPr>
        <p:spPr>
          <a:xfrm>
            <a:off x="685800" y="1897380"/>
            <a:ext cx="10808208" cy="0"/>
          </a:xfrm>
          <a:prstGeom prst="line">
            <a:avLst/>
          </a:prstGeom>
          <a:ln w="13970">
            <a:solidFill>
              <a:srgbClr val="D8DF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991088" y="6419088"/>
            <a:ext cx="521207" cy="237744"/>
          </a:xfrm>
          <a:prstGeom prst="rect">
            <a:avLst/>
          </a:prstGeom>
          <a:noFill/>
        </p:spPr>
        <p:txBody>
          <a:bodyPr wrap="square" lIns="0" tIns="0" rIns="0" bIns="0" anchor="t">
            <a:spAutoFit/>
          </a:bodyPr>
          <a:lstStyle/>
          <a:p>
            <a:pPr algn="r">
              <a:lnSpc>
                <a:spcPct val="115000"/>
              </a:lnSpc>
              <a:spcBef>
                <a:spcPts val="0"/>
              </a:spcBef>
              <a:spcAft>
                <a:spcPts val="0"/>
              </a:spcAft>
            </a:pPr>
            <a:r>
              <a:rPr sz="1050" b="0" i="0">
                <a:solidFill>
                  <a:srgbClr val="65737E"/>
                </a:solidFill>
                <a:latin typeface="Arial"/>
              </a:rPr>
              <a:t>06</a:t>
            </a:r>
          </a:p>
        </p:txBody>
      </p:sp>
      <p:sp>
        <p:nvSpPr>
          <p:cNvPr id="8" name="Rectangle 7"/>
          <p:cNvSpPr/>
          <p:nvPr/>
        </p:nvSpPr>
        <p:spPr>
          <a:xfrm>
            <a:off x="713232" y="2157984"/>
            <a:ext cx="10753344" cy="1170432"/>
          </a:xfrm>
          <a:prstGeom prst="rect">
            <a:avLst/>
          </a:prstGeom>
          <a:solidFill>
            <a:srgbClr val="FFFFFF"/>
          </a:solidFill>
          <a:ln w="1016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13232" y="2157984"/>
            <a:ext cx="59436" cy="1170432"/>
          </a:xfrm>
          <a:prstGeom prst="rect">
            <a:avLst/>
          </a:prstGeom>
          <a:solidFill>
            <a:srgbClr val="3260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23544" y="2322576"/>
            <a:ext cx="2724912" cy="237744"/>
          </a:xfrm>
          <a:prstGeom prst="rect">
            <a:avLst/>
          </a:prstGeom>
          <a:noFill/>
        </p:spPr>
        <p:txBody>
          <a:bodyPr wrap="square" lIns="0" tIns="0" rIns="0" bIns="0" anchor="t">
            <a:spAutoFit/>
          </a:bodyPr>
          <a:lstStyle/>
          <a:p>
            <a:pPr algn="l">
              <a:lnSpc>
                <a:spcPct val="115000"/>
              </a:lnSpc>
              <a:spcBef>
                <a:spcPts val="0"/>
              </a:spcBef>
              <a:spcAft>
                <a:spcPts val="0"/>
              </a:spcAft>
            </a:pPr>
            <a:r>
              <a:rPr sz="1080" b="1" i="0">
                <a:solidFill>
                  <a:srgbClr val="326084"/>
                </a:solidFill>
                <a:latin typeface="Arial"/>
              </a:rPr>
              <a:t>CODE EXERCISE</a:t>
            </a:r>
          </a:p>
        </p:txBody>
      </p:sp>
      <p:sp>
        <p:nvSpPr>
          <p:cNvPr id="11" name="TextBox 10"/>
          <p:cNvSpPr txBox="1"/>
          <p:nvPr/>
        </p:nvSpPr>
        <p:spPr>
          <a:xfrm>
            <a:off x="923544" y="2642615"/>
            <a:ext cx="2724912" cy="448056"/>
          </a:xfrm>
          <a:prstGeom prst="rect">
            <a:avLst/>
          </a:prstGeom>
          <a:noFill/>
        </p:spPr>
        <p:txBody>
          <a:bodyPr wrap="square" lIns="0" tIns="0" rIns="0" bIns="0" anchor="t">
            <a:spAutoFit/>
          </a:bodyPr>
          <a:lstStyle/>
          <a:p>
            <a:pPr algn="l">
              <a:lnSpc>
                <a:spcPct val="115000"/>
              </a:lnSpc>
              <a:spcBef>
                <a:spcPts val="0"/>
              </a:spcBef>
              <a:spcAft>
                <a:spcPts val="0"/>
              </a:spcAft>
            </a:pPr>
            <a:r>
              <a:rPr sz="1630" b="1" i="0">
                <a:solidFill>
                  <a:srgbClr val="1F2E3B"/>
                </a:solidFill>
                <a:latin typeface="Arial"/>
              </a:rPr>
              <a:t>Top Five Destinations</a:t>
            </a:r>
          </a:p>
        </p:txBody>
      </p:sp>
      <p:sp>
        <p:nvSpPr>
          <p:cNvPr id="12" name="TextBox 11"/>
          <p:cNvSpPr txBox="1"/>
          <p:nvPr/>
        </p:nvSpPr>
        <p:spPr>
          <a:xfrm>
            <a:off x="3712463" y="2386584"/>
            <a:ext cx="3986784" cy="804672"/>
          </a:xfrm>
          <a:prstGeom prst="rect">
            <a:avLst/>
          </a:prstGeom>
          <a:noFill/>
        </p:spPr>
        <p:txBody>
          <a:bodyPr wrap="square" lIns="0" tIns="0" rIns="0" bIns="0" anchor="t">
            <a:spAutoFit/>
          </a:bodyPr>
          <a:lstStyle/>
          <a:p>
            <a:pPr algn="l">
              <a:lnSpc>
                <a:spcPct val="115000"/>
              </a:lnSpc>
              <a:spcBef>
                <a:spcPts val="0"/>
              </a:spcBef>
              <a:spcAft>
                <a:spcPts val="0"/>
              </a:spcAft>
            </a:pPr>
            <a:r>
              <a:rPr sz="1335" b="0" i="0">
                <a:solidFill>
                  <a:srgbClr val="313D48"/>
                </a:solidFill>
                <a:latin typeface="Arial"/>
              </a:rPr>
              <a:t>Ordered destination list with short descriptions, distinct images, and working information links.</a:t>
            </a:r>
          </a:p>
        </p:txBody>
      </p:sp>
      <p:sp>
        <p:nvSpPr>
          <p:cNvPr id="13" name="Rectangle 12"/>
          <p:cNvSpPr/>
          <p:nvPr/>
        </p:nvSpPr>
        <p:spPr>
          <a:xfrm>
            <a:off x="7891272" y="2295144"/>
            <a:ext cx="3355848" cy="896112"/>
          </a:xfrm>
          <a:prstGeom prst="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92440" y="2414015"/>
            <a:ext cx="2944368" cy="182880"/>
          </a:xfrm>
          <a:prstGeom prst="rect">
            <a:avLst/>
          </a:prstGeom>
          <a:noFill/>
        </p:spPr>
        <p:txBody>
          <a:bodyPr wrap="square" lIns="0" tIns="0" rIns="0" bIns="0" anchor="t">
            <a:spAutoFit/>
          </a:bodyPr>
          <a:lstStyle/>
          <a:p>
            <a:pPr algn="l">
              <a:lnSpc>
                <a:spcPct val="115000"/>
              </a:lnSpc>
              <a:spcBef>
                <a:spcPts val="0"/>
              </a:spcBef>
              <a:spcAft>
                <a:spcPts val="0"/>
              </a:spcAft>
            </a:pPr>
            <a:r>
              <a:rPr sz="1060" b="1" i="0">
                <a:solidFill>
                  <a:srgbClr val="326084"/>
                </a:solidFill>
                <a:latin typeface="Arial"/>
              </a:rPr>
              <a:t>CHECK</a:t>
            </a:r>
          </a:p>
        </p:txBody>
      </p:sp>
      <p:sp>
        <p:nvSpPr>
          <p:cNvPr id="15" name="TextBox 14"/>
          <p:cNvSpPr txBox="1"/>
          <p:nvPr/>
        </p:nvSpPr>
        <p:spPr>
          <a:xfrm>
            <a:off x="8092440" y="2697479"/>
            <a:ext cx="2880360" cy="420624"/>
          </a:xfrm>
          <a:prstGeom prst="rect">
            <a:avLst/>
          </a:prstGeom>
          <a:noFill/>
        </p:spPr>
        <p:txBody>
          <a:bodyPr wrap="square" lIns="0" tIns="0" rIns="0" bIns="0" anchor="t">
            <a:spAutoFit/>
          </a:bodyPr>
          <a:lstStyle/>
          <a:p>
            <a:pPr algn="l">
              <a:lnSpc>
                <a:spcPct val="115000"/>
              </a:lnSpc>
              <a:spcBef>
                <a:spcPts val="0"/>
              </a:spcBef>
              <a:spcAft>
                <a:spcPts val="0"/>
              </a:spcAft>
            </a:pPr>
            <a:r>
              <a:rPr sz="1210" b="0" i="0">
                <a:solidFill>
                  <a:srgbClr val="313D48"/>
                </a:solidFill>
                <a:latin typeface="Arial"/>
              </a:rPr>
              <a:t>Demo each card and verify order + links.</a:t>
            </a:r>
          </a:p>
        </p:txBody>
      </p:sp>
      <p:sp>
        <p:nvSpPr>
          <p:cNvPr id="16" name="Rectangle 15"/>
          <p:cNvSpPr/>
          <p:nvPr/>
        </p:nvSpPr>
        <p:spPr>
          <a:xfrm>
            <a:off x="713232" y="3438144"/>
            <a:ext cx="10753344" cy="1170432"/>
          </a:xfrm>
          <a:prstGeom prst="rect">
            <a:avLst/>
          </a:prstGeom>
          <a:solidFill>
            <a:srgbClr val="FFFFFF"/>
          </a:solidFill>
          <a:ln w="1016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13232" y="3438144"/>
            <a:ext cx="59436" cy="1170432"/>
          </a:xfrm>
          <a:prstGeom prst="rect">
            <a:avLst/>
          </a:prstGeom>
          <a:solidFill>
            <a:srgbClr val="3260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23544" y="3602736"/>
            <a:ext cx="2724912" cy="237744"/>
          </a:xfrm>
          <a:prstGeom prst="rect">
            <a:avLst/>
          </a:prstGeom>
          <a:noFill/>
        </p:spPr>
        <p:txBody>
          <a:bodyPr wrap="square" lIns="0" tIns="0" rIns="0" bIns="0" anchor="t">
            <a:spAutoFit/>
          </a:bodyPr>
          <a:lstStyle/>
          <a:p>
            <a:pPr algn="l">
              <a:lnSpc>
                <a:spcPct val="115000"/>
              </a:lnSpc>
              <a:spcBef>
                <a:spcPts val="0"/>
              </a:spcBef>
              <a:spcAft>
                <a:spcPts val="0"/>
              </a:spcAft>
            </a:pPr>
            <a:r>
              <a:rPr sz="1080" b="1" i="0">
                <a:solidFill>
                  <a:srgbClr val="326084"/>
                </a:solidFill>
                <a:latin typeface="Arial"/>
              </a:rPr>
              <a:t>TEST-CASE EXERCISE</a:t>
            </a:r>
          </a:p>
        </p:txBody>
      </p:sp>
      <p:sp>
        <p:nvSpPr>
          <p:cNvPr id="19" name="TextBox 18"/>
          <p:cNvSpPr txBox="1"/>
          <p:nvPr/>
        </p:nvSpPr>
        <p:spPr>
          <a:xfrm>
            <a:off x="923544" y="3922776"/>
            <a:ext cx="2724912" cy="448056"/>
          </a:xfrm>
          <a:prstGeom prst="rect">
            <a:avLst/>
          </a:prstGeom>
          <a:noFill/>
        </p:spPr>
        <p:txBody>
          <a:bodyPr wrap="square" lIns="0" tIns="0" rIns="0" bIns="0" anchor="t">
            <a:spAutoFit/>
          </a:bodyPr>
          <a:lstStyle/>
          <a:p>
            <a:pPr algn="l">
              <a:lnSpc>
                <a:spcPct val="115000"/>
              </a:lnSpc>
              <a:spcBef>
                <a:spcPts val="0"/>
              </a:spcBef>
              <a:spcAft>
                <a:spcPts val="0"/>
              </a:spcAft>
            </a:pPr>
            <a:r>
              <a:rPr sz="1630" b="1" i="0">
                <a:solidFill>
                  <a:srgbClr val="1F2E3B"/>
                </a:solidFill>
                <a:latin typeface="Arial"/>
              </a:rPr>
              <a:t>Maximum-price filter</a:t>
            </a:r>
          </a:p>
        </p:txBody>
      </p:sp>
      <p:sp>
        <p:nvSpPr>
          <p:cNvPr id="20" name="TextBox 19"/>
          <p:cNvSpPr txBox="1"/>
          <p:nvPr/>
        </p:nvSpPr>
        <p:spPr>
          <a:xfrm>
            <a:off x="3712463" y="3666744"/>
            <a:ext cx="3986784" cy="804672"/>
          </a:xfrm>
          <a:prstGeom prst="rect">
            <a:avLst/>
          </a:prstGeom>
          <a:noFill/>
        </p:spPr>
        <p:txBody>
          <a:bodyPr wrap="square" lIns="0" tIns="0" rIns="0" bIns="0" anchor="t">
            <a:spAutoFit/>
          </a:bodyPr>
          <a:lstStyle/>
          <a:p>
            <a:pPr algn="l">
              <a:lnSpc>
                <a:spcPct val="115000"/>
              </a:lnSpc>
              <a:spcBef>
                <a:spcPts val="0"/>
              </a:spcBef>
              <a:spcAft>
                <a:spcPts val="0"/>
              </a:spcAft>
            </a:pPr>
            <a:r>
              <a:rPr sz="1335" b="0" i="0">
                <a:solidFill>
                  <a:srgbClr val="313D48"/>
                </a:solidFill>
                <a:latin typeface="Arial"/>
              </a:rPr>
              <a:t>Allow a traveler to set a price cap and see matching options; handle invalid or empty results.</a:t>
            </a:r>
          </a:p>
        </p:txBody>
      </p:sp>
      <p:sp>
        <p:nvSpPr>
          <p:cNvPr id="21" name="Rectangle 20"/>
          <p:cNvSpPr/>
          <p:nvPr/>
        </p:nvSpPr>
        <p:spPr>
          <a:xfrm>
            <a:off x="7891272" y="3575303"/>
            <a:ext cx="3355848" cy="896112"/>
          </a:xfrm>
          <a:prstGeom prst="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92440" y="3694176"/>
            <a:ext cx="2944368" cy="182880"/>
          </a:xfrm>
          <a:prstGeom prst="rect">
            <a:avLst/>
          </a:prstGeom>
          <a:noFill/>
        </p:spPr>
        <p:txBody>
          <a:bodyPr wrap="square" lIns="0" tIns="0" rIns="0" bIns="0" anchor="t">
            <a:spAutoFit/>
          </a:bodyPr>
          <a:lstStyle/>
          <a:p>
            <a:pPr algn="l">
              <a:lnSpc>
                <a:spcPct val="115000"/>
              </a:lnSpc>
              <a:spcBef>
                <a:spcPts val="0"/>
              </a:spcBef>
              <a:spcAft>
                <a:spcPts val="0"/>
              </a:spcAft>
            </a:pPr>
            <a:r>
              <a:rPr sz="1060" b="1" i="0">
                <a:solidFill>
                  <a:srgbClr val="326084"/>
                </a:solidFill>
                <a:latin typeface="Arial"/>
              </a:rPr>
              <a:t>CHECK</a:t>
            </a:r>
          </a:p>
        </p:txBody>
      </p:sp>
      <p:sp>
        <p:nvSpPr>
          <p:cNvPr id="23" name="TextBox 22"/>
          <p:cNvSpPr txBox="1"/>
          <p:nvPr/>
        </p:nvSpPr>
        <p:spPr>
          <a:xfrm>
            <a:off x="8092440" y="3977639"/>
            <a:ext cx="2880360" cy="420624"/>
          </a:xfrm>
          <a:prstGeom prst="rect">
            <a:avLst/>
          </a:prstGeom>
          <a:noFill/>
        </p:spPr>
        <p:txBody>
          <a:bodyPr wrap="square" lIns="0" tIns="0" rIns="0" bIns="0" anchor="t">
            <a:spAutoFit/>
          </a:bodyPr>
          <a:lstStyle/>
          <a:p>
            <a:pPr algn="l">
              <a:lnSpc>
                <a:spcPct val="115000"/>
              </a:lnSpc>
              <a:spcBef>
                <a:spcPts val="0"/>
              </a:spcBef>
              <a:spcAft>
                <a:spcPts val="0"/>
              </a:spcAft>
            </a:pPr>
            <a:r>
              <a:rPr sz="1210" b="0" i="0">
                <a:solidFill>
                  <a:srgbClr val="313D48"/>
                </a:solidFill>
                <a:latin typeface="Arial"/>
              </a:rPr>
              <a:t>Test valid, invalid, no-results, and clear-filter paths.</a:t>
            </a:r>
          </a:p>
        </p:txBody>
      </p:sp>
      <p:sp>
        <p:nvSpPr>
          <p:cNvPr id="24" name="Rectangle 23"/>
          <p:cNvSpPr/>
          <p:nvPr/>
        </p:nvSpPr>
        <p:spPr>
          <a:xfrm>
            <a:off x="713232" y="4718304"/>
            <a:ext cx="10753344" cy="1170432"/>
          </a:xfrm>
          <a:prstGeom prst="rect">
            <a:avLst/>
          </a:prstGeom>
          <a:solidFill>
            <a:srgbClr val="FFFFFF"/>
          </a:solidFill>
          <a:ln w="1016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13232" y="4718304"/>
            <a:ext cx="59436" cy="1170432"/>
          </a:xfrm>
          <a:prstGeom prst="rect">
            <a:avLst/>
          </a:prstGeom>
          <a:solidFill>
            <a:srgbClr val="3260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23544" y="4882896"/>
            <a:ext cx="2724912" cy="237744"/>
          </a:xfrm>
          <a:prstGeom prst="rect">
            <a:avLst/>
          </a:prstGeom>
          <a:noFill/>
        </p:spPr>
        <p:txBody>
          <a:bodyPr wrap="square" lIns="0" tIns="0" rIns="0" bIns="0" anchor="t">
            <a:spAutoFit/>
          </a:bodyPr>
          <a:lstStyle/>
          <a:p>
            <a:pPr algn="l">
              <a:lnSpc>
                <a:spcPct val="115000"/>
              </a:lnSpc>
              <a:spcBef>
                <a:spcPts val="0"/>
              </a:spcBef>
              <a:spcAft>
                <a:spcPts val="0"/>
              </a:spcAft>
            </a:pPr>
            <a:r>
              <a:rPr sz="1080" b="1" i="0">
                <a:solidFill>
                  <a:srgbClr val="326084"/>
                </a:solidFill>
                <a:latin typeface="Arial"/>
              </a:rPr>
              <a:t>TEST-CASE EXERCISE</a:t>
            </a:r>
          </a:p>
        </p:txBody>
      </p:sp>
      <p:sp>
        <p:nvSpPr>
          <p:cNvPr id="27" name="TextBox 26"/>
          <p:cNvSpPr txBox="1"/>
          <p:nvPr/>
        </p:nvSpPr>
        <p:spPr>
          <a:xfrm>
            <a:off x="923544" y="5202936"/>
            <a:ext cx="2724912" cy="448056"/>
          </a:xfrm>
          <a:prstGeom prst="rect">
            <a:avLst/>
          </a:prstGeom>
          <a:noFill/>
        </p:spPr>
        <p:txBody>
          <a:bodyPr wrap="square" lIns="0" tIns="0" rIns="0" bIns="0" anchor="t">
            <a:spAutoFit/>
          </a:bodyPr>
          <a:lstStyle/>
          <a:p>
            <a:pPr algn="l">
              <a:lnSpc>
                <a:spcPct val="115000"/>
              </a:lnSpc>
              <a:spcBef>
                <a:spcPts val="0"/>
              </a:spcBef>
              <a:spcAft>
                <a:spcPts val="0"/>
              </a:spcAft>
            </a:pPr>
            <a:r>
              <a:rPr sz="1630" b="1" i="0">
                <a:solidFill>
                  <a:srgbClr val="1F2E3B"/>
                </a:solidFill>
                <a:latin typeface="Arial"/>
              </a:rPr>
              <a:t>Cruise preference</a:t>
            </a:r>
          </a:p>
        </p:txBody>
      </p:sp>
      <p:sp>
        <p:nvSpPr>
          <p:cNvPr id="28" name="TextBox 27"/>
          <p:cNvSpPr txBox="1"/>
          <p:nvPr/>
        </p:nvSpPr>
        <p:spPr>
          <a:xfrm>
            <a:off x="3712463" y="4946904"/>
            <a:ext cx="3986784" cy="804672"/>
          </a:xfrm>
          <a:prstGeom prst="rect">
            <a:avLst/>
          </a:prstGeom>
          <a:noFill/>
        </p:spPr>
        <p:txBody>
          <a:bodyPr wrap="square" lIns="0" tIns="0" rIns="0" bIns="0" anchor="t">
            <a:spAutoFit/>
          </a:bodyPr>
          <a:lstStyle/>
          <a:p>
            <a:pPr algn="l">
              <a:lnSpc>
                <a:spcPct val="115000"/>
              </a:lnSpc>
              <a:spcBef>
                <a:spcPts val="0"/>
              </a:spcBef>
              <a:spcAft>
                <a:spcPts val="0"/>
              </a:spcAft>
            </a:pPr>
            <a:r>
              <a:rPr sz="1335" b="0" i="0">
                <a:solidFill>
                  <a:srgbClr val="313D48"/>
                </a:solidFill>
                <a:latin typeface="Arial"/>
              </a:rPr>
              <a:t>Let travelers save a preference that can inform later recommendations.</a:t>
            </a:r>
          </a:p>
        </p:txBody>
      </p:sp>
      <p:sp>
        <p:nvSpPr>
          <p:cNvPr id="29" name="Rectangle 28"/>
          <p:cNvSpPr/>
          <p:nvPr/>
        </p:nvSpPr>
        <p:spPr>
          <a:xfrm>
            <a:off x="7891272" y="4855464"/>
            <a:ext cx="3355848" cy="896112"/>
          </a:xfrm>
          <a:prstGeom prst="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092440" y="4974336"/>
            <a:ext cx="2944368" cy="182880"/>
          </a:xfrm>
          <a:prstGeom prst="rect">
            <a:avLst/>
          </a:prstGeom>
          <a:noFill/>
        </p:spPr>
        <p:txBody>
          <a:bodyPr wrap="square" lIns="0" tIns="0" rIns="0" bIns="0" anchor="t">
            <a:spAutoFit/>
          </a:bodyPr>
          <a:lstStyle/>
          <a:p>
            <a:pPr algn="l">
              <a:lnSpc>
                <a:spcPct val="115000"/>
              </a:lnSpc>
              <a:spcBef>
                <a:spcPts val="0"/>
              </a:spcBef>
              <a:spcAft>
                <a:spcPts val="0"/>
              </a:spcAft>
            </a:pPr>
            <a:r>
              <a:rPr sz="1060" b="1" i="0">
                <a:solidFill>
                  <a:srgbClr val="326084"/>
                </a:solidFill>
                <a:latin typeface="Arial"/>
              </a:rPr>
              <a:t>CHECK</a:t>
            </a:r>
          </a:p>
        </p:txBody>
      </p:sp>
      <p:sp>
        <p:nvSpPr>
          <p:cNvPr id="31" name="TextBox 30"/>
          <p:cNvSpPr txBox="1"/>
          <p:nvPr/>
        </p:nvSpPr>
        <p:spPr>
          <a:xfrm>
            <a:off x="8092440" y="5257800"/>
            <a:ext cx="2880360" cy="420624"/>
          </a:xfrm>
          <a:prstGeom prst="rect">
            <a:avLst/>
          </a:prstGeom>
          <a:noFill/>
        </p:spPr>
        <p:txBody>
          <a:bodyPr wrap="square" lIns="0" tIns="0" rIns="0" bIns="0" anchor="t">
            <a:spAutoFit/>
          </a:bodyPr>
          <a:lstStyle/>
          <a:p>
            <a:pPr algn="l">
              <a:lnSpc>
                <a:spcPct val="115000"/>
              </a:lnSpc>
              <a:spcBef>
                <a:spcPts val="0"/>
              </a:spcBef>
              <a:spcAft>
                <a:spcPts val="0"/>
              </a:spcAft>
            </a:pPr>
            <a:r>
              <a:rPr sz="1210" b="0" i="0">
                <a:solidFill>
                  <a:srgbClr val="313D48"/>
                </a:solidFill>
                <a:latin typeface="Arial"/>
              </a:rPr>
              <a:t>Test save, persistence, removal, and behavior.</a:t>
            </a:r>
          </a:p>
        </p:txBody>
      </p:sp>
      <p:sp>
        <p:nvSpPr>
          <p:cNvPr id="32" name="TextBox 31"/>
          <p:cNvSpPr txBox="1"/>
          <p:nvPr/>
        </p:nvSpPr>
        <p:spPr>
          <a:xfrm>
            <a:off x="685800" y="6382512"/>
            <a:ext cx="9875520" cy="237744"/>
          </a:xfrm>
          <a:prstGeom prst="rect">
            <a:avLst/>
          </a:prstGeom>
          <a:noFill/>
        </p:spPr>
        <p:txBody>
          <a:bodyPr wrap="none" lIns="0" tIns="0" rIns="0" bIns="0">
            <a:spAutoFit/>
          </a:bodyPr>
          <a:lstStyle/>
          <a:p>
            <a:r>
              <a:rPr sz="930">
                <a:solidFill>
                  <a:srgbClr val="616F7A"/>
                </a:solidFill>
                <a:latin typeface="Arial"/>
              </a:rPr>
              <a:t>Complete reference entries and source links: slides 14–15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374904"/>
            <a:ext cx="9875520" cy="237744"/>
          </a:xfrm>
          <a:prstGeom prst="rect">
            <a:avLst/>
          </a:prstGeom>
          <a:noFill/>
        </p:spPr>
        <p:txBody>
          <a:bodyPr wrap="square" lIns="0" tIns="0" rIns="0" bIns="0" anchor="t">
            <a:spAutoFit/>
          </a:bodyPr>
          <a:lstStyle/>
          <a:p>
            <a:pPr algn="l">
              <a:lnSpc>
                <a:spcPct val="115000"/>
              </a:lnSpc>
              <a:spcBef>
                <a:spcPts val="0"/>
              </a:spcBef>
              <a:spcAft>
                <a:spcPts val="0"/>
              </a:spcAft>
            </a:pPr>
            <a:r>
              <a:rPr sz="1100" b="1" i="0">
                <a:solidFill>
                  <a:srgbClr val="326084"/>
                </a:solidFill>
                <a:latin typeface="Arial"/>
              </a:rPr>
              <a:t>MANAGING CHANGE</a:t>
            </a:r>
          </a:p>
        </p:txBody>
      </p:sp>
      <p:sp>
        <p:nvSpPr>
          <p:cNvPr id="3" name="TextBox 2"/>
          <p:cNvSpPr txBox="1"/>
          <p:nvPr/>
        </p:nvSpPr>
        <p:spPr>
          <a:xfrm>
            <a:off x="676656" y="722376"/>
            <a:ext cx="10881360" cy="484632"/>
          </a:xfrm>
          <a:prstGeom prst="rect">
            <a:avLst/>
          </a:prstGeom>
          <a:noFill/>
        </p:spPr>
        <p:txBody>
          <a:bodyPr wrap="square" lIns="0" tIns="0" rIns="0" bIns="0" anchor="t">
            <a:spAutoFit/>
          </a:bodyPr>
          <a:lstStyle/>
          <a:p>
            <a:pPr algn="l">
              <a:lnSpc>
                <a:spcPct val="115000"/>
              </a:lnSpc>
              <a:spcBef>
                <a:spcPts val="0"/>
              </a:spcBef>
              <a:spcAft>
                <a:spcPts val="0"/>
              </a:spcAft>
            </a:pPr>
            <a:r>
              <a:rPr sz="2750" b="1" i="0">
                <a:solidFill>
                  <a:srgbClr val="1F2E3B"/>
                </a:solidFill>
                <a:latin typeface="Arial"/>
              </a:rPr>
              <a:t>The slideshow revision tested Scrum’s adaptability</a:t>
            </a:r>
          </a:p>
        </p:txBody>
      </p:sp>
      <p:sp>
        <p:nvSpPr>
          <p:cNvPr id="4" name="TextBox 3"/>
          <p:cNvSpPr txBox="1"/>
          <p:nvPr/>
        </p:nvSpPr>
        <p:spPr>
          <a:xfrm>
            <a:off x="685800" y="1380744"/>
            <a:ext cx="10881360" cy="521207"/>
          </a:xfrm>
          <a:prstGeom prst="rect">
            <a:avLst/>
          </a:prstGeom>
          <a:noFill/>
        </p:spPr>
        <p:txBody>
          <a:bodyPr wrap="square" lIns="0" tIns="0" rIns="0" bIns="0" anchor="t">
            <a:noAutofit/>
          </a:bodyPr>
          <a:lstStyle/>
          <a:p>
            <a:pPr algn="l">
              <a:lnSpc>
                <a:spcPct val="115000"/>
              </a:lnSpc>
              <a:spcBef>
                <a:spcPts val="0"/>
              </a:spcBef>
              <a:spcAft>
                <a:spcPts val="0"/>
              </a:spcAft>
            </a:pPr>
            <a:r>
              <a:rPr sz="1400" b="0">
                <a:solidFill>
                  <a:srgbClr val="1F2E3B"/>
                </a:solidFill>
                <a:latin typeface="Arial"/>
              </a:rPr>
              <a:t>The slideshow revision called for priority clarification and new checks </a:t>
            </a:r>
            <a:r>
              <a:rPr sz="1180" b="0">
                <a:solidFill>
                  <a:srgbClr val="2B5A7E"/>
                </a:solidFill>
                <a:latin typeface="Arial"/>
              </a:rPr>
              <a:t>(Southern New Hampshire University, 2026).</a:t>
            </a:r>
          </a:p>
        </p:txBody>
      </p:sp>
      <p:cxnSp>
        <p:nvCxnSpPr>
          <p:cNvPr id="5" name="Connector 4"/>
          <p:cNvCxnSpPr/>
          <p:nvPr/>
        </p:nvCxnSpPr>
        <p:spPr>
          <a:xfrm>
            <a:off x="685800" y="1897380"/>
            <a:ext cx="10808208" cy="0"/>
          </a:xfrm>
          <a:prstGeom prst="line">
            <a:avLst/>
          </a:prstGeom>
          <a:ln w="13970">
            <a:solidFill>
              <a:srgbClr val="D8DF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991088" y="6419088"/>
            <a:ext cx="521207" cy="237744"/>
          </a:xfrm>
          <a:prstGeom prst="rect">
            <a:avLst/>
          </a:prstGeom>
          <a:noFill/>
        </p:spPr>
        <p:txBody>
          <a:bodyPr wrap="square" lIns="0" tIns="0" rIns="0" bIns="0" anchor="t">
            <a:spAutoFit/>
          </a:bodyPr>
          <a:lstStyle/>
          <a:p>
            <a:pPr algn="r">
              <a:lnSpc>
                <a:spcPct val="115000"/>
              </a:lnSpc>
              <a:spcBef>
                <a:spcPts val="0"/>
              </a:spcBef>
              <a:spcAft>
                <a:spcPts val="0"/>
              </a:spcAft>
            </a:pPr>
            <a:r>
              <a:rPr sz="1050" b="0" i="0">
                <a:solidFill>
                  <a:srgbClr val="65737E"/>
                </a:solidFill>
                <a:latin typeface="Arial"/>
              </a:rPr>
              <a:t>07</a:t>
            </a:r>
          </a:p>
        </p:txBody>
      </p:sp>
      <p:sp>
        <p:nvSpPr>
          <p:cNvPr id="8" name="Rectangle 7"/>
          <p:cNvSpPr/>
          <p:nvPr/>
        </p:nvSpPr>
        <p:spPr>
          <a:xfrm>
            <a:off x="704088" y="2194560"/>
            <a:ext cx="1993392" cy="1472184"/>
          </a:xfrm>
          <a:prstGeom prst="rect">
            <a:avLst/>
          </a:prstGeom>
          <a:solidFill>
            <a:srgbClr val="FFFFFF"/>
          </a:solidFill>
          <a:ln w="1016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2368296"/>
            <a:ext cx="484632" cy="265176"/>
          </a:xfrm>
          <a:prstGeom prst="rect">
            <a:avLst/>
          </a:prstGeom>
          <a:noFill/>
        </p:spPr>
        <p:txBody>
          <a:bodyPr wrap="square" lIns="0" tIns="0" rIns="0" bIns="0" anchor="t">
            <a:spAutoFit/>
          </a:bodyPr>
          <a:lstStyle/>
          <a:p>
            <a:pPr algn="l">
              <a:lnSpc>
                <a:spcPct val="115000"/>
              </a:lnSpc>
              <a:spcBef>
                <a:spcPts val="0"/>
              </a:spcBef>
              <a:spcAft>
                <a:spcPts val="0"/>
              </a:spcAft>
            </a:pPr>
            <a:r>
              <a:rPr sz="1400" b="1" i="0">
                <a:solidFill>
                  <a:srgbClr val="326084"/>
                </a:solidFill>
                <a:latin typeface="Arial"/>
              </a:rPr>
              <a:t>01</a:t>
            </a:r>
          </a:p>
        </p:txBody>
      </p:sp>
      <p:sp>
        <p:nvSpPr>
          <p:cNvPr id="10" name="TextBox 9"/>
          <p:cNvSpPr txBox="1"/>
          <p:nvPr/>
        </p:nvSpPr>
        <p:spPr>
          <a:xfrm>
            <a:off x="877824" y="2734056"/>
            <a:ext cx="1664208" cy="274320"/>
          </a:xfrm>
          <a:prstGeom prst="rect">
            <a:avLst/>
          </a:prstGeom>
          <a:noFill/>
        </p:spPr>
        <p:txBody>
          <a:bodyPr wrap="square" lIns="0" tIns="0" rIns="0" bIns="0" anchor="t">
            <a:spAutoFit/>
          </a:bodyPr>
          <a:lstStyle/>
          <a:p>
            <a:pPr algn="l">
              <a:lnSpc>
                <a:spcPct val="115000"/>
              </a:lnSpc>
              <a:spcBef>
                <a:spcPts val="0"/>
              </a:spcBef>
              <a:spcAft>
                <a:spcPts val="0"/>
              </a:spcAft>
            </a:pPr>
            <a:r>
              <a:rPr sz="1200" b="1" i="0">
                <a:solidFill>
                  <a:srgbClr val="1F2E3B"/>
                </a:solidFill>
                <a:latin typeface="Arial"/>
              </a:rPr>
              <a:t>INITIAL</a:t>
            </a:r>
          </a:p>
        </p:txBody>
      </p:sp>
      <p:sp>
        <p:nvSpPr>
          <p:cNvPr id="11" name="TextBox 10"/>
          <p:cNvSpPr txBox="1"/>
          <p:nvPr/>
        </p:nvSpPr>
        <p:spPr>
          <a:xfrm>
            <a:off x="877824" y="3072384"/>
            <a:ext cx="1700784" cy="548640"/>
          </a:xfrm>
          <a:prstGeom prst="rect">
            <a:avLst/>
          </a:prstGeom>
          <a:noFill/>
        </p:spPr>
        <p:txBody>
          <a:bodyPr wrap="square" lIns="0" tIns="0" rIns="0" bIns="0" anchor="t">
            <a:spAutoFit/>
          </a:bodyPr>
          <a:lstStyle/>
          <a:p>
            <a:pPr algn="l">
              <a:lnSpc>
                <a:spcPct val="110000"/>
              </a:lnSpc>
              <a:spcBef>
                <a:spcPts val="0"/>
              </a:spcBef>
              <a:spcAft>
                <a:spcPts val="0"/>
              </a:spcAft>
            </a:pPr>
            <a:r>
              <a:rPr sz="1230" b="0" i="0">
                <a:solidFill>
                  <a:srgbClr val="313D48"/>
                </a:solidFill>
                <a:latin typeface="Arial"/>
              </a:rPr>
              <a:t>Top Five</a:t>
            </a:r>
          </a:p>
          <a:p>
            <a:pPr algn="l">
              <a:lnSpc>
                <a:spcPct val="110000"/>
              </a:lnSpc>
              <a:spcBef>
                <a:spcPts val="0"/>
              </a:spcBef>
              <a:spcAft>
                <a:spcPts val="0"/>
              </a:spcAft>
            </a:pPr>
            <a:r>
              <a:rPr sz="1230" b="0" i="0">
                <a:solidFill>
                  <a:srgbClr val="313D48"/>
                </a:solidFill>
                <a:latin typeface="Arial"/>
              </a:rPr>
              <a:t>destinations</a:t>
            </a:r>
          </a:p>
        </p:txBody>
      </p:sp>
      <p:sp>
        <p:nvSpPr>
          <p:cNvPr id="12" name="Rectangle 11"/>
          <p:cNvSpPr/>
          <p:nvPr/>
        </p:nvSpPr>
        <p:spPr>
          <a:xfrm>
            <a:off x="2898648" y="2194560"/>
            <a:ext cx="1993392" cy="1472184"/>
          </a:xfrm>
          <a:prstGeom prst="rect">
            <a:avLst/>
          </a:prstGeom>
          <a:solidFill>
            <a:srgbClr val="FFFFFF"/>
          </a:solidFill>
          <a:ln w="1016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072384" y="2368296"/>
            <a:ext cx="484632" cy="265176"/>
          </a:xfrm>
          <a:prstGeom prst="rect">
            <a:avLst/>
          </a:prstGeom>
          <a:noFill/>
        </p:spPr>
        <p:txBody>
          <a:bodyPr wrap="square" lIns="0" tIns="0" rIns="0" bIns="0" anchor="t">
            <a:spAutoFit/>
          </a:bodyPr>
          <a:lstStyle/>
          <a:p>
            <a:pPr algn="l">
              <a:lnSpc>
                <a:spcPct val="115000"/>
              </a:lnSpc>
              <a:spcBef>
                <a:spcPts val="0"/>
              </a:spcBef>
              <a:spcAft>
                <a:spcPts val="0"/>
              </a:spcAft>
            </a:pPr>
            <a:r>
              <a:rPr sz="1400" b="1" i="0">
                <a:solidFill>
                  <a:srgbClr val="326084"/>
                </a:solidFill>
                <a:latin typeface="Arial"/>
              </a:rPr>
              <a:t>02</a:t>
            </a:r>
          </a:p>
        </p:txBody>
      </p:sp>
      <p:sp>
        <p:nvSpPr>
          <p:cNvPr id="14" name="TextBox 13"/>
          <p:cNvSpPr txBox="1"/>
          <p:nvPr/>
        </p:nvSpPr>
        <p:spPr>
          <a:xfrm>
            <a:off x="3072384" y="2734056"/>
            <a:ext cx="1664208" cy="274320"/>
          </a:xfrm>
          <a:prstGeom prst="rect">
            <a:avLst/>
          </a:prstGeom>
          <a:noFill/>
        </p:spPr>
        <p:txBody>
          <a:bodyPr wrap="square" lIns="0" tIns="0" rIns="0" bIns="0" anchor="t">
            <a:spAutoFit/>
          </a:bodyPr>
          <a:lstStyle/>
          <a:p>
            <a:pPr algn="l">
              <a:lnSpc>
                <a:spcPct val="115000"/>
              </a:lnSpc>
              <a:spcBef>
                <a:spcPts val="0"/>
              </a:spcBef>
              <a:spcAft>
                <a:spcPts val="0"/>
              </a:spcAft>
            </a:pPr>
            <a:r>
              <a:rPr sz="1200" b="1" i="0">
                <a:solidFill>
                  <a:srgbClr val="1F2E3B"/>
                </a:solidFill>
                <a:latin typeface="Arial"/>
              </a:rPr>
              <a:t>CHANGE</a:t>
            </a:r>
          </a:p>
        </p:txBody>
      </p:sp>
      <p:sp>
        <p:nvSpPr>
          <p:cNvPr id="15" name="TextBox 14"/>
          <p:cNvSpPr txBox="1"/>
          <p:nvPr/>
        </p:nvSpPr>
        <p:spPr>
          <a:xfrm>
            <a:off x="3072384" y="3072384"/>
            <a:ext cx="1700784" cy="548640"/>
          </a:xfrm>
          <a:prstGeom prst="rect">
            <a:avLst/>
          </a:prstGeom>
          <a:noFill/>
        </p:spPr>
        <p:txBody>
          <a:bodyPr wrap="square" lIns="0" tIns="0" rIns="0" bIns="0" anchor="t">
            <a:spAutoFit/>
          </a:bodyPr>
          <a:lstStyle/>
          <a:p>
            <a:pPr algn="l">
              <a:lnSpc>
                <a:spcPct val="110000"/>
              </a:lnSpc>
              <a:spcBef>
                <a:spcPts val="0"/>
              </a:spcBef>
              <a:spcAft>
                <a:spcPts val="0"/>
              </a:spcAft>
            </a:pPr>
            <a:r>
              <a:rPr sz="1230" b="0" i="0">
                <a:solidFill>
                  <a:srgbClr val="313D48"/>
                </a:solidFill>
                <a:latin typeface="Arial"/>
              </a:rPr>
              <a:t>Product Owner</a:t>
            </a:r>
          </a:p>
          <a:p>
            <a:pPr algn="l">
              <a:lnSpc>
                <a:spcPct val="110000"/>
              </a:lnSpc>
              <a:spcBef>
                <a:spcPts val="0"/>
              </a:spcBef>
              <a:spcAft>
                <a:spcPts val="0"/>
              </a:spcAft>
            </a:pPr>
            <a:r>
              <a:rPr sz="1230" b="0" i="0">
                <a:solidFill>
                  <a:srgbClr val="313D48"/>
                </a:solidFill>
                <a:latin typeface="Arial"/>
              </a:rPr>
              <a:t>revises slideshow</a:t>
            </a:r>
          </a:p>
        </p:txBody>
      </p:sp>
      <p:sp>
        <p:nvSpPr>
          <p:cNvPr id="16" name="Rectangle 15"/>
          <p:cNvSpPr/>
          <p:nvPr/>
        </p:nvSpPr>
        <p:spPr>
          <a:xfrm>
            <a:off x="5093208" y="2194560"/>
            <a:ext cx="1993392" cy="1472184"/>
          </a:xfrm>
          <a:prstGeom prst="rect">
            <a:avLst/>
          </a:prstGeom>
          <a:solidFill>
            <a:srgbClr val="FFFFFF"/>
          </a:solidFill>
          <a:ln w="1016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266944" y="2368296"/>
            <a:ext cx="484632" cy="265176"/>
          </a:xfrm>
          <a:prstGeom prst="rect">
            <a:avLst/>
          </a:prstGeom>
          <a:noFill/>
        </p:spPr>
        <p:txBody>
          <a:bodyPr wrap="square" lIns="0" tIns="0" rIns="0" bIns="0" anchor="t">
            <a:spAutoFit/>
          </a:bodyPr>
          <a:lstStyle/>
          <a:p>
            <a:pPr algn="l">
              <a:lnSpc>
                <a:spcPct val="115000"/>
              </a:lnSpc>
              <a:spcBef>
                <a:spcPts val="0"/>
              </a:spcBef>
              <a:spcAft>
                <a:spcPts val="0"/>
              </a:spcAft>
            </a:pPr>
            <a:r>
              <a:rPr sz="1400" b="1" i="0">
                <a:solidFill>
                  <a:srgbClr val="326084"/>
                </a:solidFill>
                <a:latin typeface="Arial"/>
              </a:rPr>
              <a:t>03</a:t>
            </a:r>
          </a:p>
        </p:txBody>
      </p:sp>
      <p:sp>
        <p:nvSpPr>
          <p:cNvPr id="18" name="TextBox 17"/>
          <p:cNvSpPr txBox="1"/>
          <p:nvPr/>
        </p:nvSpPr>
        <p:spPr>
          <a:xfrm>
            <a:off x="5266944" y="2734056"/>
            <a:ext cx="1664208" cy="274320"/>
          </a:xfrm>
          <a:prstGeom prst="rect">
            <a:avLst/>
          </a:prstGeom>
          <a:noFill/>
        </p:spPr>
        <p:txBody>
          <a:bodyPr wrap="square" lIns="0" tIns="0" rIns="0" bIns="0" anchor="t">
            <a:spAutoFit/>
          </a:bodyPr>
          <a:lstStyle/>
          <a:p>
            <a:pPr algn="l">
              <a:lnSpc>
                <a:spcPct val="115000"/>
              </a:lnSpc>
              <a:spcBef>
                <a:spcPts val="0"/>
              </a:spcBef>
              <a:spcAft>
                <a:spcPts val="0"/>
              </a:spcAft>
            </a:pPr>
            <a:r>
              <a:rPr sz="1200" b="1" i="0">
                <a:solidFill>
                  <a:srgbClr val="1F2E3B"/>
                </a:solidFill>
                <a:latin typeface="Arial"/>
              </a:rPr>
              <a:t>CLARIFY</a:t>
            </a:r>
          </a:p>
        </p:txBody>
      </p:sp>
      <p:sp>
        <p:nvSpPr>
          <p:cNvPr id="19" name="TextBox 18"/>
          <p:cNvSpPr txBox="1"/>
          <p:nvPr/>
        </p:nvSpPr>
        <p:spPr>
          <a:xfrm>
            <a:off x="5266944" y="3072384"/>
            <a:ext cx="1700784" cy="548640"/>
          </a:xfrm>
          <a:prstGeom prst="rect">
            <a:avLst/>
          </a:prstGeom>
          <a:noFill/>
        </p:spPr>
        <p:txBody>
          <a:bodyPr wrap="square" lIns="0" tIns="0" rIns="0" bIns="0" anchor="t">
            <a:spAutoFit/>
          </a:bodyPr>
          <a:lstStyle/>
          <a:p>
            <a:pPr algn="l">
              <a:lnSpc>
                <a:spcPct val="110000"/>
              </a:lnSpc>
              <a:spcBef>
                <a:spcPts val="0"/>
              </a:spcBef>
              <a:spcAft>
                <a:spcPts val="0"/>
              </a:spcAft>
            </a:pPr>
            <a:r>
              <a:rPr sz="1230" b="0" i="0">
                <a:solidFill>
                  <a:srgbClr val="313D48"/>
                </a:solidFill>
                <a:latin typeface="Arial"/>
              </a:rPr>
              <a:t>Confirm what stays</a:t>
            </a:r>
          </a:p>
          <a:p>
            <a:pPr algn="l">
              <a:lnSpc>
                <a:spcPct val="110000"/>
              </a:lnSpc>
              <a:spcBef>
                <a:spcPts val="0"/>
              </a:spcBef>
              <a:spcAft>
                <a:spcPts val="0"/>
              </a:spcAft>
            </a:pPr>
            <a:r>
              <a:rPr sz="1230" b="0" i="0">
                <a:solidFill>
                  <a:srgbClr val="313D48"/>
                </a:solidFill>
                <a:latin typeface="Arial"/>
              </a:rPr>
              <a:t>and new criteria</a:t>
            </a:r>
          </a:p>
        </p:txBody>
      </p:sp>
      <p:sp>
        <p:nvSpPr>
          <p:cNvPr id="20" name="Rectangle 19"/>
          <p:cNvSpPr/>
          <p:nvPr/>
        </p:nvSpPr>
        <p:spPr>
          <a:xfrm>
            <a:off x="7287767" y="2194560"/>
            <a:ext cx="1993392" cy="1472184"/>
          </a:xfrm>
          <a:prstGeom prst="rect">
            <a:avLst/>
          </a:prstGeom>
          <a:solidFill>
            <a:srgbClr val="FFFFFF"/>
          </a:solidFill>
          <a:ln w="1016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61503" y="2368296"/>
            <a:ext cx="484632" cy="265176"/>
          </a:xfrm>
          <a:prstGeom prst="rect">
            <a:avLst/>
          </a:prstGeom>
          <a:noFill/>
        </p:spPr>
        <p:txBody>
          <a:bodyPr wrap="square" lIns="0" tIns="0" rIns="0" bIns="0" anchor="t">
            <a:spAutoFit/>
          </a:bodyPr>
          <a:lstStyle/>
          <a:p>
            <a:pPr algn="l">
              <a:lnSpc>
                <a:spcPct val="115000"/>
              </a:lnSpc>
              <a:spcBef>
                <a:spcPts val="0"/>
              </a:spcBef>
              <a:spcAft>
                <a:spcPts val="0"/>
              </a:spcAft>
            </a:pPr>
            <a:r>
              <a:rPr sz="1400" b="1" i="0">
                <a:solidFill>
                  <a:srgbClr val="326084"/>
                </a:solidFill>
                <a:latin typeface="Arial"/>
              </a:rPr>
              <a:t>04</a:t>
            </a:r>
          </a:p>
        </p:txBody>
      </p:sp>
      <p:sp>
        <p:nvSpPr>
          <p:cNvPr id="22" name="TextBox 21"/>
          <p:cNvSpPr txBox="1"/>
          <p:nvPr/>
        </p:nvSpPr>
        <p:spPr>
          <a:xfrm>
            <a:off x="7461503" y="2734056"/>
            <a:ext cx="1664208" cy="274320"/>
          </a:xfrm>
          <a:prstGeom prst="rect">
            <a:avLst/>
          </a:prstGeom>
          <a:noFill/>
        </p:spPr>
        <p:txBody>
          <a:bodyPr wrap="square" lIns="0" tIns="0" rIns="0" bIns="0" anchor="t">
            <a:spAutoFit/>
          </a:bodyPr>
          <a:lstStyle/>
          <a:p>
            <a:pPr algn="l">
              <a:lnSpc>
                <a:spcPct val="115000"/>
              </a:lnSpc>
              <a:spcBef>
                <a:spcPts val="0"/>
              </a:spcBef>
              <a:spcAft>
                <a:spcPts val="0"/>
              </a:spcAft>
            </a:pPr>
            <a:r>
              <a:rPr sz="1200" b="1" i="0">
                <a:solidFill>
                  <a:srgbClr val="1F2E3B"/>
                </a:solidFill>
                <a:latin typeface="Arial"/>
              </a:rPr>
              <a:t>REPLAN</a:t>
            </a:r>
          </a:p>
        </p:txBody>
      </p:sp>
      <p:sp>
        <p:nvSpPr>
          <p:cNvPr id="23" name="TextBox 22"/>
          <p:cNvSpPr txBox="1"/>
          <p:nvPr/>
        </p:nvSpPr>
        <p:spPr>
          <a:xfrm>
            <a:off x="7461503" y="3072384"/>
            <a:ext cx="1700784" cy="548640"/>
          </a:xfrm>
          <a:prstGeom prst="rect">
            <a:avLst/>
          </a:prstGeom>
          <a:noFill/>
        </p:spPr>
        <p:txBody>
          <a:bodyPr wrap="square" lIns="0" tIns="0" rIns="0" bIns="0" anchor="t">
            <a:spAutoFit/>
          </a:bodyPr>
          <a:lstStyle/>
          <a:p>
            <a:pPr algn="l">
              <a:lnSpc>
                <a:spcPct val="110000"/>
              </a:lnSpc>
              <a:spcBef>
                <a:spcPts val="0"/>
              </a:spcBef>
              <a:spcAft>
                <a:spcPts val="0"/>
              </a:spcAft>
            </a:pPr>
            <a:r>
              <a:rPr sz="1230" b="0" i="0">
                <a:solidFill>
                  <a:srgbClr val="313D48"/>
                </a:solidFill>
                <a:latin typeface="Arial"/>
              </a:rPr>
              <a:t>Reorder work</a:t>
            </a:r>
          </a:p>
          <a:p>
            <a:pPr algn="l">
              <a:lnSpc>
                <a:spcPct val="110000"/>
              </a:lnSpc>
              <a:spcBef>
                <a:spcPts val="0"/>
              </a:spcBef>
              <a:spcAft>
                <a:spcPts val="0"/>
              </a:spcAft>
            </a:pPr>
            <a:r>
              <a:rPr sz="1230" b="0" i="0">
                <a:solidFill>
                  <a:srgbClr val="313D48"/>
                </a:solidFill>
                <a:latin typeface="Arial"/>
              </a:rPr>
              <a:t>and adjust tests</a:t>
            </a:r>
          </a:p>
        </p:txBody>
      </p:sp>
      <p:sp>
        <p:nvSpPr>
          <p:cNvPr id="24" name="Rectangle 23"/>
          <p:cNvSpPr/>
          <p:nvPr/>
        </p:nvSpPr>
        <p:spPr>
          <a:xfrm>
            <a:off x="9482328" y="2194560"/>
            <a:ext cx="1993392" cy="1472184"/>
          </a:xfrm>
          <a:prstGeom prst="rect">
            <a:avLst/>
          </a:prstGeom>
          <a:solidFill>
            <a:srgbClr val="FFFFFF"/>
          </a:solidFill>
          <a:ln w="1016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656063" y="2368296"/>
            <a:ext cx="484632" cy="265176"/>
          </a:xfrm>
          <a:prstGeom prst="rect">
            <a:avLst/>
          </a:prstGeom>
          <a:noFill/>
        </p:spPr>
        <p:txBody>
          <a:bodyPr wrap="square" lIns="0" tIns="0" rIns="0" bIns="0" anchor="t">
            <a:spAutoFit/>
          </a:bodyPr>
          <a:lstStyle/>
          <a:p>
            <a:pPr algn="l">
              <a:lnSpc>
                <a:spcPct val="115000"/>
              </a:lnSpc>
              <a:spcBef>
                <a:spcPts val="0"/>
              </a:spcBef>
              <a:spcAft>
                <a:spcPts val="0"/>
              </a:spcAft>
            </a:pPr>
            <a:r>
              <a:rPr sz="1400" b="1" i="0">
                <a:solidFill>
                  <a:srgbClr val="326084"/>
                </a:solidFill>
                <a:latin typeface="Arial"/>
              </a:rPr>
              <a:t>05</a:t>
            </a:r>
          </a:p>
        </p:txBody>
      </p:sp>
      <p:sp>
        <p:nvSpPr>
          <p:cNvPr id="26" name="TextBox 25"/>
          <p:cNvSpPr txBox="1"/>
          <p:nvPr/>
        </p:nvSpPr>
        <p:spPr>
          <a:xfrm>
            <a:off x="9656063" y="2734056"/>
            <a:ext cx="1664208" cy="274320"/>
          </a:xfrm>
          <a:prstGeom prst="rect">
            <a:avLst/>
          </a:prstGeom>
          <a:noFill/>
        </p:spPr>
        <p:txBody>
          <a:bodyPr wrap="square" lIns="0" tIns="0" rIns="0" bIns="0" anchor="t">
            <a:spAutoFit/>
          </a:bodyPr>
          <a:lstStyle/>
          <a:p>
            <a:pPr algn="l">
              <a:lnSpc>
                <a:spcPct val="115000"/>
              </a:lnSpc>
              <a:spcBef>
                <a:spcPts val="0"/>
              </a:spcBef>
              <a:spcAft>
                <a:spcPts val="0"/>
              </a:spcAft>
            </a:pPr>
            <a:r>
              <a:rPr sz="1200" b="1" i="0">
                <a:solidFill>
                  <a:srgbClr val="1F2E3B"/>
                </a:solidFill>
                <a:latin typeface="Arial"/>
              </a:rPr>
              <a:t>REVIEW</a:t>
            </a:r>
          </a:p>
        </p:txBody>
      </p:sp>
      <p:sp>
        <p:nvSpPr>
          <p:cNvPr id="27" name="TextBox 26"/>
          <p:cNvSpPr txBox="1"/>
          <p:nvPr/>
        </p:nvSpPr>
        <p:spPr>
          <a:xfrm>
            <a:off x="9656063" y="3072384"/>
            <a:ext cx="1700784" cy="548640"/>
          </a:xfrm>
          <a:prstGeom prst="rect">
            <a:avLst/>
          </a:prstGeom>
          <a:noFill/>
        </p:spPr>
        <p:txBody>
          <a:bodyPr wrap="square" lIns="0" tIns="0" rIns="0" bIns="0" anchor="t">
            <a:spAutoFit/>
          </a:bodyPr>
          <a:lstStyle/>
          <a:p>
            <a:pPr algn="l">
              <a:lnSpc>
                <a:spcPct val="110000"/>
              </a:lnSpc>
              <a:spcBef>
                <a:spcPts val="0"/>
              </a:spcBef>
              <a:spcAft>
                <a:spcPts val="0"/>
              </a:spcAft>
            </a:pPr>
            <a:r>
              <a:rPr sz="1230" b="0" i="0">
                <a:solidFill>
                  <a:srgbClr val="313D48"/>
                </a:solidFill>
                <a:latin typeface="Arial"/>
              </a:rPr>
              <a:t>Show the updated</a:t>
            </a:r>
          </a:p>
          <a:p>
            <a:pPr algn="l">
              <a:lnSpc>
                <a:spcPct val="110000"/>
              </a:lnSpc>
              <a:spcBef>
                <a:spcPts val="0"/>
              </a:spcBef>
              <a:spcAft>
                <a:spcPts val="0"/>
              </a:spcAft>
            </a:pPr>
            <a:r>
              <a:rPr sz="1230" b="0" i="0">
                <a:solidFill>
                  <a:srgbClr val="313D48"/>
                </a:solidFill>
                <a:latin typeface="Arial"/>
              </a:rPr>
              <a:t>increment</a:t>
            </a:r>
          </a:p>
        </p:txBody>
      </p:sp>
      <p:sp>
        <p:nvSpPr>
          <p:cNvPr id="28" name="Rectangle 27"/>
          <p:cNvSpPr/>
          <p:nvPr/>
        </p:nvSpPr>
        <p:spPr>
          <a:xfrm>
            <a:off x="713232" y="4069080"/>
            <a:ext cx="5276088" cy="1527048"/>
          </a:xfrm>
          <a:prstGeom prst="rect">
            <a:avLst/>
          </a:prstGeom>
          <a:solidFill>
            <a:srgbClr val="F5F7F9"/>
          </a:solidFill>
          <a:ln w="1016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 y="4288536"/>
            <a:ext cx="4828032" cy="310896"/>
          </a:xfrm>
          <a:prstGeom prst="rect">
            <a:avLst/>
          </a:prstGeom>
          <a:noFill/>
        </p:spPr>
        <p:txBody>
          <a:bodyPr wrap="square" lIns="0" tIns="0" rIns="0" bIns="0" anchor="t">
            <a:spAutoFit/>
          </a:bodyPr>
          <a:lstStyle/>
          <a:p>
            <a:pPr algn="l">
              <a:lnSpc>
                <a:spcPct val="115000"/>
              </a:lnSpc>
              <a:spcBef>
                <a:spcPts val="0"/>
              </a:spcBef>
              <a:spcAft>
                <a:spcPts val="0"/>
              </a:spcAft>
            </a:pPr>
            <a:r>
              <a:rPr sz="1330" b="1" i="0">
                <a:solidFill>
                  <a:srgbClr val="326084"/>
                </a:solidFill>
                <a:latin typeface="Arial"/>
              </a:rPr>
              <a:t>SCRUM RESPONSE</a:t>
            </a:r>
          </a:p>
        </p:txBody>
      </p:sp>
      <p:sp>
        <p:nvSpPr>
          <p:cNvPr id="30" name="TextBox 29"/>
          <p:cNvSpPr txBox="1"/>
          <p:nvPr/>
        </p:nvSpPr>
        <p:spPr>
          <a:xfrm>
            <a:off x="914400" y="4773168"/>
            <a:ext cx="4846320" cy="813816"/>
          </a:xfrm>
          <a:prstGeom prst="rect">
            <a:avLst/>
          </a:prstGeom>
          <a:noFill/>
        </p:spPr>
        <p:txBody>
          <a:bodyPr wrap="square" lIns="0" tIns="0" rIns="0" bIns="0" anchor="t">
            <a:noAutofit/>
          </a:bodyPr>
          <a:lstStyle/>
          <a:p>
            <a:pPr algn="l">
              <a:lnSpc>
                <a:spcPct val="115000"/>
              </a:lnSpc>
              <a:spcBef>
                <a:spcPts val="0"/>
              </a:spcBef>
              <a:spcAft>
                <a:spcPts val="0"/>
              </a:spcAft>
            </a:pPr>
            <a:r>
              <a:rPr sz="1310" b="0">
                <a:solidFill>
                  <a:srgbClr val="1F2E3B"/>
                </a:solidFill>
                <a:latin typeface="Arial"/>
              </a:rPr>
              <a:t>Adapt the backlog, discuss tradeoffs, and retest the changed work </a:t>
            </a:r>
            <a:r>
              <a:rPr sz="1110" b="0">
                <a:solidFill>
                  <a:srgbClr val="2B5A7E"/>
                </a:solidFill>
                <a:latin typeface="Arial"/>
              </a:rPr>
              <a:t>(Schwaber &amp; Sutherland, 2020).</a:t>
            </a:r>
          </a:p>
        </p:txBody>
      </p:sp>
      <p:sp>
        <p:nvSpPr>
          <p:cNvPr id="31" name="Rectangle 30"/>
          <p:cNvSpPr/>
          <p:nvPr/>
        </p:nvSpPr>
        <p:spPr>
          <a:xfrm>
            <a:off x="6236208" y="4069080"/>
            <a:ext cx="5276088" cy="1527048"/>
          </a:xfrm>
          <a:prstGeom prst="rect">
            <a:avLst/>
          </a:prstGeom>
          <a:solidFill>
            <a:srgbClr val="F5F7F9"/>
          </a:solidFill>
          <a:ln w="1016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37376" y="4288536"/>
            <a:ext cx="4828032" cy="310896"/>
          </a:xfrm>
          <a:prstGeom prst="rect">
            <a:avLst/>
          </a:prstGeom>
          <a:noFill/>
        </p:spPr>
        <p:txBody>
          <a:bodyPr wrap="square" lIns="0" tIns="0" rIns="0" bIns="0" anchor="t">
            <a:spAutoFit/>
          </a:bodyPr>
          <a:lstStyle/>
          <a:p>
            <a:pPr algn="l">
              <a:lnSpc>
                <a:spcPct val="115000"/>
              </a:lnSpc>
              <a:spcBef>
                <a:spcPts val="0"/>
              </a:spcBef>
              <a:spcAft>
                <a:spcPts val="0"/>
              </a:spcAft>
            </a:pPr>
            <a:r>
              <a:rPr sz="1330" b="1" i="0">
                <a:solidFill>
                  <a:srgbClr val="326084"/>
                </a:solidFill>
                <a:latin typeface="Arial"/>
              </a:rPr>
              <a:t>WATERFALL RESPONSE</a:t>
            </a:r>
          </a:p>
        </p:txBody>
      </p:sp>
      <p:sp>
        <p:nvSpPr>
          <p:cNvPr id="33" name="TextBox 32"/>
          <p:cNvSpPr txBox="1"/>
          <p:nvPr/>
        </p:nvSpPr>
        <p:spPr>
          <a:xfrm>
            <a:off x="6437376" y="4773168"/>
            <a:ext cx="4846320" cy="813816"/>
          </a:xfrm>
          <a:prstGeom prst="rect">
            <a:avLst/>
          </a:prstGeom>
          <a:noFill/>
        </p:spPr>
        <p:txBody>
          <a:bodyPr wrap="square" lIns="0" tIns="0" rIns="0" bIns="0" anchor="t">
            <a:noAutofit/>
          </a:bodyPr>
          <a:lstStyle/>
          <a:p>
            <a:pPr algn="l">
              <a:lnSpc>
                <a:spcPct val="115000"/>
              </a:lnSpc>
              <a:spcBef>
                <a:spcPts val="0"/>
              </a:spcBef>
              <a:spcAft>
                <a:spcPts val="0"/>
              </a:spcAft>
            </a:pPr>
            <a:r>
              <a:rPr sz="1310" b="0">
                <a:solidFill>
                  <a:srgbClr val="1F2E3B"/>
                </a:solidFill>
                <a:latin typeface="Arial"/>
              </a:rPr>
              <a:t>Revisit baseline requirements and downstream plans through change control </a:t>
            </a:r>
            <a:r>
              <a:rPr sz="1110" b="0">
                <a:solidFill>
                  <a:srgbClr val="2B5A7E"/>
                </a:solidFill>
                <a:latin typeface="Arial"/>
              </a:rPr>
              <a:t>(Jackson et al., 2025).</a:t>
            </a:r>
          </a:p>
        </p:txBody>
      </p:sp>
      <p:sp>
        <p:nvSpPr>
          <p:cNvPr id="34" name="TextBox 33"/>
          <p:cNvSpPr txBox="1"/>
          <p:nvPr/>
        </p:nvSpPr>
        <p:spPr>
          <a:xfrm>
            <a:off x="685800" y="6382512"/>
            <a:ext cx="9875520" cy="237744"/>
          </a:xfrm>
          <a:prstGeom prst="rect">
            <a:avLst/>
          </a:prstGeom>
          <a:noFill/>
        </p:spPr>
        <p:txBody>
          <a:bodyPr wrap="none" lIns="0" tIns="0" rIns="0" bIns="0">
            <a:spAutoFit/>
          </a:bodyPr>
          <a:lstStyle/>
          <a:p>
            <a:r>
              <a:rPr sz="930">
                <a:solidFill>
                  <a:srgbClr val="616F7A"/>
                </a:solidFill>
                <a:latin typeface="Arial"/>
              </a:rPr>
              <a:t>Complete reference entries and source links: slides 14–15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374904"/>
            <a:ext cx="9875520" cy="237744"/>
          </a:xfrm>
          <a:prstGeom prst="rect">
            <a:avLst/>
          </a:prstGeom>
          <a:noFill/>
        </p:spPr>
        <p:txBody>
          <a:bodyPr wrap="square" lIns="0" tIns="0" rIns="0" bIns="0" anchor="t">
            <a:spAutoFit/>
          </a:bodyPr>
          <a:lstStyle/>
          <a:p>
            <a:pPr algn="l">
              <a:lnSpc>
                <a:spcPct val="115000"/>
              </a:lnSpc>
              <a:spcBef>
                <a:spcPts val="0"/>
              </a:spcBef>
              <a:spcAft>
                <a:spcPts val="0"/>
              </a:spcAft>
            </a:pPr>
            <a:r>
              <a:rPr sz="1100" b="1" i="0">
                <a:solidFill>
                  <a:srgbClr val="326084"/>
                </a:solidFill>
                <a:latin typeface="Arial"/>
              </a:rPr>
              <a:t>PROCESS AND TOOLS</a:t>
            </a:r>
          </a:p>
        </p:txBody>
      </p:sp>
      <p:sp>
        <p:nvSpPr>
          <p:cNvPr id="3" name="TextBox 2"/>
          <p:cNvSpPr txBox="1"/>
          <p:nvPr/>
        </p:nvSpPr>
        <p:spPr>
          <a:xfrm>
            <a:off x="676656" y="722376"/>
            <a:ext cx="10881360" cy="484632"/>
          </a:xfrm>
          <a:prstGeom prst="rect">
            <a:avLst/>
          </a:prstGeom>
          <a:noFill/>
        </p:spPr>
        <p:txBody>
          <a:bodyPr wrap="square" lIns="0" tIns="0" rIns="0" bIns="0" anchor="t">
            <a:spAutoFit/>
          </a:bodyPr>
          <a:lstStyle/>
          <a:p>
            <a:pPr algn="l">
              <a:lnSpc>
                <a:spcPct val="115000"/>
              </a:lnSpc>
              <a:spcBef>
                <a:spcPts val="0"/>
              </a:spcBef>
              <a:spcAft>
                <a:spcPts val="0"/>
              </a:spcAft>
            </a:pPr>
            <a:r>
              <a:rPr sz="2700" b="1" i="0">
                <a:solidFill>
                  <a:srgbClr val="1F2E3B"/>
                </a:solidFill>
                <a:latin typeface="Arial"/>
              </a:rPr>
              <a:t>Scrum events make the board useful—not vice versa</a:t>
            </a:r>
          </a:p>
        </p:txBody>
      </p:sp>
      <p:sp>
        <p:nvSpPr>
          <p:cNvPr id="4" name="TextBox 3"/>
          <p:cNvSpPr txBox="1"/>
          <p:nvPr/>
        </p:nvSpPr>
        <p:spPr>
          <a:xfrm>
            <a:off x="685800" y="1380744"/>
            <a:ext cx="10881360" cy="521207"/>
          </a:xfrm>
          <a:prstGeom prst="rect">
            <a:avLst/>
          </a:prstGeom>
          <a:noFill/>
        </p:spPr>
        <p:txBody>
          <a:bodyPr wrap="square" lIns="0" tIns="0" rIns="0" bIns="0" anchor="t">
            <a:noAutofit/>
          </a:bodyPr>
          <a:lstStyle/>
          <a:p>
            <a:pPr algn="l">
              <a:lnSpc>
                <a:spcPct val="115000"/>
              </a:lnSpc>
              <a:spcBef>
                <a:spcPts val="0"/>
              </a:spcBef>
              <a:spcAft>
                <a:spcPts val="0"/>
              </a:spcAft>
            </a:pPr>
            <a:r>
              <a:rPr sz="1400" b="0">
                <a:solidFill>
                  <a:srgbClr val="1F2E3B"/>
                </a:solidFill>
                <a:latin typeface="Arial"/>
              </a:rPr>
              <a:t>Scrum events support different planning, inspection, and adaptation decisions </a:t>
            </a:r>
            <a:r>
              <a:rPr sz="1200" b="0">
                <a:solidFill>
                  <a:srgbClr val="2B5A7E"/>
                </a:solidFill>
                <a:latin typeface="Arial"/>
              </a:rPr>
              <a:t>(Schwaber &amp; Sutherland, 2020).</a:t>
            </a:r>
          </a:p>
        </p:txBody>
      </p:sp>
      <p:cxnSp>
        <p:nvCxnSpPr>
          <p:cNvPr id="5" name="Connector 4"/>
          <p:cNvCxnSpPr/>
          <p:nvPr/>
        </p:nvCxnSpPr>
        <p:spPr>
          <a:xfrm>
            <a:off x="685800" y="1897380"/>
            <a:ext cx="10808208" cy="0"/>
          </a:xfrm>
          <a:prstGeom prst="line">
            <a:avLst/>
          </a:prstGeom>
          <a:ln w="13970">
            <a:solidFill>
              <a:srgbClr val="D8DF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991088" y="6419088"/>
            <a:ext cx="521207" cy="237744"/>
          </a:xfrm>
          <a:prstGeom prst="rect">
            <a:avLst/>
          </a:prstGeom>
          <a:noFill/>
        </p:spPr>
        <p:txBody>
          <a:bodyPr wrap="square" lIns="0" tIns="0" rIns="0" bIns="0" anchor="t">
            <a:spAutoFit/>
          </a:bodyPr>
          <a:lstStyle/>
          <a:p>
            <a:pPr algn="r">
              <a:lnSpc>
                <a:spcPct val="115000"/>
              </a:lnSpc>
              <a:spcBef>
                <a:spcPts val="0"/>
              </a:spcBef>
              <a:spcAft>
                <a:spcPts val="0"/>
              </a:spcAft>
            </a:pPr>
            <a:r>
              <a:rPr sz="1050" b="0" i="0">
                <a:solidFill>
                  <a:srgbClr val="65737E"/>
                </a:solidFill>
                <a:latin typeface="Arial"/>
              </a:rPr>
              <a:t>08</a:t>
            </a:r>
          </a:p>
        </p:txBody>
      </p:sp>
      <p:sp>
        <p:nvSpPr>
          <p:cNvPr id="8" name="Rectangle 7"/>
          <p:cNvSpPr/>
          <p:nvPr/>
        </p:nvSpPr>
        <p:spPr>
          <a:xfrm>
            <a:off x="713232" y="2194560"/>
            <a:ext cx="10789920" cy="484632"/>
          </a:xfrm>
          <a:prstGeom prst="rect">
            <a:avLst/>
          </a:prstGeom>
          <a:solidFill>
            <a:srgbClr val="1F2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2331720"/>
            <a:ext cx="2468880" cy="228600"/>
          </a:xfrm>
          <a:prstGeom prst="rect">
            <a:avLst/>
          </a:prstGeom>
          <a:noFill/>
        </p:spPr>
        <p:txBody>
          <a:bodyPr wrap="square" lIns="0" tIns="0" rIns="0" bIns="0" anchor="t">
            <a:spAutoFit/>
          </a:bodyPr>
          <a:lstStyle/>
          <a:p>
            <a:pPr algn="l">
              <a:lnSpc>
                <a:spcPct val="115000"/>
              </a:lnSpc>
              <a:spcBef>
                <a:spcPts val="0"/>
              </a:spcBef>
              <a:spcAft>
                <a:spcPts val="0"/>
              </a:spcAft>
            </a:pPr>
            <a:r>
              <a:rPr sz="1150" b="1" i="0">
                <a:solidFill>
                  <a:srgbClr val="FFFFFF"/>
                </a:solidFill>
                <a:latin typeface="Arial"/>
              </a:rPr>
              <a:t>EVENT</a:t>
            </a:r>
          </a:p>
        </p:txBody>
      </p:sp>
      <p:sp>
        <p:nvSpPr>
          <p:cNvPr id="10" name="TextBox 9"/>
          <p:cNvSpPr txBox="1"/>
          <p:nvPr/>
        </p:nvSpPr>
        <p:spPr>
          <a:xfrm>
            <a:off x="3566160" y="2331720"/>
            <a:ext cx="3840480" cy="228600"/>
          </a:xfrm>
          <a:prstGeom prst="rect">
            <a:avLst/>
          </a:prstGeom>
          <a:noFill/>
        </p:spPr>
        <p:txBody>
          <a:bodyPr wrap="square" lIns="0" tIns="0" rIns="0" bIns="0" anchor="t">
            <a:spAutoFit/>
          </a:bodyPr>
          <a:lstStyle/>
          <a:p>
            <a:pPr algn="l">
              <a:lnSpc>
                <a:spcPct val="115000"/>
              </a:lnSpc>
              <a:spcBef>
                <a:spcPts val="0"/>
              </a:spcBef>
              <a:spcAft>
                <a:spcPts val="0"/>
              </a:spcAft>
            </a:pPr>
            <a:r>
              <a:rPr sz="1150" b="1" i="0">
                <a:solidFill>
                  <a:srgbClr val="FFFFFF"/>
                </a:solidFill>
                <a:latin typeface="Arial"/>
              </a:rPr>
              <a:t>KEY QUESTION</a:t>
            </a:r>
          </a:p>
        </p:txBody>
      </p:sp>
      <p:sp>
        <p:nvSpPr>
          <p:cNvPr id="11" name="TextBox 10"/>
          <p:cNvSpPr txBox="1"/>
          <p:nvPr/>
        </p:nvSpPr>
        <p:spPr>
          <a:xfrm>
            <a:off x="7626096" y="2331720"/>
            <a:ext cx="3749039" cy="228600"/>
          </a:xfrm>
          <a:prstGeom prst="rect">
            <a:avLst/>
          </a:prstGeom>
          <a:noFill/>
        </p:spPr>
        <p:txBody>
          <a:bodyPr wrap="square" lIns="0" tIns="0" rIns="0" bIns="0" anchor="t">
            <a:spAutoFit/>
          </a:bodyPr>
          <a:lstStyle/>
          <a:p>
            <a:pPr algn="l">
              <a:lnSpc>
                <a:spcPct val="115000"/>
              </a:lnSpc>
              <a:spcBef>
                <a:spcPts val="0"/>
              </a:spcBef>
              <a:spcAft>
                <a:spcPts val="0"/>
              </a:spcAft>
            </a:pPr>
            <a:r>
              <a:rPr sz="1150" b="1" i="0">
                <a:solidFill>
                  <a:srgbClr val="FFFFFF"/>
                </a:solidFill>
                <a:latin typeface="Arial"/>
              </a:rPr>
              <a:t>ARTIFACT</a:t>
            </a:r>
          </a:p>
        </p:txBody>
      </p:sp>
      <p:sp>
        <p:nvSpPr>
          <p:cNvPr id="12" name="TextBox 11"/>
          <p:cNvSpPr txBox="1"/>
          <p:nvPr/>
        </p:nvSpPr>
        <p:spPr>
          <a:xfrm>
            <a:off x="877824" y="2898648"/>
            <a:ext cx="2459736" cy="320040"/>
          </a:xfrm>
          <a:prstGeom prst="rect">
            <a:avLst/>
          </a:prstGeom>
          <a:noFill/>
        </p:spPr>
        <p:txBody>
          <a:bodyPr wrap="square" lIns="0" tIns="0" rIns="0" bIns="0" anchor="t">
            <a:spAutoFit/>
          </a:bodyPr>
          <a:lstStyle/>
          <a:p>
            <a:pPr algn="l">
              <a:lnSpc>
                <a:spcPct val="115000"/>
              </a:lnSpc>
              <a:spcBef>
                <a:spcPts val="0"/>
              </a:spcBef>
              <a:spcAft>
                <a:spcPts val="0"/>
              </a:spcAft>
            </a:pPr>
            <a:r>
              <a:rPr sz="1310" b="1" i="0" dirty="0">
                <a:solidFill>
                  <a:srgbClr val="1F2E3B"/>
                </a:solidFill>
                <a:latin typeface="Arial"/>
              </a:rPr>
              <a:t>SPRINT PLANNING</a:t>
            </a:r>
          </a:p>
        </p:txBody>
      </p:sp>
      <p:sp>
        <p:nvSpPr>
          <p:cNvPr id="13" name="TextBox 12"/>
          <p:cNvSpPr txBox="1"/>
          <p:nvPr/>
        </p:nvSpPr>
        <p:spPr>
          <a:xfrm>
            <a:off x="3566160" y="2834640"/>
            <a:ext cx="3794760" cy="438912"/>
          </a:xfrm>
          <a:prstGeom prst="rect">
            <a:avLst/>
          </a:prstGeom>
          <a:noFill/>
        </p:spPr>
        <p:txBody>
          <a:bodyPr wrap="square" lIns="0" tIns="0" rIns="0" bIns="0" anchor="t">
            <a:spAutoFit/>
          </a:bodyPr>
          <a:lstStyle/>
          <a:p>
            <a:pPr algn="l">
              <a:lnSpc>
                <a:spcPct val="115000"/>
              </a:lnSpc>
              <a:spcBef>
                <a:spcPts val="0"/>
              </a:spcBef>
              <a:spcAft>
                <a:spcPts val="0"/>
              </a:spcAft>
            </a:pPr>
            <a:r>
              <a:rPr sz="1410" b="0" i="0" dirty="0">
                <a:solidFill>
                  <a:srgbClr val="313D48"/>
                </a:solidFill>
                <a:latin typeface="Arial"/>
              </a:rPr>
              <a:t>What can we deliver toward the Sprint Goal?</a:t>
            </a:r>
          </a:p>
        </p:txBody>
      </p:sp>
      <p:sp>
        <p:nvSpPr>
          <p:cNvPr id="14" name="TextBox 13"/>
          <p:cNvSpPr txBox="1"/>
          <p:nvPr/>
        </p:nvSpPr>
        <p:spPr>
          <a:xfrm>
            <a:off x="7626096" y="2825496"/>
            <a:ext cx="3785615" cy="466344"/>
          </a:xfrm>
          <a:prstGeom prst="rect">
            <a:avLst/>
          </a:prstGeom>
          <a:noFill/>
        </p:spPr>
        <p:txBody>
          <a:bodyPr wrap="square" lIns="0" tIns="0" rIns="0" bIns="0" anchor="t">
            <a:spAutoFit/>
          </a:bodyPr>
          <a:lstStyle/>
          <a:p>
            <a:pPr algn="l">
              <a:lnSpc>
                <a:spcPct val="115000"/>
              </a:lnSpc>
              <a:spcBef>
                <a:spcPts val="0"/>
              </a:spcBef>
              <a:spcAft>
                <a:spcPts val="0"/>
              </a:spcAft>
            </a:pPr>
            <a:r>
              <a:rPr sz="1370" b="0" i="0">
                <a:solidFill>
                  <a:srgbClr val="313D48"/>
                </a:solidFill>
                <a:latin typeface="Arial"/>
              </a:rPr>
              <a:t>Product Backlog → Sprint Backlog</a:t>
            </a:r>
          </a:p>
        </p:txBody>
      </p:sp>
      <p:cxnSp>
        <p:nvCxnSpPr>
          <p:cNvPr id="15" name="Connector 14"/>
          <p:cNvCxnSpPr/>
          <p:nvPr/>
        </p:nvCxnSpPr>
        <p:spPr>
          <a:xfrm>
            <a:off x="713232" y="3447288"/>
            <a:ext cx="10789920" cy="0"/>
          </a:xfrm>
          <a:prstGeom prst="line">
            <a:avLst/>
          </a:prstGeom>
          <a:ln w="11430">
            <a:solidFill>
              <a:srgbClr val="D8DFE4"/>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13232" y="3447288"/>
            <a:ext cx="10789920" cy="768096"/>
          </a:xfrm>
          <a:prstGeom prst="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77824" y="3666744"/>
            <a:ext cx="2459736" cy="320040"/>
          </a:xfrm>
          <a:prstGeom prst="rect">
            <a:avLst/>
          </a:prstGeom>
          <a:noFill/>
        </p:spPr>
        <p:txBody>
          <a:bodyPr wrap="square" lIns="0" tIns="0" rIns="0" bIns="0" anchor="t">
            <a:spAutoFit/>
          </a:bodyPr>
          <a:lstStyle/>
          <a:p>
            <a:pPr algn="l">
              <a:lnSpc>
                <a:spcPct val="115000"/>
              </a:lnSpc>
              <a:spcBef>
                <a:spcPts val="0"/>
              </a:spcBef>
              <a:spcAft>
                <a:spcPts val="0"/>
              </a:spcAft>
            </a:pPr>
            <a:r>
              <a:rPr sz="1310" b="1" i="0">
                <a:solidFill>
                  <a:srgbClr val="1F2E3B"/>
                </a:solidFill>
                <a:latin typeface="Arial"/>
              </a:rPr>
              <a:t>DAILY SCRUM</a:t>
            </a:r>
          </a:p>
        </p:txBody>
      </p:sp>
      <p:sp>
        <p:nvSpPr>
          <p:cNvPr id="18" name="TextBox 17"/>
          <p:cNvSpPr txBox="1"/>
          <p:nvPr/>
        </p:nvSpPr>
        <p:spPr>
          <a:xfrm>
            <a:off x="3566160" y="3602736"/>
            <a:ext cx="3794760" cy="438912"/>
          </a:xfrm>
          <a:prstGeom prst="rect">
            <a:avLst/>
          </a:prstGeom>
          <a:noFill/>
        </p:spPr>
        <p:txBody>
          <a:bodyPr wrap="square" lIns="0" tIns="0" rIns="0" bIns="0" anchor="t">
            <a:spAutoFit/>
          </a:bodyPr>
          <a:lstStyle/>
          <a:p>
            <a:pPr algn="l">
              <a:lnSpc>
                <a:spcPct val="115000"/>
              </a:lnSpc>
              <a:spcBef>
                <a:spcPts val="0"/>
              </a:spcBef>
              <a:spcAft>
                <a:spcPts val="0"/>
              </a:spcAft>
            </a:pPr>
            <a:r>
              <a:rPr sz="1410" b="0" i="0" dirty="0">
                <a:solidFill>
                  <a:srgbClr val="313D48"/>
                </a:solidFill>
                <a:latin typeface="Arial"/>
              </a:rPr>
              <a:t>Is our plan still on track? What is blocked?</a:t>
            </a:r>
          </a:p>
        </p:txBody>
      </p:sp>
      <p:sp>
        <p:nvSpPr>
          <p:cNvPr id="19" name="TextBox 18"/>
          <p:cNvSpPr txBox="1"/>
          <p:nvPr/>
        </p:nvSpPr>
        <p:spPr>
          <a:xfrm>
            <a:off x="7626096" y="3593592"/>
            <a:ext cx="3785615" cy="466344"/>
          </a:xfrm>
          <a:prstGeom prst="rect">
            <a:avLst/>
          </a:prstGeom>
          <a:noFill/>
        </p:spPr>
        <p:txBody>
          <a:bodyPr wrap="square" lIns="0" tIns="0" rIns="0" bIns="0" anchor="t">
            <a:spAutoFit/>
          </a:bodyPr>
          <a:lstStyle/>
          <a:p>
            <a:pPr algn="l">
              <a:lnSpc>
                <a:spcPct val="115000"/>
              </a:lnSpc>
              <a:spcBef>
                <a:spcPts val="0"/>
              </a:spcBef>
              <a:spcAft>
                <a:spcPts val="0"/>
              </a:spcAft>
            </a:pPr>
            <a:r>
              <a:rPr sz="1370" b="0" i="0">
                <a:solidFill>
                  <a:srgbClr val="313D48"/>
                </a:solidFill>
                <a:latin typeface="Arial"/>
              </a:rPr>
              <a:t>Sprint Backlog / visible work board</a:t>
            </a:r>
          </a:p>
        </p:txBody>
      </p:sp>
      <p:cxnSp>
        <p:nvCxnSpPr>
          <p:cNvPr id="20" name="Connector 19"/>
          <p:cNvCxnSpPr/>
          <p:nvPr/>
        </p:nvCxnSpPr>
        <p:spPr>
          <a:xfrm>
            <a:off x="713232" y="4215384"/>
            <a:ext cx="10789920" cy="0"/>
          </a:xfrm>
          <a:prstGeom prst="line">
            <a:avLst/>
          </a:prstGeom>
          <a:ln w="11430">
            <a:solidFill>
              <a:srgbClr val="D8DFE4"/>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77824" y="4434840"/>
            <a:ext cx="2459736" cy="320040"/>
          </a:xfrm>
          <a:prstGeom prst="rect">
            <a:avLst/>
          </a:prstGeom>
          <a:noFill/>
        </p:spPr>
        <p:txBody>
          <a:bodyPr wrap="square" lIns="0" tIns="0" rIns="0" bIns="0" anchor="t">
            <a:spAutoFit/>
          </a:bodyPr>
          <a:lstStyle/>
          <a:p>
            <a:pPr algn="l">
              <a:lnSpc>
                <a:spcPct val="115000"/>
              </a:lnSpc>
              <a:spcBef>
                <a:spcPts val="0"/>
              </a:spcBef>
              <a:spcAft>
                <a:spcPts val="0"/>
              </a:spcAft>
            </a:pPr>
            <a:r>
              <a:rPr sz="1310" b="1" i="0">
                <a:solidFill>
                  <a:srgbClr val="1F2E3B"/>
                </a:solidFill>
                <a:latin typeface="Arial"/>
              </a:rPr>
              <a:t>SPRINT REVIEW</a:t>
            </a:r>
          </a:p>
        </p:txBody>
      </p:sp>
      <p:sp>
        <p:nvSpPr>
          <p:cNvPr id="22" name="TextBox 21"/>
          <p:cNvSpPr txBox="1"/>
          <p:nvPr/>
        </p:nvSpPr>
        <p:spPr>
          <a:xfrm>
            <a:off x="3566160" y="4370832"/>
            <a:ext cx="3794760" cy="438912"/>
          </a:xfrm>
          <a:prstGeom prst="rect">
            <a:avLst/>
          </a:prstGeom>
          <a:noFill/>
        </p:spPr>
        <p:txBody>
          <a:bodyPr wrap="square" lIns="0" tIns="0" rIns="0" bIns="0" anchor="t">
            <a:spAutoFit/>
          </a:bodyPr>
          <a:lstStyle/>
          <a:p>
            <a:pPr algn="l">
              <a:lnSpc>
                <a:spcPct val="115000"/>
              </a:lnSpc>
              <a:spcBef>
                <a:spcPts val="0"/>
              </a:spcBef>
              <a:spcAft>
                <a:spcPts val="0"/>
              </a:spcAft>
            </a:pPr>
            <a:r>
              <a:rPr sz="1410" b="0" i="0" dirty="0">
                <a:solidFill>
                  <a:srgbClr val="313D48"/>
                </a:solidFill>
                <a:latin typeface="Arial"/>
              </a:rPr>
              <a:t>What usable increment meets the need?</a:t>
            </a:r>
          </a:p>
        </p:txBody>
      </p:sp>
      <p:sp>
        <p:nvSpPr>
          <p:cNvPr id="23" name="TextBox 22"/>
          <p:cNvSpPr txBox="1"/>
          <p:nvPr/>
        </p:nvSpPr>
        <p:spPr>
          <a:xfrm>
            <a:off x="7626096" y="4361688"/>
            <a:ext cx="3785615" cy="466344"/>
          </a:xfrm>
          <a:prstGeom prst="rect">
            <a:avLst/>
          </a:prstGeom>
          <a:noFill/>
        </p:spPr>
        <p:txBody>
          <a:bodyPr wrap="square" lIns="0" tIns="0" rIns="0" bIns="0" anchor="t">
            <a:spAutoFit/>
          </a:bodyPr>
          <a:lstStyle/>
          <a:p>
            <a:pPr algn="l">
              <a:lnSpc>
                <a:spcPct val="115000"/>
              </a:lnSpc>
              <a:spcBef>
                <a:spcPts val="0"/>
              </a:spcBef>
              <a:spcAft>
                <a:spcPts val="0"/>
              </a:spcAft>
            </a:pPr>
            <a:r>
              <a:rPr sz="1370" b="0" i="0">
                <a:solidFill>
                  <a:srgbClr val="313D48"/>
                </a:solidFill>
                <a:latin typeface="Arial"/>
              </a:rPr>
              <a:t>Increment + stakeholder feedback</a:t>
            </a:r>
          </a:p>
        </p:txBody>
      </p:sp>
      <p:cxnSp>
        <p:nvCxnSpPr>
          <p:cNvPr id="24" name="Connector 23"/>
          <p:cNvCxnSpPr/>
          <p:nvPr/>
        </p:nvCxnSpPr>
        <p:spPr>
          <a:xfrm>
            <a:off x="713232" y="4983480"/>
            <a:ext cx="10789920" cy="0"/>
          </a:xfrm>
          <a:prstGeom prst="line">
            <a:avLst/>
          </a:prstGeom>
          <a:ln w="11430">
            <a:solidFill>
              <a:srgbClr val="D8DFE4"/>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713232" y="4983480"/>
            <a:ext cx="10789920" cy="768096"/>
          </a:xfrm>
          <a:prstGeom prst="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77824" y="5202936"/>
            <a:ext cx="2459736" cy="320040"/>
          </a:xfrm>
          <a:prstGeom prst="rect">
            <a:avLst/>
          </a:prstGeom>
          <a:noFill/>
        </p:spPr>
        <p:txBody>
          <a:bodyPr wrap="square" lIns="0" tIns="0" rIns="0" bIns="0" anchor="t">
            <a:spAutoFit/>
          </a:bodyPr>
          <a:lstStyle/>
          <a:p>
            <a:pPr algn="l">
              <a:lnSpc>
                <a:spcPct val="115000"/>
              </a:lnSpc>
              <a:spcBef>
                <a:spcPts val="0"/>
              </a:spcBef>
              <a:spcAft>
                <a:spcPts val="0"/>
              </a:spcAft>
            </a:pPr>
            <a:r>
              <a:rPr sz="1310" b="1" i="0">
                <a:solidFill>
                  <a:srgbClr val="1F2E3B"/>
                </a:solidFill>
                <a:latin typeface="Arial"/>
              </a:rPr>
              <a:t>RETROSPECTIVE</a:t>
            </a:r>
          </a:p>
        </p:txBody>
      </p:sp>
      <p:sp>
        <p:nvSpPr>
          <p:cNvPr id="27" name="TextBox 26"/>
          <p:cNvSpPr txBox="1"/>
          <p:nvPr/>
        </p:nvSpPr>
        <p:spPr>
          <a:xfrm>
            <a:off x="3566160" y="5138928"/>
            <a:ext cx="3794760" cy="438912"/>
          </a:xfrm>
          <a:prstGeom prst="rect">
            <a:avLst/>
          </a:prstGeom>
          <a:noFill/>
        </p:spPr>
        <p:txBody>
          <a:bodyPr wrap="square" lIns="0" tIns="0" rIns="0" bIns="0" anchor="t">
            <a:spAutoFit/>
          </a:bodyPr>
          <a:lstStyle/>
          <a:p>
            <a:pPr algn="l">
              <a:lnSpc>
                <a:spcPct val="115000"/>
              </a:lnSpc>
              <a:spcBef>
                <a:spcPts val="0"/>
              </a:spcBef>
              <a:spcAft>
                <a:spcPts val="0"/>
              </a:spcAft>
            </a:pPr>
            <a:r>
              <a:rPr sz="1410" b="0" i="0" dirty="0">
                <a:solidFill>
                  <a:srgbClr val="313D48"/>
                </a:solidFill>
                <a:latin typeface="Arial"/>
              </a:rPr>
              <a:t>How should our teamwork improve?</a:t>
            </a:r>
          </a:p>
        </p:txBody>
      </p:sp>
      <p:sp>
        <p:nvSpPr>
          <p:cNvPr id="28" name="TextBox 27"/>
          <p:cNvSpPr txBox="1"/>
          <p:nvPr/>
        </p:nvSpPr>
        <p:spPr>
          <a:xfrm>
            <a:off x="7626096" y="5129784"/>
            <a:ext cx="3785615" cy="466344"/>
          </a:xfrm>
          <a:prstGeom prst="rect">
            <a:avLst/>
          </a:prstGeom>
          <a:noFill/>
        </p:spPr>
        <p:txBody>
          <a:bodyPr wrap="square" lIns="0" tIns="0" rIns="0" bIns="0" anchor="t">
            <a:spAutoFit/>
          </a:bodyPr>
          <a:lstStyle/>
          <a:p>
            <a:pPr algn="l">
              <a:lnSpc>
                <a:spcPct val="115000"/>
              </a:lnSpc>
              <a:spcBef>
                <a:spcPts val="0"/>
              </a:spcBef>
              <a:spcAft>
                <a:spcPts val="0"/>
              </a:spcAft>
            </a:pPr>
            <a:r>
              <a:rPr sz="1370" b="0" i="0">
                <a:solidFill>
                  <a:srgbClr val="313D48"/>
                </a:solidFill>
                <a:latin typeface="Arial"/>
              </a:rPr>
              <a:t>One or two owned improvement actions</a:t>
            </a:r>
          </a:p>
        </p:txBody>
      </p:sp>
      <p:cxnSp>
        <p:nvCxnSpPr>
          <p:cNvPr id="29" name="Connector 28"/>
          <p:cNvCxnSpPr/>
          <p:nvPr/>
        </p:nvCxnSpPr>
        <p:spPr>
          <a:xfrm>
            <a:off x="713232" y="5751576"/>
            <a:ext cx="10789920" cy="0"/>
          </a:xfrm>
          <a:prstGeom prst="line">
            <a:avLst/>
          </a:prstGeom>
          <a:ln w="11430">
            <a:solidFill>
              <a:srgbClr val="D8DFE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419856" y="2194560"/>
            <a:ext cx="0" cy="3557016"/>
          </a:xfrm>
          <a:prstGeom prst="line">
            <a:avLst/>
          </a:prstGeom>
          <a:ln w="10160">
            <a:solidFill>
              <a:srgbClr val="D8DFE4"/>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479792" y="2194560"/>
            <a:ext cx="0" cy="3557016"/>
          </a:xfrm>
          <a:prstGeom prst="line">
            <a:avLst/>
          </a:prstGeom>
          <a:ln w="10160">
            <a:solidFill>
              <a:srgbClr val="D8DFE4"/>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85800" y="6382512"/>
            <a:ext cx="9875520" cy="237744"/>
          </a:xfrm>
          <a:prstGeom prst="rect">
            <a:avLst/>
          </a:prstGeom>
          <a:noFill/>
        </p:spPr>
        <p:txBody>
          <a:bodyPr wrap="none" lIns="0" tIns="0" rIns="0" bIns="0">
            <a:spAutoFit/>
          </a:bodyPr>
          <a:lstStyle/>
          <a:p>
            <a:r>
              <a:rPr sz="930">
                <a:solidFill>
                  <a:srgbClr val="616F7A"/>
                </a:solidFill>
                <a:latin typeface="Arial"/>
              </a:rPr>
              <a:t>Complete reference entries and source links: slides 14–15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374904"/>
            <a:ext cx="9875520" cy="237744"/>
          </a:xfrm>
          <a:prstGeom prst="rect">
            <a:avLst/>
          </a:prstGeom>
          <a:noFill/>
        </p:spPr>
        <p:txBody>
          <a:bodyPr wrap="square" lIns="0" tIns="0" rIns="0" bIns="0" anchor="t">
            <a:spAutoFit/>
          </a:bodyPr>
          <a:lstStyle/>
          <a:p>
            <a:pPr algn="l">
              <a:lnSpc>
                <a:spcPct val="115000"/>
              </a:lnSpc>
              <a:spcBef>
                <a:spcPts val="0"/>
              </a:spcBef>
              <a:spcAft>
                <a:spcPts val="0"/>
              </a:spcAft>
            </a:pPr>
            <a:r>
              <a:rPr sz="1100" b="1" i="0">
                <a:solidFill>
                  <a:srgbClr val="326084"/>
                </a:solidFill>
                <a:latin typeface="Arial"/>
              </a:rPr>
              <a:t>COLLABORATION</a:t>
            </a:r>
          </a:p>
        </p:txBody>
      </p:sp>
      <p:sp>
        <p:nvSpPr>
          <p:cNvPr id="3" name="TextBox 2"/>
          <p:cNvSpPr txBox="1"/>
          <p:nvPr/>
        </p:nvSpPr>
        <p:spPr>
          <a:xfrm>
            <a:off x="676656" y="722376"/>
            <a:ext cx="10881360" cy="484632"/>
          </a:xfrm>
          <a:prstGeom prst="rect">
            <a:avLst/>
          </a:prstGeom>
          <a:noFill/>
        </p:spPr>
        <p:txBody>
          <a:bodyPr wrap="square" lIns="0" tIns="0" rIns="0" bIns="0" anchor="t">
            <a:spAutoFit/>
          </a:bodyPr>
          <a:lstStyle/>
          <a:p>
            <a:pPr algn="l">
              <a:lnSpc>
                <a:spcPct val="115000"/>
              </a:lnSpc>
              <a:spcBef>
                <a:spcPts val="0"/>
              </a:spcBef>
              <a:spcAft>
                <a:spcPts val="0"/>
              </a:spcAft>
            </a:pPr>
            <a:r>
              <a:rPr sz="2800" b="1" i="0">
                <a:solidFill>
                  <a:srgbClr val="1F2E3B"/>
                </a:solidFill>
                <a:latin typeface="Arial"/>
              </a:rPr>
              <a:t>Ask a question that unlocks a decision</a:t>
            </a:r>
          </a:p>
        </p:txBody>
      </p:sp>
      <p:sp>
        <p:nvSpPr>
          <p:cNvPr id="4" name="TextBox 3"/>
          <p:cNvSpPr txBox="1"/>
          <p:nvPr/>
        </p:nvSpPr>
        <p:spPr>
          <a:xfrm>
            <a:off x="685800" y="1380744"/>
            <a:ext cx="10881360" cy="521207"/>
          </a:xfrm>
          <a:prstGeom prst="rect">
            <a:avLst/>
          </a:prstGeom>
          <a:noFill/>
        </p:spPr>
        <p:txBody>
          <a:bodyPr wrap="square" lIns="0" tIns="0" rIns="0" bIns="0" anchor="t">
            <a:noAutofit/>
          </a:bodyPr>
          <a:lstStyle/>
          <a:p>
            <a:pPr algn="l">
              <a:lnSpc>
                <a:spcPct val="115000"/>
              </a:lnSpc>
              <a:spcBef>
                <a:spcPts val="0"/>
              </a:spcBef>
              <a:spcAft>
                <a:spcPts val="0"/>
              </a:spcAft>
            </a:pPr>
            <a:r>
              <a:rPr sz="1400" b="0">
                <a:solidFill>
                  <a:srgbClr val="1F2E3B"/>
                </a:solidFill>
                <a:latin typeface="Arial"/>
              </a:rPr>
              <a:t>Transparent communication helps the Scrum Team coordinate decisions </a:t>
            </a:r>
            <a:r>
              <a:rPr sz="1210" b="0">
                <a:solidFill>
                  <a:srgbClr val="2B5A7E"/>
                </a:solidFill>
                <a:latin typeface="Arial"/>
              </a:rPr>
              <a:t>(Kaczor, 2025; Coleman, 2024).</a:t>
            </a:r>
          </a:p>
        </p:txBody>
      </p:sp>
      <p:cxnSp>
        <p:nvCxnSpPr>
          <p:cNvPr id="5" name="Connector 4"/>
          <p:cNvCxnSpPr/>
          <p:nvPr/>
        </p:nvCxnSpPr>
        <p:spPr>
          <a:xfrm>
            <a:off x="685800" y="1897380"/>
            <a:ext cx="10808208" cy="0"/>
          </a:xfrm>
          <a:prstGeom prst="line">
            <a:avLst/>
          </a:prstGeom>
          <a:ln w="13970">
            <a:solidFill>
              <a:srgbClr val="D8DF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991088" y="6419088"/>
            <a:ext cx="521207" cy="237744"/>
          </a:xfrm>
          <a:prstGeom prst="rect">
            <a:avLst/>
          </a:prstGeom>
          <a:noFill/>
        </p:spPr>
        <p:txBody>
          <a:bodyPr wrap="square" lIns="0" tIns="0" rIns="0" bIns="0" anchor="t">
            <a:spAutoFit/>
          </a:bodyPr>
          <a:lstStyle/>
          <a:p>
            <a:pPr algn="r">
              <a:lnSpc>
                <a:spcPct val="115000"/>
              </a:lnSpc>
              <a:spcBef>
                <a:spcPts val="0"/>
              </a:spcBef>
              <a:spcAft>
                <a:spcPts val="0"/>
              </a:spcAft>
            </a:pPr>
            <a:r>
              <a:rPr sz="1050" b="0" i="0">
                <a:solidFill>
                  <a:srgbClr val="65737E"/>
                </a:solidFill>
                <a:latin typeface="Arial"/>
              </a:rPr>
              <a:t>09</a:t>
            </a:r>
          </a:p>
        </p:txBody>
      </p:sp>
      <p:sp>
        <p:nvSpPr>
          <p:cNvPr id="8" name="Rectangle 7"/>
          <p:cNvSpPr/>
          <p:nvPr/>
        </p:nvSpPr>
        <p:spPr>
          <a:xfrm>
            <a:off x="731520" y="2167128"/>
            <a:ext cx="10725912" cy="1051560"/>
          </a:xfrm>
          <a:prstGeom prst="rect">
            <a:avLst/>
          </a:prstGeom>
          <a:solidFill>
            <a:srgbClr val="F5F7F9"/>
          </a:solidFill>
          <a:ln w="1016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41832" y="2331720"/>
            <a:ext cx="10186416" cy="228600"/>
          </a:xfrm>
          <a:prstGeom prst="rect">
            <a:avLst/>
          </a:prstGeom>
          <a:noFill/>
        </p:spPr>
        <p:txBody>
          <a:bodyPr wrap="square" lIns="0" tIns="0" rIns="0" bIns="0" anchor="t">
            <a:spAutoFit/>
          </a:bodyPr>
          <a:lstStyle/>
          <a:p>
            <a:pPr algn="l">
              <a:lnSpc>
                <a:spcPct val="115000"/>
              </a:lnSpc>
              <a:spcBef>
                <a:spcPts val="0"/>
              </a:spcBef>
              <a:spcAft>
                <a:spcPts val="0"/>
              </a:spcAft>
            </a:pPr>
            <a:r>
              <a:rPr sz="1140" b="1" i="0">
                <a:solidFill>
                  <a:srgbClr val="326084"/>
                </a:solidFill>
                <a:latin typeface="Arial"/>
              </a:rPr>
              <a:t>TO PRODUCT OWNER  /  CLARIFY SCOPE</a:t>
            </a:r>
          </a:p>
        </p:txBody>
      </p:sp>
      <p:sp>
        <p:nvSpPr>
          <p:cNvPr id="10" name="TextBox 9"/>
          <p:cNvSpPr txBox="1"/>
          <p:nvPr/>
        </p:nvSpPr>
        <p:spPr>
          <a:xfrm>
            <a:off x="941832" y="2624328"/>
            <a:ext cx="9957816" cy="402336"/>
          </a:xfrm>
          <a:prstGeom prst="rect">
            <a:avLst/>
          </a:prstGeom>
          <a:noFill/>
        </p:spPr>
        <p:txBody>
          <a:bodyPr wrap="square" lIns="0" tIns="0" rIns="0" bIns="0" anchor="t">
            <a:spAutoFit/>
          </a:bodyPr>
          <a:lstStyle/>
          <a:p>
            <a:pPr algn="l">
              <a:lnSpc>
                <a:spcPct val="115000"/>
              </a:lnSpc>
              <a:spcBef>
                <a:spcPts val="0"/>
              </a:spcBef>
              <a:spcAft>
                <a:spcPts val="0"/>
              </a:spcAft>
            </a:pPr>
            <a:r>
              <a:rPr sz="1520" b="0" i="0">
                <a:solidFill>
                  <a:srgbClr val="1F2E3B"/>
                </a:solidFill>
                <a:latin typeface="Arial"/>
              </a:rPr>
              <a:t>“Could you confirm the slideshow priorities, what stays, and the revised acceptance criteria?”</a:t>
            </a:r>
          </a:p>
        </p:txBody>
      </p:sp>
      <p:sp>
        <p:nvSpPr>
          <p:cNvPr id="11" name="Rectangle 10"/>
          <p:cNvSpPr/>
          <p:nvPr/>
        </p:nvSpPr>
        <p:spPr>
          <a:xfrm>
            <a:off x="731520" y="3337560"/>
            <a:ext cx="10725912" cy="1051560"/>
          </a:xfrm>
          <a:prstGeom prst="rect">
            <a:avLst/>
          </a:prstGeom>
          <a:solidFill>
            <a:srgbClr val="F5F7F9"/>
          </a:solidFill>
          <a:ln w="1016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41832" y="3502152"/>
            <a:ext cx="10186416" cy="228600"/>
          </a:xfrm>
          <a:prstGeom prst="rect">
            <a:avLst/>
          </a:prstGeom>
          <a:noFill/>
        </p:spPr>
        <p:txBody>
          <a:bodyPr wrap="square" lIns="0" tIns="0" rIns="0" bIns="0" anchor="t">
            <a:spAutoFit/>
          </a:bodyPr>
          <a:lstStyle/>
          <a:p>
            <a:pPr algn="l">
              <a:lnSpc>
                <a:spcPct val="115000"/>
              </a:lnSpc>
              <a:spcBef>
                <a:spcPts val="0"/>
              </a:spcBef>
              <a:spcAft>
                <a:spcPts val="0"/>
              </a:spcAft>
            </a:pPr>
            <a:r>
              <a:rPr sz="1140" b="1" i="0">
                <a:solidFill>
                  <a:srgbClr val="326084"/>
                </a:solidFill>
                <a:latin typeface="Arial"/>
              </a:rPr>
              <a:t>TO TESTER  /  DEFINE EDGE CASES</a:t>
            </a:r>
          </a:p>
        </p:txBody>
      </p:sp>
      <p:sp>
        <p:nvSpPr>
          <p:cNvPr id="13" name="TextBox 12"/>
          <p:cNvSpPr txBox="1"/>
          <p:nvPr/>
        </p:nvSpPr>
        <p:spPr>
          <a:xfrm>
            <a:off x="941832" y="3794760"/>
            <a:ext cx="9957816" cy="402336"/>
          </a:xfrm>
          <a:prstGeom prst="rect">
            <a:avLst/>
          </a:prstGeom>
          <a:noFill/>
        </p:spPr>
        <p:txBody>
          <a:bodyPr wrap="square" lIns="0" tIns="0" rIns="0" bIns="0" anchor="t">
            <a:spAutoFit/>
          </a:bodyPr>
          <a:lstStyle/>
          <a:p>
            <a:pPr algn="l">
              <a:lnSpc>
                <a:spcPct val="115000"/>
              </a:lnSpc>
              <a:spcBef>
                <a:spcPts val="0"/>
              </a:spcBef>
              <a:spcAft>
                <a:spcPts val="0"/>
              </a:spcAft>
            </a:pPr>
            <a:r>
              <a:rPr sz="1520" b="0" i="0">
                <a:solidFill>
                  <a:srgbClr val="1F2E3B"/>
                </a:solidFill>
                <a:latin typeface="Arial"/>
              </a:rPr>
              <a:t>“What should happen if an image fails, or when Next is pressed on the last slide?”</a:t>
            </a:r>
          </a:p>
        </p:txBody>
      </p:sp>
      <p:sp>
        <p:nvSpPr>
          <p:cNvPr id="14" name="TextBox 13"/>
          <p:cNvSpPr txBox="1"/>
          <p:nvPr/>
        </p:nvSpPr>
        <p:spPr>
          <a:xfrm>
            <a:off x="758952" y="4672584"/>
            <a:ext cx="10515600" cy="256032"/>
          </a:xfrm>
          <a:prstGeom prst="rect">
            <a:avLst/>
          </a:prstGeom>
          <a:noFill/>
        </p:spPr>
        <p:txBody>
          <a:bodyPr wrap="square" lIns="0" tIns="0" rIns="0" bIns="0" anchor="t">
            <a:spAutoFit/>
          </a:bodyPr>
          <a:lstStyle/>
          <a:p>
            <a:pPr algn="l">
              <a:lnSpc>
                <a:spcPct val="115000"/>
              </a:lnSpc>
              <a:spcBef>
                <a:spcPts val="0"/>
              </a:spcBef>
              <a:spcAft>
                <a:spcPts val="0"/>
              </a:spcAft>
            </a:pPr>
            <a:r>
              <a:rPr sz="1160" b="1" i="0">
                <a:solidFill>
                  <a:srgbClr val="326084"/>
                </a:solidFill>
                <a:latin typeface="Arial"/>
              </a:rPr>
              <a:t>SHARED BOARD (PROPOSED)</a:t>
            </a:r>
          </a:p>
        </p:txBody>
      </p:sp>
      <p:sp>
        <p:nvSpPr>
          <p:cNvPr id="15" name="Rectangle 14"/>
          <p:cNvSpPr/>
          <p:nvPr/>
        </p:nvSpPr>
        <p:spPr>
          <a:xfrm>
            <a:off x="740664" y="5084064"/>
            <a:ext cx="1947672" cy="630936"/>
          </a:xfrm>
          <a:prstGeom prst="rect">
            <a:avLst/>
          </a:prstGeom>
          <a:solidFill>
            <a:srgbClr val="FFFFFF"/>
          </a:solidFill>
          <a:ln w="1016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 y="5266944"/>
            <a:ext cx="1755648" cy="246888"/>
          </a:xfrm>
          <a:prstGeom prst="rect">
            <a:avLst/>
          </a:prstGeom>
          <a:noFill/>
        </p:spPr>
        <p:txBody>
          <a:bodyPr wrap="square" lIns="0" tIns="0" rIns="0" bIns="0" anchor="t">
            <a:spAutoFit/>
          </a:bodyPr>
          <a:lstStyle/>
          <a:p>
            <a:pPr algn="ctr">
              <a:lnSpc>
                <a:spcPct val="115000"/>
              </a:lnSpc>
              <a:spcBef>
                <a:spcPts val="0"/>
              </a:spcBef>
              <a:spcAft>
                <a:spcPts val="0"/>
              </a:spcAft>
            </a:pPr>
            <a:r>
              <a:rPr sz="1220" b="1" i="0">
                <a:solidFill>
                  <a:srgbClr val="1F2E3B"/>
                </a:solidFill>
                <a:latin typeface="Arial"/>
              </a:rPr>
              <a:t>BACKLOG</a:t>
            </a:r>
          </a:p>
        </p:txBody>
      </p:sp>
      <p:sp>
        <p:nvSpPr>
          <p:cNvPr id="17" name="Rectangle 16"/>
          <p:cNvSpPr/>
          <p:nvPr/>
        </p:nvSpPr>
        <p:spPr>
          <a:xfrm>
            <a:off x="2935224" y="5084064"/>
            <a:ext cx="1947672" cy="630936"/>
          </a:xfrm>
          <a:prstGeom prst="rect">
            <a:avLst/>
          </a:prstGeom>
          <a:solidFill>
            <a:srgbClr val="FFFFFF"/>
          </a:solidFill>
          <a:ln w="1016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026664" y="5266944"/>
            <a:ext cx="1755648" cy="246888"/>
          </a:xfrm>
          <a:prstGeom prst="rect">
            <a:avLst/>
          </a:prstGeom>
          <a:noFill/>
        </p:spPr>
        <p:txBody>
          <a:bodyPr wrap="square" lIns="0" tIns="0" rIns="0" bIns="0" anchor="t">
            <a:spAutoFit/>
          </a:bodyPr>
          <a:lstStyle/>
          <a:p>
            <a:pPr algn="ctr">
              <a:lnSpc>
                <a:spcPct val="115000"/>
              </a:lnSpc>
              <a:spcBef>
                <a:spcPts val="0"/>
              </a:spcBef>
              <a:spcAft>
                <a:spcPts val="0"/>
              </a:spcAft>
            </a:pPr>
            <a:r>
              <a:rPr sz="1220" b="1" i="0">
                <a:solidFill>
                  <a:srgbClr val="1F2E3B"/>
                </a:solidFill>
                <a:latin typeface="Arial"/>
              </a:rPr>
              <a:t>READY</a:t>
            </a:r>
          </a:p>
        </p:txBody>
      </p:sp>
      <p:sp>
        <p:nvSpPr>
          <p:cNvPr id="19" name="Rectangle 18"/>
          <p:cNvSpPr/>
          <p:nvPr/>
        </p:nvSpPr>
        <p:spPr>
          <a:xfrm>
            <a:off x="5129783" y="5084064"/>
            <a:ext cx="1947672" cy="630936"/>
          </a:xfrm>
          <a:prstGeom prst="rect">
            <a:avLst/>
          </a:prstGeom>
          <a:solidFill>
            <a:srgbClr val="FFFFFF"/>
          </a:solidFill>
          <a:ln w="1016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221223" y="5266944"/>
            <a:ext cx="1755648" cy="246888"/>
          </a:xfrm>
          <a:prstGeom prst="rect">
            <a:avLst/>
          </a:prstGeom>
          <a:noFill/>
        </p:spPr>
        <p:txBody>
          <a:bodyPr wrap="square" lIns="0" tIns="0" rIns="0" bIns="0" anchor="t">
            <a:spAutoFit/>
          </a:bodyPr>
          <a:lstStyle/>
          <a:p>
            <a:pPr algn="ctr">
              <a:lnSpc>
                <a:spcPct val="115000"/>
              </a:lnSpc>
              <a:spcBef>
                <a:spcPts val="0"/>
              </a:spcBef>
              <a:spcAft>
                <a:spcPts val="0"/>
              </a:spcAft>
            </a:pPr>
            <a:r>
              <a:rPr sz="1220" b="1" i="0">
                <a:solidFill>
                  <a:srgbClr val="1F2E3B"/>
                </a:solidFill>
                <a:latin typeface="Arial"/>
              </a:rPr>
              <a:t>BUILDING</a:t>
            </a:r>
          </a:p>
        </p:txBody>
      </p:sp>
      <p:sp>
        <p:nvSpPr>
          <p:cNvPr id="21" name="Rectangle 20"/>
          <p:cNvSpPr/>
          <p:nvPr/>
        </p:nvSpPr>
        <p:spPr>
          <a:xfrm>
            <a:off x="7324344" y="5084064"/>
            <a:ext cx="1947672" cy="630936"/>
          </a:xfrm>
          <a:prstGeom prst="rect">
            <a:avLst/>
          </a:prstGeom>
          <a:solidFill>
            <a:srgbClr val="FFFFFF"/>
          </a:solidFill>
          <a:ln w="1016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15783" y="5266944"/>
            <a:ext cx="1755648" cy="246888"/>
          </a:xfrm>
          <a:prstGeom prst="rect">
            <a:avLst/>
          </a:prstGeom>
          <a:noFill/>
        </p:spPr>
        <p:txBody>
          <a:bodyPr wrap="square" lIns="0" tIns="0" rIns="0" bIns="0" anchor="t">
            <a:spAutoFit/>
          </a:bodyPr>
          <a:lstStyle/>
          <a:p>
            <a:pPr algn="ctr">
              <a:lnSpc>
                <a:spcPct val="115000"/>
              </a:lnSpc>
              <a:spcBef>
                <a:spcPts val="0"/>
              </a:spcBef>
              <a:spcAft>
                <a:spcPts val="0"/>
              </a:spcAft>
            </a:pPr>
            <a:r>
              <a:rPr sz="1220" b="1" i="0">
                <a:solidFill>
                  <a:srgbClr val="1F2E3B"/>
                </a:solidFill>
                <a:latin typeface="Arial"/>
              </a:rPr>
              <a:t>TESTING</a:t>
            </a:r>
          </a:p>
        </p:txBody>
      </p:sp>
      <p:sp>
        <p:nvSpPr>
          <p:cNvPr id="23" name="Rectangle 22"/>
          <p:cNvSpPr/>
          <p:nvPr/>
        </p:nvSpPr>
        <p:spPr>
          <a:xfrm>
            <a:off x="9518904" y="5084064"/>
            <a:ext cx="1947672" cy="630936"/>
          </a:xfrm>
          <a:prstGeom prst="rect">
            <a:avLst/>
          </a:prstGeom>
          <a:solidFill>
            <a:srgbClr val="FFFFFF"/>
          </a:solidFill>
          <a:ln w="1016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610344" y="5266944"/>
            <a:ext cx="1755648" cy="246888"/>
          </a:xfrm>
          <a:prstGeom prst="rect">
            <a:avLst/>
          </a:prstGeom>
          <a:noFill/>
        </p:spPr>
        <p:txBody>
          <a:bodyPr wrap="square" lIns="0" tIns="0" rIns="0" bIns="0" anchor="t">
            <a:spAutoFit/>
          </a:bodyPr>
          <a:lstStyle/>
          <a:p>
            <a:pPr algn="ctr">
              <a:lnSpc>
                <a:spcPct val="115000"/>
              </a:lnSpc>
              <a:spcBef>
                <a:spcPts val="0"/>
              </a:spcBef>
              <a:spcAft>
                <a:spcPts val="0"/>
              </a:spcAft>
            </a:pPr>
            <a:r>
              <a:rPr sz="1220" b="1" i="0">
                <a:solidFill>
                  <a:srgbClr val="1F2E3B"/>
                </a:solidFill>
                <a:latin typeface="Arial"/>
              </a:rPr>
              <a:t>DONE</a:t>
            </a:r>
          </a:p>
        </p:txBody>
      </p:sp>
      <p:sp>
        <p:nvSpPr>
          <p:cNvPr id="25" name="TextBox 24"/>
          <p:cNvSpPr txBox="1"/>
          <p:nvPr/>
        </p:nvSpPr>
        <p:spPr>
          <a:xfrm>
            <a:off x="758952" y="5879592"/>
            <a:ext cx="10607040" cy="274320"/>
          </a:xfrm>
          <a:prstGeom prst="rect">
            <a:avLst/>
          </a:prstGeom>
          <a:noFill/>
        </p:spPr>
        <p:txBody>
          <a:bodyPr wrap="square" lIns="0" tIns="0" rIns="0" bIns="0" anchor="t">
            <a:spAutoFit/>
          </a:bodyPr>
          <a:lstStyle/>
          <a:p>
            <a:pPr algn="l">
              <a:lnSpc>
                <a:spcPct val="115000"/>
              </a:lnSpc>
              <a:spcBef>
                <a:spcPts val="0"/>
              </a:spcBef>
              <a:spcAft>
                <a:spcPts val="0"/>
              </a:spcAft>
            </a:pPr>
            <a:r>
              <a:rPr sz="1340" b="0" i="0">
                <a:solidFill>
                  <a:srgbClr val="65737E"/>
                </a:solidFill>
                <a:latin typeface="Arial"/>
              </a:rPr>
              <a:t>Attach acceptance criteria, blockers, test cases, and decisions to the same story.</a:t>
            </a:r>
          </a:p>
        </p:txBody>
      </p:sp>
      <p:sp>
        <p:nvSpPr>
          <p:cNvPr id="26" name="TextBox 25"/>
          <p:cNvSpPr txBox="1"/>
          <p:nvPr/>
        </p:nvSpPr>
        <p:spPr>
          <a:xfrm>
            <a:off x="685800" y="1700784"/>
            <a:ext cx="10698480" cy="219456"/>
          </a:xfrm>
          <a:prstGeom prst="rect">
            <a:avLst/>
          </a:prstGeom>
          <a:noFill/>
        </p:spPr>
        <p:txBody>
          <a:bodyPr wrap="none" lIns="0" tIns="0" rIns="0" bIns="0">
            <a:spAutoFit/>
          </a:bodyPr>
          <a:lstStyle/>
          <a:p>
            <a:r>
              <a:rPr sz="1050" dirty="0">
                <a:solidFill>
                  <a:srgbClr val="616F7A"/>
                </a:solidFill>
                <a:latin typeface="Arial"/>
              </a:rPr>
              <a:t>The sample questions and work</a:t>
            </a:r>
            <a:r>
              <a:rPr lang="en-US" sz="1050" dirty="0">
                <a:solidFill>
                  <a:srgbClr val="616F7A"/>
                </a:solidFill>
                <a:latin typeface="Arial"/>
              </a:rPr>
              <a:t> boar</a:t>
            </a:r>
            <a:r>
              <a:rPr sz="1050" dirty="0">
                <a:solidFill>
                  <a:srgbClr val="616F7A"/>
                </a:solidFill>
                <a:latin typeface="Arial"/>
              </a:rPr>
              <a:t>d below were developed for this presentation.</a:t>
            </a:r>
          </a:p>
        </p:txBody>
      </p:sp>
      <p:sp>
        <p:nvSpPr>
          <p:cNvPr id="27" name="TextBox 26"/>
          <p:cNvSpPr txBox="1"/>
          <p:nvPr/>
        </p:nvSpPr>
        <p:spPr>
          <a:xfrm>
            <a:off x="685800" y="6382512"/>
            <a:ext cx="9875520" cy="237744"/>
          </a:xfrm>
          <a:prstGeom prst="rect">
            <a:avLst/>
          </a:prstGeom>
          <a:noFill/>
        </p:spPr>
        <p:txBody>
          <a:bodyPr wrap="none" lIns="0" tIns="0" rIns="0" bIns="0">
            <a:spAutoFit/>
          </a:bodyPr>
          <a:lstStyle/>
          <a:p>
            <a:r>
              <a:rPr sz="930">
                <a:solidFill>
                  <a:srgbClr val="616F7A"/>
                </a:solidFill>
                <a:latin typeface="Arial"/>
              </a:rPr>
              <a:t>Complete reference entries and source links: slides 14–15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374904"/>
            <a:ext cx="9875520" cy="237744"/>
          </a:xfrm>
          <a:prstGeom prst="rect">
            <a:avLst/>
          </a:prstGeom>
          <a:noFill/>
        </p:spPr>
        <p:txBody>
          <a:bodyPr wrap="square" lIns="0" tIns="0" rIns="0" bIns="0" anchor="t">
            <a:spAutoFit/>
          </a:bodyPr>
          <a:lstStyle/>
          <a:p>
            <a:pPr algn="l">
              <a:lnSpc>
                <a:spcPct val="115000"/>
              </a:lnSpc>
              <a:spcBef>
                <a:spcPts val="0"/>
              </a:spcBef>
              <a:spcAft>
                <a:spcPts val="0"/>
              </a:spcAft>
            </a:pPr>
            <a:r>
              <a:rPr sz="1100" b="1" i="0">
                <a:solidFill>
                  <a:srgbClr val="326084"/>
                </a:solidFill>
                <a:latin typeface="Arial"/>
              </a:rPr>
              <a:t>MODEL COMPARISON</a:t>
            </a:r>
          </a:p>
        </p:txBody>
      </p:sp>
      <p:sp>
        <p:nvSpPr>
          <p:cNvPr id="3" name="TextBox 2"/>
          <p:cNvSpPr txBox="1"/>
          <p:nvPr/>
        </p:nvSpPr>
        <p:spPr>
          <a:xfrm>
            <a:off x="676656" y="722376"/>
            <a:ext cx="10881360" cy="484632"/>
          </a:xfrm>
          <a:prstGeom prst="rect">
            <a:avLst/>
          </a:prstGeom>
          <a:noFill/>
        </p:spPr>
        <p:txBody>
          <a:bodyPr wrap="square" lIns="0" tIns="0" rIns="0" bIns="0" anchor="t">
            <a:spAutoFit/>
          </a:bodyPr>
          <a:lstStyle/>
          <a:p>
            <a:pPr algn="l">
              <a:lnSpc>
                <a:spcPct val="115000"/>
              </a:lnSpc>
              <a:spcBef>
                <a:spcPts val="0"/>
              </a:spcBef>
              <a:spcAft>
                <a:spcPts val="0"/>
              </a:spcAft>
            </a:pPr>
            <a:r>
              <a:rPr sz="2800" b="1" i="0">
                <a:solidFill>
                  <a:srgbClr val="1F2E3B"/>
                </a:solidFill>
                <a:latin typeface="Arial"/>
              </a:rPr>
              <a:t>Waterfall and Scrum make different tradeoffs</a:t>
            </a:r>
          </a:p>
        </p:txBody>
      </p:sp>
      <p:sp>
        <p:nvSpPr>
          <p:cNvPr id="4" name="TextBox 3"/>
          <p:cNvSpPr txBox="1"/>
          <p:nvPr/>
        </p:nvSpPr>
        <p:spPr>
          <a:xfrm>
            <a:off x="685800" y="1380744"/>
            <a:ext cx="10881360" cy="521207"/>
          </a:xfrm>
          <a:prstGeom prst="rect">
            <a:avLst/>
          </a:prstGeom>
          <a:noFill/>
        </p:spPr>
        <p:txBody>
          <a:bodyPr wrap="square" lIns="0" tIns="0" rIns="0" bIns="0" anchor="t">
            <a:noAutofit/>
          </a:bodyPr>
          <a:lstStyle/>
          <a:p>
            <a:pPr algn="l">
              <a:lnSpc>
                <a:spcPct val="115000"/>
              </a:lnSpc>
              <a:spcBef>
                <a:spcPts val="0"/>
              </a:spcBef>
              <a:spcAft>
                <a:spcPts val="0"/>
              </a:spcAft>
            </a:pPr>
            <a:r>
              <a:rPr sz="1400" b="0">
                <a:solidFill>
                  <a:srgbClr val="1F2E3B"/>
                </a:solidFill>
                <a:latin typeface="Arial"/>
              </a:rPr>
              <a:t>Both approaches include SDLC work but organize decisions and feedback differently </a:t>
            </a:r>
            <a:r>
              <a:rPr sz="1110" b="0">
                <a:solidFill>
                  <a:srgbClr val="2B5A7E"/>
                </a:solidFill>
                <a:latin typeface="Arial"/>
              </a:rPr>
              <a:t>(Jackson et al., 2025; Schwaber &amp; Sutherland, 2020).</a:t>
            </a:r>
          </a:p>
        </p:txBody>
      </p:sp>
      <p:cxnSp>
        <p:nvCxnSpPr>
          <p:cNvPr id="5" name="Connector 4"/>
          <p:cNvCxnSpPr/>
          <p:nvPr/>
        </p:nvCxnSpPr>
        <p:spPr>
          <a:xfrm>
            <a:off x="685800" y="1897380"/>
            <a:ext cx="10808208" cy="0"/>
          </a:xfrm>
          <a:prstGeom prst="line">
            <a:avLst/>
          </a:prstGeom>
          <a:ln w="13970">
            <a:solidFill>
              <a:srgbClr val="D8DF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991088" y="6419088"/>
            <a:ext cx="521207" cy="237744"/>
          </a:xfrm>
          <a:prstGeom prst="rect">
            <a:avLst/>
          </a:prstGeom>
          <a:noFill/>
        </p:spPr>
        <p:txBody>
          <a:bodyPr wrap="square" lIns="0" tIns="0" rIns="0" bIns="0" anchor="t">
            <a:spAutoFit/>
          </a:bodyPr>
          <a:lstStyle/>
          <a:p>
            <a:pPr algn="r">
              <a:lnSpc>
                <a:spcPct val="115000"/>
              </a:lnSpc>
              <a:spcBef>
                <a:spcPts val="0"/>
              </a:spcBef>
              <a:spcAft>
                <a:spcPts val="0"/>
              </a:spcAft>
            </a:pPr>
            <a:r>
              <a:rPr sz="1050" b="0" i="0">
                <a:solidFill>
                  <a:srgbClr val="65737E"/>
                </a:solidFill>
                <a:latin typeface="Arial"/>
              </a:rPr>
              <a:t>10</a:t>
            </a:r>
          </a:p>
        </p:txBody>
      </p:sp>
      <p:sp>
        <p:nvSpPr>
          <p:cNvPr id="8" name="Rectangle 7"/>
          <p:cNvSpPr/>
          <p:nvPr/>
        </p:nvSpPr>
        <p:spPr>
          <a:xfrm>
            <a:off x="704088" y="2194560"/>
            <a:ext cx="10780776" cy="521207"/>
          </a:xfrm>
          <a:prstGeom prst="rect">
            <a:avLst/>
          </a:prstGeom>
          <a:solidFill>
            <a:srgbClr val="1F2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2350008"/>
            <a:ext cx="1956816" cy="246888"/>
          </a:xfrm>
          <a:prstGeom prst="rect">
            <a:avLst/>
          </a:prstGeom>
          <a:noFill/>
        </p:spPr>
        <p:txBody>
          <a:bodyPr wrap="square" lIns="0" tIns="0" rIns="0" bIns="0" anchor="t">
            <a:spAutoFit/>
          </a:bodyPr>
          <a:lstStyle/>
          <a:p>
            <a:pPr algn="l">
              <a:lnSpc>
                <a:spcPct val="115000"/>
              </a:lnSpc>
              <a:spcBef>
                <a:spcPts val="0"/>
              </a:spcBef>
              <a:spcAft>
                <a:spcPts val="0"/>
              </a:spcAft>
            </a:pPr>
            <a:r>
              <a:rPr sz="1200" b="1" i="0">
                <a:solidFill>
                  <a:srgbClr val="FFFFFF"/>
                </a:solidFill>
                <a:latin typeface="Arial"/>
              </a:rPr>
              <a:t>FACTOR</a:t>
            </a:r>
          </a:p>
        </p:txBody>
      </p:sp>
      <p:sp>
        <p:nvSpPr>
          <p:cNvPr id="10" name="TextBox 9"/>
          <p:cNvSpPr txBox="1"/>
          <p:nvPr/>
        </p:nvSpPr>
        <p:spPr>
          <a:xfrm>
            <a:off x="2999232" y="2350008"/>
            <a:ext cx="3977639" cy="246888"/>
          </a:xfrm>
          <a:prstGeom prst="rect">
            <a:avLst/>
          </a:prstGeom>
          <a:noFill/>
        </p:spPr>
        <p:txBody>
          <a:bodyPr wrap="square" lIns="0" tIns="0" rIns="0" bIns="0" anchor="t">
            <a:spAutoFit/>
          </a:bodyPr>
          <a:lstStyle/>
          <a:p>
            <a:pPr algn="l">
              <a:lnSpc>
                <a:spcPct val="115000"/>
              </a:lnSpc>
              <a:spcBef>
                <a:spcPts val="0"/>
              </a:spcBef>
              <a:spcAft>
                <a:spcPts val="0"/>
              </a:spcAft>
            </a:pPr>
            <a:r>
              <a:rPr sz="1200" b="1" i="0">
                <a:solidFill>
                  <a:srgbClr val="FFFFFF"/>
                </a:solidFill>
                <a:latin typeface="Arial"/>
              </a:rPr>
              <a:t>WATERFALL</a:t>
            </a:r>
          </a:p>
        </p:txBody>
      </p:sp>
      <p:sp>
        <p:nvSpPr>
          <p:cNvPr id="11" name="TextBox 10"/>
          <p:cNvSpPr txBox="1"/>
          <p:nvPr/>
        </p:nvSpPr>
        <p:spPr>
          <a:xfrm>
            <a:off x="7296912" y="2350008"/>
            <a:ext cx="4078224" cy="246888"/>
          </a:xfrm>
          <a:prstGeom prst="rect">
            <a:avLst/>
          </a:prstGeom>
          <a:noFill/>
        </p:spPr>
        <p:txBody>
          <a:bodyPr wrap="square" lIns="0" tIns="0" rIns="0" bIns="0" anchor="t">
            <a:spAutoFit/>
          </a:bodyPr>
          <a:lstStyle/>
          <a:p>
            <a:pPr algn="l">
              <a:lnSpc>
                <a:spcPct val="115000"/>
              </a:lnSpc>
              <a:spcBef>
                <a:spcPts val="0"/>
              </a:spcBef>
              <a:spcAft>
                <a:spcPts val="0"/>
              </a:spcAft>
            </a:pPr>
            <a:r>
              <a:rPr sz="1200" b="1" i="0">
                <a:solidFill>
                  <a:srgbClr val="FFFFFF"/>
                </a:solidFill>
                <a:latin typeface="Arial"/>
              </a:rPr>
              <a:t>SCRUM–AGILE</a:t>
            </a:r>
          </a:p>
        </p:txBody>
      </p:sp>
      <p:sp>
        <p:nvSpPr>
          <p:cNvPr id="12" name="TextBox 11"/>
          <p:cNvSpPr txBox="1"/>
          <p:nvPr/>
        </p:nvSpPr>
        <p:spPr>
          <a:xfrm>
            <a:off x="850392" y="2898648"/>
            <a:ext cx="1865376" cy="310896"/>
          </a:xfrm>
          <a:prstGeom prst="rect">
            <a:avLst/>
          </a:prstGeom>
          <a:noFill/>
        </p:spPr>
        <p:txBody>
          <a:bodyPr wrap="square" lIns="0" tIns="0" rIns="0" bIns="0" anchor="t">
            <a:spAutoFit/>
          </a:bodyPr>
          <a:lstStyle/>
          <a:p>
            <a:pPr algn="l">
              <a:lnSpc>
                <a:spcPct val="115000"/>
              </a:lnSpc>
              <a:spcBef>
                <a:spcPts val="0"/>
              </a:spcBef>
              <a:spcAft>
                <a:spcPts val="0"/>
              </a:spcAft>
            </a:pPr>
            <a:r>
              <a:rPr sz="1370" b="1" i="0">
                <a:solidFill>
                  <a:srgbClr val="1F2E3B"/>
                </a:solidFill>
                <a:latin typeface="Arial"/>
              </a:rPr>
              <a:t>Sequence</a:t>
            </a:r>
          </a:p>
        </p:txBody>
      </p:sp>
      <p:sp>
        <p:nvSpPr>
          <p:cNvPr id="13" name="TextBox 12"/>
          <p:cNvSpPr txBox="1"/>
          <p:nvPr/>
        </p:nvSpPr>
        <p:spPr>
          <a:xfrm>
            <a:off x="2999232" y="2852928"/>
            <a:ext cx="3941063" cy="402336"/>
          </a:xfrm>
          <a:prstGeom prst="rect">
            <a:avLst/>
          </a:prstGeom>
          <a:noFill/>
        </p:spPr>
        <p:txBody>
          <a:bodyPr wrap="square" lIns="0" tIns="0" rIns="0" bIns="0" anchor="t">
            <a:spAutoFit/>
          </a:bodyPr>
          <a:lstStyle/>
          <a:p>
            <a:pPr algn="l">
              <a:lnSpc>
                <a:spcPct val="115000"/>
              </a:lnSpc>
              <a:spcBef>
                <a:spcPts val="0"/>
              </a:spcBef>
              <a:spcAft>
                <a:spcPts val="0"/>
              </a:spcAft>
            </a:pPr>
            <a:r>
              <a:rPr sz="1400" b="0" i="0">
                <a:solidFill>
                  <a:srgbClr val="313D48"/>
                </a:solidFill>
                <a:latin typeface="Arial"/>
              </a:rPr>
              <a:t>Phases tend to progress sequentially</a:t>
            </a:r>
          </a:p>
        </p:txBody>
      </p:sp>
      <p:sp>
        <p:nvSpPr>
          <p:cNvPr id="14" name="TextBox 13"/>
          <p:cNvSpPr txBox="1"/>
          <p:nvPr/>
        </p:nvSpPr>
        <p:spPr>
          <a:xfrm>
            <a:off x="7296912" y="2852928"/>
            <a:ext cx="3977639" cy="402336"/>
          </a:xfrm>
          <a:prstGeom prst="rect">
            <a:avLst/>
          </a:prstGeom>
          <a:noFill/>
        </p:spPr>
        <p:txBody>
          <a:bodyPr wrap="square" lIns="0" tIns="0" rIns="0" bIns="0" anchor="t">
            <a:spAutoFit/>
          </a:bodyPr>
          <a:lstStyle/>
          <a:p>
            <a:pPr algn="l">
              <a:lnSpc>
                <a:spcPct val="115000"/>
              </a:lnSpc>
              <a:spcBef>
                <a:spcPts val="0"/>
              </a:spcBef>
              <a:spcAft>
                <a:spcPts val="0"/>
              </a:spcAft>
            </a:pPr>
            <a:r>
              <a:rPr sz="1400" b="0" i="0">
                <a:solidFill>
                  <a:srgbClr val="313D48"/>
                </a:solidFill>
                <a:latin typeface="Arial"/>
              </a:rPr>
              <a:t>Phases recur across small increments</a:t>
            </a:r>
          </a:p>
        </p:txBody>
      </p:sp>
      <p:cxnSp>
        <p:nvCxnSpPr>
          <p:cNvPr id="15" name="Connector 14"/>
          <p:cNvCxnSpPr/>
          <p:nvPr/>
        </p:nvCxnSpPr>
        <p:spPr>
          <a:xfrm>
            <a:off x="704088" y="3355848"/>
            <a:ext cx="10780776" cy="0"/>
          </a:xfrm>
          <a:prstGeom prst="line">
            <a:avLst/>
          </a:prstGeom>
          <a:ln w="8890">
            <a:solidFill>
              <a:srgbClr val="D8DFE4"/>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04088" y="3355848"/>
            <a:ext cx="10780776" cy="640080"/>
          </a:xfrm>
          <a:prstGeom prst="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0392" y="3538728"/>
            <a:ext cx="1865376" cy="310896"/>
          </a:xfrm>
          <a:prstGeom prst="rect">
            <a:avLst/>
          </a:prstGeom>
          <a:noFill/>
        </p:spPr>
        <p:txBody>
          <a:bodyPr wrap="square" lIns="0" tIns="0" rIns="0" bIns="0" anchor="t">
            <a:spAutoFit/>
          </a:bodyPr>
          <a:lstStyle/>
          <a:p>
            <a:pPr algn="l">
              <a:lnSpc>
                <a:spcPct val="115000"/>
              </a:lnSpc>
              <a:spcBef>
                <a:spcPts val="0"/>
              </a:spcBef>
              <a:spcAft>
                <a:spcPts val="0"/>
              </a:spcAft>
            </a:pPr>
            <a:r>
              <a:rPr sz="1370" b="1" i="0">
                <a:solidFill>
                  <a:srgbClr val="1F2E3B"/>
                </a:solidFill>
                <a:latin typeface="Arial"/>
              </a:rPr>
              <a:t>Requirements</a:t>
            </a:r>
          </a:p>
        </p:txBody>
      </p:sp>
      <p:sp>
        <p:nvSpPr>
          <p:cNvPr id="18" name="TextBox 17"/>
          <p:cNvSpPr txBox="1"/>
          <p:nvPr/>
        </p:nvSpPr>
        <p:spPr>
          <a:xfrm>
            <a:off x="2999232" y="3493008"/>
            <a:ext cx="3941063" cy="402336"/>
          </a:xfrm>
          <a:prstGeom prst="rect">
            <a:avLst/>
          </a:prstGeom>
          <a:noFill/>
        </p:spPr>
        <p:txBody>
          <a:bodyPr wrap="square" lIns="0" tIns="0" rIns="0" bIns="0" anchor="t">
            <a:spAutoFit/>
          </a:bodyPr>
          <a:lstStyle/>
          <a:p>
            <a:pPr algn="l">
              <a:lnSpc>
                <a:spcPct val="115000"/>
              </a:lnSpc>
              <a:spcBef>
                <a:spcPts val="0"/>
              </a:spcBef>
              <a:spcAft>
                <a:spcPts val="0"/>
              </a:spcAft>
            </a:pPr>
            <a:r>
              <a:rPr sz="1400" b="0" i="0">
                <a:solidFill>
                  <a:srgbClr val="313D48"/>
                </a:solidFill>
                <a:latin typeface="Arial"/>
              </a:rPr>
              <a:t>Detailed definition earlier</a:t>
            </a:r>
          </a:p>
        </p:txBody>
      </p:sp>
      <p:sp>
        <p:nvSpPr>
          <p:cNvPr id="19" name="TextBox 18"/>
          <p:cNvSpPr txBox="1"/>
          <p:nvPr/>
        </p:nvSpPr>
        <p:spPr>
          <a:xfrm>
            <a:off x="7296912" y="3493008"/>
            <a:ext cx="3977639" cy="402336"/>
          </a:xfrm>
          <a:prstGeom prst="rect">
            <a:avLst/>
          </a:prstGeom>
          <a:noFill/>
        </p:spPr>
        <p:txBody>
          <a:bodyPr wrap="square" lIns="0" tIns="0" rIns="0" bIns="0" anchor="t">
            <a:spAutoFit/>
          </a:bodyPr>
          <a:lstStyle/>
          <a:p>
            <a:pPr algn="l">
              <a:lnSpc>
                <a:spcPct val="115000"/>
              </a:lnSpc>
              <a:spcBef>
                <a:spcPts val="0"/>
              </a:spcBef>
              <a:spcAft>
                <a:spcPts val="0"/>
              </a:spcAft>
            </a:pPr>
            <a:r>
              <a:rPr sz="1400" b="0" i="0">
                <a:solidFill>
                  <a:srgbClr val="313D48"/>
                </a:solidFill>
                <a:latin typeface="Arial"/>
              </a:rPr>
              <a:t>Backlog refined as knowledge grows</a:t>
            </a:r>
          </a:p>
        </p:txBody>
      </p:sp>
      <p:cxnSp>
        <p:nvCxnSpPr>
          <p:cNvPr id="20" name="Connector 19"/>
          <p:cNvCxnSpPr/>
          <p:nvPr/>
        </p:nvCxnSpPr>
        <p:spPr>
          <a:xfrm>
            <a:off x="704088" y="3995928"/>
            <a:ext cx="10780776" cy="0"/>
          </a:xfrm>
          <a:prstGeom prst="line">
            <a:avLst/>
          </a:prstGeom>
          <a:ln w="8890">
            <a:solidFill>
              <a:srgbClr val="D8DFE4"/>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50392" y="4178808"/>
            <a:ext cx="1865376" cy="310896"/>
          </a:xfrm>
          <a:prstGeom prst="rect">
            <a:avLst/>
          </a:prstGeom>
          <a:noFill/>
        </p:spPr>
        <p:txBody>
          <a:bodyPr wrap="square" lIns="0" tIns="0" rIns="0" bIns="0" anchor="t">
            <a:spAutoFit/>
          </a:bodyPr>
          <a:lstStyle/>
          <a:p>
            <a:pPr algn="l">
              <a:lnSpc>
                <a:spcPct val="115000"/>
              </a:lnSpc>
              <a:spcBef>
                <a:spcPts val="0"/>
              </a:spcBef>
              <a:spcAft>
                <a:spcPts val="0"/>
              </a:spcAft>
            </a:pPr>
            <a:r>
              <a:rPr sz="1370" b="1" i="0">
                <a:solidFill>
                  <a:srgbClr val="1F2E3B"/>
                </a:solidFill>
                <a:latin typeface="Arial"/>
              </a:rPr>
              <a:t>Feedback</a:t>
            </a:r>
          </a:p>
        </p:txBody>
      </p:sp>
      <p:sp>
        <p:nvSpPr>
          <p:cNvPr id="22" name="TextBox 21"/>
          <p:cNvSpPr txBox="1"/>
          <p:nvPr/>
        </p:nvSpPr>
        <p:spPr>
          <a:xfrm>
            <a:off x="2999232" y="4133088"/>
            <a:ext cx="3941063" cy="402336"/>
          </a:xfrm>
          <a:prstGeom prst="rect">
            <a:avLst/>
          </a:prstGeom>
          <a:noFill/>
        </p:spPr>
        <p:txBody>
          <a:bodyPr wrap="square" lIns="0" tIns="0" rIns="0" bIns="0" anchor="t">
            <a:spAutoFit/>
          </a:bodyPr>
          <a:lstStyle/>
          <a:p>
            <a:pPr algn="l">
              <a:lnSpc>
                <a:spcPct val="115000"/>
              </a:lnSpc>
              <a:spcBef>
                <a:spcPts val="0"/>
              </a:spcBef>
              <a:spcAft>
                <a:spcPts val="0"/>
              </a:spcAft>
            </a:pPr>
            <a:r>
              <a:rPr sz="1400" b="0" i="0">
                <a:solidFill>
                  <a:srgbClr val="313D48"/>
                </a:solidFill>
                <a:latin typeface="Arial"/>
              </a:rPr>
              <a:t>Usually anchored to milestones</a:t>
            </a:r>
          </a:p>
        </p:txBody>
      </p:sp>
      <p:sp>
        <p:nvSpPr>
          <p:cNvPr id="23" name="TextBox 22"/>
          <p:cNvSpPr txBox="1"/>
          <p:nvPr/>
        </p:nvSpPr>
        <p:spPr>
          <a:xfrm>
            <a:off x="7296912" y="4133088"/>
            <a:ext cx="3977639" cy="402336"/>
          </a:xfrm>
          <a:prstGeom prst="rect">
            <a:avLst/>
          </a:prstGeom>
          <a:noFill/>
        </p:spPr>
        <p:txBody>
          <a:bodyPr wrap="square" lIns="0" tIns="0" rIns="0" bIns="0" anchor="t">
            <a:spAutoFit/>
          </a:bodyPr>
          <a:lstStyle/>
          <a:p>
            <a:pPr algn="l">
              <a:lnSpc>
                <a:spcPct val="115000"/>
              </a:lnSpc>
              <a:spcBef>
                <a:spcPts val="0"/>
              </a:spcBef>
              <a:spcAft>
                <a:spcPts val="0"/>
              </a:spcAft>
            </a:pPr>
            <a:r>
              <a:rPr sz="1400" b="0" i="0">
                <a:solidFill>
                  <a:srgbClr val="313D48"/>
                </a:solidFill>
                <a:latin typeface="Arial"/>
              </a:rPr>
              <a:t>Regular Sprint Review feedback</a:t>
            </a:r>
          </a:p>
        </p:txBody>
      </p:sp>
      <p:cxnSp>
        <p:nvCxnSpPr>
          <p:cNvPr id="24" name="Connector 23"/>
          <p:cNvCxnSpPr/>
          <p:nvPr/>
        </p:nvCxnSpPr>
        <p:spPr>
          <a:xfrm>
            <a:off x="704088" y="4636008"/>
            <a:ext cx="10780776" cy="0"/>
          </a:xfrm>
          <a:prstGeom prst="line">
            <a:avLst/>
          </a:prstGeom>
          <a:ln w="8890">
            <a:solidFill>
              <a:srgbClr val="D8DFE4"/>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704088" y="4636008"/>
            <a:ext cx="10780776" cy="640080"/>
          </a:xfrm>
          <a:prstGeom prst="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50392" y="4818888"/>
            <a:ext cx="1865376" cy="310896"/>
          </a:xfrm>
          <a:prstGeom prst="rect">
            <a:avLst/>
          </a:prstGeom>
          <a:noFill/>
        </p:spPr>
        <p:txBody>
          <a:bodyPr wrap="square" lIns="0" tIns="0" rIns="0" bIns="0" anchor="t">
            <a:spAutoFit/>
          </a:bodyPr>
          <a:lstStyle/>
          <a:p>
            <a:pPr algn="l">
              <a:lnSpc>
                <a:spcPct val="115000"/>
              </a:lnSpc>
              <a:spcBef>
                <a:spcPts val="0"/>
              </a:spcBef>
              <a:spcAft>
                <a:spcPts val="0"/>
              </a:spcAft>
            </a:pPr>
            <a:r>
              <a:rPr sz="1370" b="1" i="0">
                <a:solidFill>
                  <a:srgbClr val="1F2E3B"/>
                </a:solidFill>
                <a:latin typeface="Arial"/>
              </a:rPr>
              <a:t>Quality</a:t>
            </a:r>
          </a:p>
        </p:txBody>
      </p:sp>
      <p:sp>
        <p:nvSpPr>
          <p:cNvPr id="27" name="TextBox 26"/>
          <p:cNvSpPr txBox="1"/>
          <p:nvPr/>
        </p:nvSpPr>
        <p:spPr>
          <a:xfrm>
            <a:off x="2999232" y="4773168"/>
            <a:ext cx="3941063" cy="402336"/>
          </a:xfrm>
          <a:prstGeom prst="rect">
            <a:avLst/>
          </a:prstGeom>
          <a:noFill/>
        </p:spPr>
        <p:txBody>
          <a:bodyPr wrap="square" lIns="0" tIns="0" rIns="0" bIns="0" anchor="t">
            <a:spAutoFit/>
          </a:bodyPr>
          <a:lstStyle/>
          <a:p>
            <a:pPr algn="l">
              <a:lnSpc>
                <a:spcPct val="115000"/>
              </a:lnSpc>
              <a:spcBef>
                <a:spcPts val="0"/>
              </a:spcBef>
              <a:spcAft>
                <a:spcPts val="0"/>
              </a:spcAft>
            </a:pPr>
            <a:r>
              <a:rPr sz="1400" b="0" i="0">
                <a:solidFill>
                  <a:srgbClr val="313D48"/>
                </a:solidFill>
                <a:latin typeface="Arial"/>
              </a:rPr>
              <a:t>Formal test stage / gates</a:t>
            </a:r>
          </a:p>
        </p:txBody>
      </p:sp>
      <p:sp>
        <p:nvSpPr>
          <p:cNvPr id="28" name="TextBox 27"/>
          <p:cNvSpPr txBox="1"/>
          <p:nvPr/>
        </p:nvSpPr>
        <p:spPr>
          <a:xfrm>
            <a:off x="7296912" y="4773168"/>
            <a:ext cx="3977639" cy="402336"/>
          </a:xfrm>
          <a:prstGeom prst="rect">
            <a:avLst/>
          </a:prstGeom>
          <a:noFill/>
        </p:spPr>
        <p:txBody>
          <a:bodyPr wrap="square" lIns="0" tIns="0" rIns="0" bIns="0" anchor="t">
            <a:spAutoFit/>
          </a:bodyPr>
          <a:lstStyle/>
          <a:p>
            <a:pPr algn="l">
              <a:lnSpc>
                <a:spcPct val="115000"/>
              </a:lnSpc>
              <a:spcBef>
                <a:spcPts val="0"/>
              </a:spcBef>
              <a:spcAft>
                <a:spcPts val="0"/>
              </a:spcAft>
            </a:pPr>
            <a:r>
              <a:rPr sz="1400" b="0" i="0">
                <a:solidFill>
                  <a:srgbClr val="313D48"/>
                </a:solidFill>
                <a:latin typeface="Arial"/>
              </a:rPr>
              <a:t>Test throughout each increment</a:t>
            </a:r>
          </a:p>
        </p:txBody>
      </p:sp>
      <p:cxnSp>
        <p:nvCxnSpPr>
          <p:cNvPr id="29" name="Connector 28"/>
          <p:cNvCxnSpPr/>
          <p:nvPr/>
        </p:nvCxnSpPr>
        <p:spPr>
          <a:xfrm>
            <a:off x="704088" y="5276088"/>
            <a:ext cx="10780776" cy="0"/>
          </a:xfrm>
          <a:prstGeom prst="line">
            <a:avLst/>
          </a:prstGeom>
          <a:ln w="8890">
            <a:solidFill>
              <a:srgbClr val="D8DFE4"/>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50392" y="5458968"/>
            <a:ext cx="1865376" cy="310896"/>
          </a:xfrm>
          <a:prstGeom prst="rect">
            <a:avLst/>
          </a:prstGeom>
          <a:noFill/>
        </p:spPr>
        <p:txBody>
          <a:bodyPr wrap="square" lIns="0" tIns="0" rIns="0" bIns="0" anchor="t">
            <a:spAutoFit/>
          </a:bodyPr>
          <a:lstStyle/>
          <a:p>
            <a:pPr algn="l">
              <a:lnSpc>
                <a:spcPct val="115000"/>
              </a:lnSpc>
              <a:spcBef>
                <a:spcPts val="0"/>
              </a:spcBef>
              <a:spcAft>
                <a:spcPts val="0"/>
              </a:spcAft>
            </a:pPr>
            <a:r>
              <a:rPr sz="1370" b="1" i="0">
                <a:solidFill>
                  <a:srgbClr val="1F2E3B"/>
                </a:solidFill>
                <a:latin typeface="Arial"/>
              </a:rPr>
              <a:t>Strength</a:t>
            </a:r>
          </a:p>
        </p:txBody>
      </p:sp>
      <p:sp>
        <p:nvSpPr>
          <p:cNvPr id="31" name="TextBox 30"/>
          <p:cNvSpPr txBox="1"/>
          <p:nvPr/>
        </p:nvSpPr>
        <p:spPr>
          <a:xfrm>
            <a:off x="2999232" y="5413248"/>
            <a:ext cx="3941063" cy="402336"/>
          </a:xfrm>
          <a:prstGeom prst="rect">
            <a:avLst/>
          </a:prstGeom>
          <a:noFill/>
        </p:spPr>
        <p:txBody>
          <a:bodyPr wrap="square" lIns="0" tIns="0" rIns="0" bIns="0" anchor="t">
            <a:spAutoFit/>
          </a:bodyPr>
          <a:lstStyle/>
          <a:p>
            <a:pPr algn="l">
              <a:lnSpc>
                <a:spcPct val="115000"/>
              </a:lnSpc>
              <a:spcBef>
                <a:spcPts val="0"/>
              </a:spcBef>
              <a:spcAft>
                <a:spcPts val="0"/>
              </a:spcAft>
            </a:pPr>
            <a:r>
              <a:rPr sz="1400" b="0" i="0">
                <a:solidFill>
                  <a:srgbClr val="313D48"/>
                </a:solidFill>
                <a:latin typeface="Arial"/>
              </a:rPr>
              <a:t>Predictability with stable scope</a:t>
            </a:r>
          </a:p>
        </p:txBody>
      </p:sp>
      <p:sp>
        <p:nvSpPr>
          <p:cNvPr id="32" name="TextBox 31"/>
          <p:cNvSpPr txBox="1"/>
          <p:nvPr/>
        </p:nvSpPr>
        <p:spPr>
          <a:xfrm>
            <a:off x="7296912" y="5413248"/>
            <a:ext cx="3977639" cy="402336"/>
          </a:xfrm>
          <a:prstGeom prst="rect">
            <a:avLst/>
          </a:prstGeom>
          <a:noFill/>
        </p:spPr>
        <p:txBody>
          <a:bodyPr wrap="square" lIns="0" tIns="0" rIns="0" bIns="0" anchor="t">
            <a:spAutoFit/>
          </a:bodyPr>
          <a:lstStyle/>
          <a:p>
            <a:pPr algn="l">
              <a:lnSpc>
                <a:spcPct val="115000"/>
              </a:lnSpc>
              <a:spcBef>
                <a:spcPts val="0"/>
              </a:spcBef>
              <a:spcAft>
                <a:spcPts val="0"/>
              </a:spcAft>
            </a:pPr>
            <a:r>
              <a:rPr sz="1400" b="0" i="0">
                <a:solidFill>
                  <a:srgbClr val="313D48"/>
                </a:solidFill>
                <a:latin typeface="Arial"/>
              </a:rPr>
              <a:t>Adaptability when needs evolve</a:t>
            </a:r>
          </a:p>
        </p:txBody>
      </p:sp>
      <p:cxnSp>
        <p:nvCxnSpPr>
          <p:cNvPr id="33" name="Connector 32"/>
          <p:cNvCxnSpPr/>
          <p:nvPr/>
        </p:nvCxnSpPr>
        <p:spPr>
          <a:xfrm>
            <a:off x="704088" y="5916168"/>
            <a:ext cx="10780776" cy="0"/>
          </a:xfrm>
          <a:prstGeom prst="line">
            <a:avLst/>
          </a:prstGeom>
          <a:ln w="8890">
            <a:solidFill>
              <a:srgbClr val="D8DFE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816352" y="2194560"/>
            <a:ext cx="0" cy="3721608"/>
          </a:xfrm>
          <a:prstGeom prst="line">
            <a:avLst/>
          </a:prstGeom>
          <a:ln w="10160">
            <a:solidFill>
              <a:srgbClr val="D8DFE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114032" y="2194560"/>
            <a:ext cx="0" cy="3721608"/>
          </a:xfrm>
          <a:prstGeom prst="line">
            <a:avLst/>
          </a:prstGeom>
          <a:ln w="10160">
            <a:solidFill>
              <a:srgbClr val="D8DFE4"/>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85800" y="6382512"/>
            <a:ext cx="9875520" cy="237744"/>
          </a:xfrm>
          <a:prstGeom prst="rect">
            <a:avLst/>
          </a:prstGeom>
          <a:noFill/>
        </p:spPr>
        <p:txBody>
          <a:bodyPr wrap="none" lIns="0" tIns="0" rIns="0" bIns="0">
            <a:spAutoFit/>
          </a:bodyPr>
          <a:lstStyle/>
          <a:p>
            <a:r>
              <a:rPr sz="930">
                <a:solidFill>
                  <a:srgbClr val="616F7A"/>
                </a:solidFill>
                <a:latin typeface="Arial"/>
              </a:rPr>
              <a:t>Complete reference entries and source links: slides 14–15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374904"/>
            <a:ext cx="9875520" cy="237744"/>
          </a:xfrm>
          <a:prstGeom prst="rect">
            <a:avLst/>
          </a:prstGeom>
          <a:noFill/>
        </p:spPr>
        <p:txBody>
          <a:bodyPr wrap="square" lIns="0" tIns="0" rIns="0" bIns="0" anchor="t">
            <a:spAutoFit/>
          </a:bodyPr>
          <a:lstStyle/>
          <a:p>
            <a:pPr algn="l">
              <a:lnSpc>
                <a:spcPct val="115000"/>
              </a:lnSpc>
              <a:spcBef>
                <a:spcPts val="0"/>
              </a:spcBef>
              <a:spcAft>
                <a:spcPts val="0"/>
              </a:spcAft>
            </a:pPr>
            <a:r>
              <a:rPr sz="1100" b="1" i="0">
                <a:solidFill>
                  <a:srgbClr val="326084"/>
                </a:solidFill>
                <a:latin typeface="Arial"/>
              </a:rPr>
              <a:t>METHOD SELECTION</a:t>
            </a:r>
          </a:p>
        </p:txBody>
      </p:sp>
      <p:sp>
        <p:nvSpPr>
          <p:cNvPr id="3" name="TextBox 2"/>
          <p:cNvSpPr txBox="1"/>
          <p:nvPr/>
        </p:nvSpPr>
        <p:spPr>
          <a:xfrm>
            <a:off x="676656" y="722376"/>
            <a:ext cx="10881360" cy="484632"/>
          </a:xfrm>
          <a:prstGeom prst="rect">
            <a:avLst/>
          </a:prstGeom>
          <a:noFill/>
        </p:spPr>
        <p:txBody>
          <a:bodyPr wrap="square" lIns="0" tIns="0" rIns="0" bIns="0" anchor="t">
            <a:spAutoFit/>
          </a:bodyPr>
          <a:lstStyle/>
          <a:p>
            <a:pPr algn="l">
              <a:lnSpc>
                <a:spcPct val="115000"/>
              </a:lnSpc>
              <a:spcBef>
                <a:spcPts val="0"/>
              </a:spcBef>
              <a:spcAft>
                <a:spcPts val="0"/>
              </a:spcAft>
            </a:pPr>
            <a:r>
              <a:rPr sz="2800" b="1" i="0">
                <a:solidFill>
                  <a:srgbClr val="1F2E3B"/>
                </a:solidFill>
                <a:latin typeface="Arial"/>
              </a:rPr>
              <a:t>Choose the model that fits the uncertainty</a:t>
            </a:r>
          </a:p>
        </p:txBody>
      </p:sp>
      <p:sp>
        <p:nvSpPr>
          <p:cNvPr id="4" name="TextBox 3"/>
          <p:cNvSpPr txBox="1"/>
          <p:nvPr/>
        </p:nvSpPr>
        <p:spPr>
          <a:xfrm>
            <a:off x="685800" y="1380744"/>
            <a:ext cx="10881360" cy="521207"/>
          </a:xfrm>
          <a:prstGeom prst="rect">
            <a:avLst/>
          </a:prstGeom>
          <a:noFill/>
        </p:spPr>
        <p:txBody>
          <a:bodyPr wrap="square" lIns="0" tIns="0" rIns="0" bIns="0" anchor="t">
            <a:noAutofit/>
          </a:bodyPr>
          <a:lstStyle/>
          <a:p>
            <a:pPr algn="l">
              <a:lnSpc>
                <a:spcPct val="115000"/>
              </a:lnSpc>
              <a:spcBef>
                <a:spcPts val="0"/>
              </a:spcBef>
              <a:spcAft>
                <a:spcPts val="0"/>
              </a:spcAft>
            </a:pPr>
            <a:r>
              <a:rPr sz="1400" b="0">
                <a:solidFill>
                  <a:srgbClr val="1F2E3B"/>
                </a:solidFill>
                <a:latin typeface="Arial"/>
              </a:rPr>
              <a:t>Choose a delivery approach that suits uncertainty, constraints, and governance </a:t>
            </a:r>
            <a:r>
              <a:rPr sz="1180" b="0">
                <a:solidFill>
                  <a:srgbClr val="2B5A7E"/>
                </a:solidFill>
                <a:latin typeface="Arial"/>
              </a:rPr>
              <a:t>(Project Management Institute, 2024).</a:t>
            </a:r>
          </a:p>
        </p:txBody>
      </p:sp>
      <p:cxnSp>
        <p:nvCxnSpPr>
          <p:cNvPr id="5" name="Connector 4"/>
          <p:cNvCxnSpPr/>
          <p:nvPr/>
        </p:nvCxnSpPr>
        <p:spPr>
          <a:xfrm>
            <a:off x="685800" y="1897380"/>
            <a:ext cx="10808208" cy="0"/>
          </a:xfrm>
          <a:prstGeom prst="line">
            <a:avLst/>
          </a:prstGeom>
          <a:ln w="13970">
            <a:solidFill>
              <a:srgbClr val="D8DF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991088" y="6419088"/>
            <a:ext cx="521207" cy="237744"/>
          </a:xfrm>
          <a:prstGeom prst="rect">
            <a:avLst/>
          </a:prstGeom>
          <a:noFill/>
        </p:spPr>
        <p:txBody>
          <a:bodyPr wrap="square" lIns="0" tIns="0" rIns="0" bIns="0" anchor="t">
            <a:spAutoFit/>
          </a:bodyPr>
          <a:lstStyle/>
          <a:p>
            <a:pPr algn="r">
              <a:lnSpc>
                <a:spcPct val="115000"/>
              </a:lnSpc>
              <a:spcBef>
                <a:spcPts val="0"/>
              </a:spcBef>
              <a:spcAft>
                <a:spcPts val="0"/>
              </a:spcAft>
            </a:pPr>
            <a:r>
              <a:rPr sz="1050" b="0" i="0">
                <a:solidFill>
                  <a:srgbClr val="65737E"/>
                </a:solidFill>
                <a:latin typeface="Arial"/>
              </a:rPr>
              <a:t>11</a:t>
            </a:r>
          </a:p>
        </p:txBody>
      </p:sp>
      <p:sp>
        <p:nvSpPr>
          <p:cNvPr id="8" name="Rectangle 7"/>
          <p:cNvSpPr/>
          <p:nvPr/>
        </p:nvSpPr>
        <p:spPr>
          <a:xfrm>
            <a:off x="704088" y="2185416"/>
            <a:ext cx="5285232" cy="1728216"/>
          </a:xfrm>
          <a:prstGeom prst="rect">
            <a:avLst/>
          </a:prstGeom>
          <a:solidFill>
            <a:srgbClr val="FFFFFF"/>
          </a:solidFill>
          <a:ln w="1016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04088" y="2185416"/>
            <a:ext cx="5285232" cy="68580"/>
          </a:xfrm>
          <a:prstGeom prst="rect">
            <a:avLst/>
          </a:prstGeom>
          <a:solidFill>
            <a:srgbClr val="3260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23544" y="2459736"/>
            <a:ext cx="4754880" cy="320040"/>
          </a:xfrm>
          <a:prstGeom prst="rect">
            <a:avLst/>
          </a:prstGeom>
          <a:noFill/>
        </p:spPr>
        <p:txBody>
          <a:bodyPr wrap="square" lIns="0" tIns="0" rIns="0" bIns="0" anchor="t">
            <a:spAutoFit/>
          </a:bodyPr>
          <a:lstStyle/>
          <a:p>
            <a:pPr algn="l">
              <a:lnSpc>
                <a:spcPct val="115000"/>
              </a:lnSpc>
              <a:spcBef>
                <a:spcPts val="0"/>
              </a:spcBef>
              <a:spcAft>
                <a:spcPts val="0"/>
              </a:spcAft>
            </a:pPr>
            <a:r>
              <a:rPr sz="1500" b="1" i="0">
                <a:solidFill>
                  <a:srgbClr val="326084"/>
                </a:solidFill>
                <a:latin typeface="Arial"/>
              </a:rPr>
              <a:t>SCRUM FITS WHEN…</a:t>
            </a:r>
          </a:p>
        </p:txBody>
      </p:sp>
      <p:sp>
        <p:nvSpPr>
          <p:cNvPr id="11" name="TextBox 10"/>
          <p:cNvSpPr txBox="1"/>
          <p:nvPr/>
        </p:nvSpPr>
        <p:spPr>
          <a:xfrm>
            <a:off x="923544" y="2971800"/>
            <a:ext cx="4782312" cy="877824"/>
          </a:xfrm>
          <a:prstGeom prst="rect">
            <a:avLst/>
          </a:prstGeom>
          <a:noFill/>
        </p:spPr>
        <p:txBody>
          <a:bodyPr wrap="square" lIns="0" tIns="0" rIns="0" bIns="0" anchor="t">
            <a:noAutofit/>
          </a:bodyPr>
          <a:lstStyle/>
          <a:p>
            <a:pPr algn="l">
              <a:lnSpc>
                <a:spcPct val="115000"/>
              </a:lnSpc>
              <a:spcBef>
                <a:spcPts val="0"/>
              </a:spcBef>
              <a:spcAft>
                <a:spcPts val="0"/>
              </a:spcAft>
            </a:pPr>
            <a:r>
              <a:rPr sz="1400" b="0">
                <a:solidFill>
                  <a:srgbClr val="1F2E3B"/>
                </a:solidFill>
                <a:latin typeface="Arial"/>
              </a:rPr>
              <a:t>Scrum can fit changing requirements and frequent stakeholder reviews </a:t>
            </a:r>
            <a:r>
              <a:rPr sz="1100" b="0">
                <a:solidFill>
                  <a:srgbClr val="2B5A7E"/>
                </a:solidFill>
                <a:latin typeface="Arial"/>
              </a:rPr>
              <a:t>(Schwaber &amp; Sutherland, 2020).</a:t>
            </a:r>
          </a:p>
        </p:txBody>
      </p:sp>
      <p:sp>
        <p:nvSpPr>
          <p:cNvPr id="12" name="Rectangle 11"/>
          <p:cNvSpPr/>
          <p:nvPr/>
        </p:nvSpPr>
        <p:spPr>
          <a:xfrm>
            <a:off x="6227064" y="2185416"/>
            <a:ext cx="5285232" cy="1728216"/>
          </a:xfrm>
          <a:prstGeom prst="rect">
            <a:avLst/>
          </a:prstGeom>
          <a:solidFill>
            <a:srgbClr val="FFFFFF"/>
          </a:solidFill>
          <a:ln w="1016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27064" y="2185416"/>
            <a:ext cx="5285232" cy="68580"/>
          </a:xfrm>
          <a:prstGeom prst="rect">
            <a:avLst/>
          </a:prstGeom>
          <a:solidFill>
            <a:srgbClr val="3260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2459736"/>
            <a:ext cx="4754880" cy="320040"/>
          </a:xfrm>
          <a:prstGeom prst="rect">
            <a:avLst/>
          </a:prstGeom>
          <a:noFill/>
        </p:spPr>
        <p:txBody>
          <a:bodyPr wrap="square" lIns="0" tIns="0" rIns="0" bIns="0" anchor="t">
            <a:spAutoFit/>
          </a:bodyPr>
          <a:lstStyle/>
          <a:p>
            <a:pPr algn="l">
              <a:lnSpc>
                <a:spcPct val="115000"/>
              </a:lnSpc>
              <a:spcBef>
                <a:spcPts val="0"/>
              </a:spcBef>
              <a:spcAft>
                <a:spcPts val="0"/>
              </a:spcAft>
            </a:pPr>
            <a:r>
              <a:rPr sz="1500" b="1" i="0">
                <a:solidFill>
                  <a:srgbClr val="326084"/>
                </a:solidFill>
                <a:latin typeface="Arial"/>
              </a:rPr>
              <a:t>WATERFALL FITS WHEN…</a:t>
            </a:r>
          </a:p>
        </p:txBody>
      </p:sp>
      <p:sp>
        <p:nvSpPr>
          <p:cNvPr id="15" name="TextBox 14"/>
          <p:cNvSpPr txBox="1"/>
          <p:nvPr/>
        </p:nvSpPr>
        <p:spPr>
          <a:xfrm>
            <a:off x="6446520" y="2971800"/>
            <a:ext cx="4782312" cy="877824"/>
          </a:xfrm>
          <a:prstGeom prst="rect">
            <a:avLst/>
          </a:prstGeom>
          <a:noFill/>
        </p:spPr>
        <p:txBody>
          <a:bodyPr wrap="square" lIns="0" tIns="0" rIns="0" bIns="0" anchor="t">
            <a:noAutofit/>
          </a:bodyPr>
          <a:lstStyle/>
          <a:p>
            <a:pPr algn="l">
              <a:lnSpc>
                <a:spcPct val="115000"/>
              </a:lnSpc>
              <a:spcBef>
                <a:spcPts val="0"/>
              </a:spcBef>
              <a:spcAft>
                <a:spcPts val="0"/>
              </a:spcAft>
            </a:pPr>
            <a:r>
              <a:rPr sz="1400" b="0">
                <a:solidFill>
                  <a:srgbClr val="1F2E3B"/>
                </a:solidFill>
                <a:latin typeface="Arial"/>
              </a:rPr>
              <a:t>A predictive approach can fit stable scope and formal approvals </a:t>
            </a:r>
            <a:r>
              <a:rPr sz="1100" b="0">
                <a:solidFill>
                  <a:srgbClr val="2B5A7E"/>
                </a:solidFill>
                <a:latin typeface="Arial"/>
              </a:rPr>
              <a:t>(Project Management Institute, 2024).</a:t>
            </a:r>
          </a:p>
        </p:txBody>
      </p:sp>
      <p:sp>
        <p:nvSpPr>
          <p:cNvPr id="16" name="Rectangle 15"/>
          <p:cNvSpPr/>
          <p:nvPr/>
        </p:nvSpPr>
        <p:spPr>
          <a:xfrm>
            <a:off x="704088" y="4370832"/>
            <a:ext cx="10808208" cy="1344168"/>
          </a:xfrm>
          <a:prstGeom prst="rect">
            <a:avLst/>
          </a:prstGeom>
          <a:solidFill>
            <a:srgbClr val="F5F7F9"/>
          </a:solidFill>
          <a:ln w="1016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50976" y="4572000"/>
            <a:ext cx="10232136" cy="274320"/>
          </a:xfrm>
          <a:prstGeom prst="rect">
            <a:avLst/>
          </a:prstGeom>
          <a:noFill/>
        </p:spPr>
        <p:txBody>
          <a:bodyPr wrap="square" lIns="0" tIns="0" rIns="0" bIns="0" anchor="t">
            <a:spAutoFit/>
          </a:bodyPr>
          <a:lstStyle/>
          <a:p>
            <a:pPr algn="l">
              <a:lnSpc>
                <a:spcPct val="115000"/>
              </a:lnSpc>
              <a:spcBef>
                <a:spcPts val="0"/>
              </a:spcBef>
              <a:spcAft>
                <a:spcPts val="0"/>
              </a:spcAft>
            </a:pPr>
            <a:r>
              <a:rPr sz="1300" b="1" i="0">
                <a:solidFill>
                  <a:srgbClr val="326084"/>
                </a:solidFill>
                <a:latin typeface="Arial"/>
              </a:rPr>
              <a:t>IMPORTANT RESEARCH FINDING</a:t>
            </a:r>
          </a:p>
        </p:txBody>
      </p:sp>
      <p:sp>
        <p:nvSpPr>
          <p:cNvPr id="18" name="TextBox 17"/>
          <p:cNvSpPr txBox="1"/>
          <p:nvPr/>
        </p:nvSpPr>
        <p:spPr>
          <a:xfrm>
            <a:off x="950976" y="5001768"/>
            <a:ext cx="10213848" cy="548640"/>
          </a:xfrm>
          <a:prstGeom prst="rect">
            <a:avLst/>
          </a:prstGeom>
          <a:noFill/>
        </p:spPr>
        <p:txBody>
          <a:bodyPr wrap="square" lIns="0" tIns="0" rIns="0" bIns="0" anchor="t">
            <a:noAutofit/>
          </a:bodyPr>
          <a:lstStyle/>
          <a:p>
            <a:pPr algn="l">
              <a:lnSpc>
                <a:spcPct val="115000"/>
              </a:lnSpc>
              <a:spcBef>
                <a:spcPts val="0"/>
              </a:spcBef>
              <a:spcAft>
                <a:spcPts val="0"/>
              </a:spcAft>
            </a:pPr>
            <a:r>
              <a:rPr sz="1420" b="0">
                <a:solidFill>
                  <a:srgbClr val="1F2E3B"/>
                </a:solidFill>
                <a:latin typeface="Arial"/>
              </a:rPr>
              <a:t>PMI reported comparable performance across agile, predictive, and hybrid projects </a:t>
            </a:r>
            <a:r>
              <a:rPr sz="1150" b="0">
                <a:solidFill>
                  <a:srgbClr val="2B5A7E"/>
                </a:solidFill>
                <a:latin typeface="Arial"/>
              </a:rPr>
              <a:t>(Project Management Institute, 2024).</a:t>
            </a:r>
          </a:p>
        </p:txBody>
      </p:sp>
      <p:sp>
        <p:nvSpPr>
          <p:cNvPr id="19" name="TextBox 18"/>
          <p:cNvSpPr txBox="1"/>
          <p:nvPr/>
        </p:nvSpPr>
        <p:spPr>
          <a:xfrm>
            <a:off x="685800" y="6382512"/>
            <a:ext cx="9875520" cy="237744"/>
          </a:xfrm>
          <a:prstGeom prst="rect">
            <a:avLst/>
          </a:prstGeom>
          <a:noFill/>
        </p:spPr>
        <p:txBody>
          <a:bodyPr wrap="none" lIns="0" tIns="0" rIns="0" bIns="0">
            <a:spAutoFit/>
          </a:bodyPr>
          <a:lstStyle/>
          <a:p>
            <a:r>
              <a:rPr sz="930">
                <a:solidFill>
                  <a:srgbClr val="616F7A"/>
                </a:solidFill>
                <a:latin typeface="Arial"/>
              </a:rPr>
              <a:t>Complete reference entries and source links: slides 14–15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374904"/>
            <a:ext cx="9875520" cy="237744"/>
          </a:xfrm>
          <a:prstGeom prst="rect">
            <a:avLst/>
          </a:prstGeom>
          <a:noFill/>
        </p:spPr>
        <p:txBody>
          <a:bodyPr wrap="square" lIns="0" tIns="0" rIns="0" bIns="0" anchor="t">
            <a:spAutoFit/>
          </a:bodyPr>
          <a:lstStyle/>
          <a:p>
            <a:pPr algn="l">
              <a:lnSpc>
                <a:spcPct val="115000"/>
              </a:lnSpc>
              <a:spcBef>
                <a:spcPts val="0"/>
              </a:spcBef>
              <a:spcAft>
                <a:spcPts val="0"/>
              </a:spcAft>
            </a:pPr>
            <a:r>
              <a:rPr sz="1100" b="1" i="0">
                <a:solidFill>
                  <a:srgbClr val="326084"/>
                </a:solidFill>
                <a:latin typeface="Arial"/>
              </a:rPr>
              <a:t>CHADATECH ROLLOUT</a:t>
            </a:r>
          </a:p>
        </p:txBody>
      </p:sp>
      <p:sp>
        <p:nvSpPr>
          <p:cNvPr id="3" name="TextBox 2"/>
          <p:cNvSpPr txBox="1"/>
          <p:nvPr/>
        </p:nvSpPr>
        <p:spPr>
          <a:xfrm>
            <a:off x="676656" y="722376"/>
            <a:ext cx="10881360" cy="484632"/>
          </a:xfrm>
          <a:prstGeom prst="rect">
            <a:avLst/>
          </a:prstGeom>
          <a:noFill/>
        </p:spPr>
        <p:txBody>
          <a:bodyPr wrap="square" lIns="0" tIns="0" rIns="0" bIns="0" anchor="t">
            <a:spAutoFit/>
          </a:bodyPr>
          <a:lstStyle/>
          <a:p>
            <a:pPr algn="l">
              <a:lnSpc>
                <a:spcPct val="115000"/>
              </a:lnSpc>
              <a:spcBef>
                <a:spcPts val="0"/>
              </a:spcBef>
              <a:spcAft>
                <a:spcPts val="0"/>
              </a:spcAft>
            </a:pPr>
            <a:r>
              <a:rPr sz="2650" b="1" i="0">
                <a:solidFill>
                  <a:srgbClr val="1F2E3B"/>
                </a:solidFill>
                <a:latin typeface="Arial"/>
              </a:rPr>
              <a:t>A practical next pilot: three Sprints, clear guardrails</a:t>
            </a:r>
          </a:p>
        </p:txBody>
      </p:sp>
      <p:sp>
        <p:nvSpPr>
          <p:cNvPr id="4" name="TextBox 3"/>
          <p:cNvSpPr txBox="1"/>
          <p:nvPr/>
        </p:nvSpPr>
        <p:spPr>
          <a:xfrm>
            <a:off x="685800" y="1380744"/>
            <a:ext cx="10881360" cy="521207"/>
          </a:xfrm>
          <a:prstGeom prst="rect">
            <a:avLst/>
          </a:prstGeom>
          <a:noFill/>
        </p:spPr>
        <p:txBody>
          <a:bodyPr wrap="square" lIns="0" tIns="0" rIns="0" bIns="0" anchor="t">
            <a:noAutofit/>
          </a:bodyPr>
          <a:lstStyle/>
          <a:p>
            <a:pPr algn="l">
              <a:lnSpc>
                <a:spcPct val="115000"/>
              </a:lnSpc>
              <a:spcBef>
                <a:spcPts val="0"/>
              </a:spcBef>
              <a:spcAft>
                <a:spcPts val="0"/>
              </a:spcAft>
            </a:pPr>
            <a:r>
              <a:rPr sz="1400" b="0">
                <a:solidFill>
                  <a:srgbClr val="1F2E3B"/>
                </a:solidFill>
                <a:latin typeface="Arial"/>
              </a:rPr>
              <a:t>This proposed three-Sprint pilot uses Scrum practices and measures outcomes </a:t>
            </a:r>
            <a:r>
              <a:rPr sz="1120" b="0">
                <a:solidFill>
                  <a:srgbClr val="2B5A7E"/>
                </a:solidFill>
                <a:latin typeface="Arial"/>
              </a:rPr>
              <a:t>(Schwaber &amp; Sutherland, 2020; Digital.ai, 2025).</a:t>
            </a:r>
          </a:p>
        </p:txBody>
      </p:sp>
      <p:cxnSp>
        <p:nvCxnSpPr>
          <p:cNvPr id="5" name="Connector 4"/>
          <p:cNvCxnSpPr/>
          <p:nvPr/>
        </p:nvCxnSpPr>
        <p:spPr>
          <a:xfrm>
            <a:off x="685800" y="1897380"/>
            <a:ext cx="10808208" cy="0"/>
          </a:xfrm>
          <a:prstGeom prst="line">
            <a:avLst/>
          </a:prstGeom>
          <a:ln w="13970">
            <a:solidFill>
              <a:srgbClr val="D8DF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991088" y="6419088"/>
            <a:ext cx="521207" cy="237744"/>
          </a:xfrm>
          <a:prstGeom prst="rect">
            <a:avLst/>
          </a:prstGeom>
          <a:noFill/>
        </p:spPr>
        <p:txBody>
          <a:bodyPr wrap="square" lIns="0" tIns="0" rIns="0" bIns="0" anchor="t">
            <a:spAutoFit/>
          </a:bodyPr>
          <a:lstStyle/>
          <a:p>
            <a:pPr algn="r">
              <a:lnSpc>
                <a:spcPct val="115000"/>
              </a:lnSpc>
              <a:spcBef>
                <a:spcPts val="0"/>
              </a:spcBef>
              <a:spcAft>
                <a:spcPts val="0"/>
              </a:spcAft>
            </a:pPr>
            <a:r>
              <a:rPr sz="1050" b="0" i="0">
                <a:solidFill>
                  <a:srgbClr val="65737E"/>
                </a:solidFill>
                <a:latin typeface="Arial"/>
              </a:rPr>
              <a:t>12</a:t>
            </a:r>
          </a:p>
        </p:txBody>
      </p:sp>
      <p:sp>
        <p:nvSpPr>
          <p:cNvPr id="8" name="TextBox 7"/>
          <p:cNvSpPr txBox="1"/>
          <p:nvPr/>
        </p:nvSpPr>
        <p:spPr>
          <a:xfrm>
            <a:off x="731520" y="2157984"/>
            <a:ext cx="5577840" cy="274320"/>
          </a:xfrm>
          <a:prstGeom prst="rect">
            <a:avLst/>
          </a:prstGeom>
          <a:noFill/>
        </p:spPr>
        <p:txBody>
          <a:bodyPr wrap="square" lIns="0" tIns="0" rIns="0" bIns="0" anchor="t">
            <a:spAutoFit/>
          </a:bodyPr>
          <a:lstStyle/>
          <a:p>
            <a:pPr algn="l">
              <a:lnSpc>
                <a:spcPct val="115000"/>
              </a:lnSpc>
              <a:spcBef>
                <a:spcPts val="0"/>
              </a:spcBef>
              <a:spcAft>
                <a:spcPts val="0"/>
              </a:spcAft>
            </a:pPr>
            <a:r>
              <a:rPr sz="1190" b="1" i="0">
                <a:solidFill>
                  <a:srgbClr val="326084"/>
                </a:solidFill>
                <a:latin typeface="Arial"/>
              </a:rPr>
              <a:t>THREE-SPRINT PILOT</a:t>
            </a:r>
          </a:p>
        </p:txBody>
      </p:sp>
      <p:sp>
        <p:nvSpPr>
          <p:cNvPr id="9" name="Rectangle 8"/>
          <p:cNvSpPr/>
          <p:nvPr/>
        </p:nvSpPr>
        <p:spPr>
          <a:xfrm>
            <a:off x="722376" y="2596896"/>
            <a:ext cx="6565392" cy="932688"/>
          </a:xfrm>
          <a:prstGeom prst="rect">
            <a:avLst/>
          </a:prstGeom>
          <a:solidFill>
            <a:srgbClr val="FFFFFF"/>
          </a:solidFill>
          <a:ln w="1016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798064"/>
            <a:ext cx="1627632" cy="292608"/>
          </a:xfrm>
          <a:prstGeom prst="rect">
            <a:avLst/>
          </a:prstGeom>
          <a:noFill/>
        </p:spPr>
        <p:txBody>
          <a:bodyPr wrap="square" lIns="0" tIns="0" rIns="0" bIns="0" anchor="t">
            <a:spAutoFit/>
          </a:bodyPr>
          <a:lstStyle/>
          <a:p>
            <a:pPr algn="l">
              <a:lnSpc>
                <a:spcPct val="115000"/>
              </a:lnSpc>
              <a:spcBef>
                <a:spcPts val="0"/>
              </a:spcBef>
              <a:spcAft>
                <a:spcPts val="0"/>
              </a:spcAft>
            </a:pPr>
            <a:r>
              <a:rPr sz="1450" b="1" i="0">
                <a:solidFill>
                  <a:srgbClr val="1F2E3B"/>
                </a:solidFill>
                <a:latin typeface="Arial"/>
              </a:rPr>
              <a:t>SPRINT 1</a:t>
            </a:r>
          </a:p>
        </p:txBody>
      </p:sp>
      <p:sp>
        <p:nvSpPr>
          <p:cNvPr id="11" name="TextBox 10"/>
          <p:cNvSpPr txBox="1"/>
          <p:nvPr/>
        </p:nvSpPr>
        <p:spPr>
          <a:xfrm>
            <a:off x="2615184" y="2752344"/>
            <a:ext cx="4453128" cy="621792"/>
          </a:xfrm>
          <a:prstGeom prst="rect">
            <a:avLst/>
          </a:prstGeom>
          <a:noFill/>
        </p:spPr>
        <p:txBody>
          <a:bodyPr wrap="square" lIns="0" tIns="0" rIns="0" bIns="0" anchor="t">
            <a:spAutoFit/>
          </a:bodyPr>
          <a:lstStyle/>
          <a:p>
            <a:pPr algn="l">
              <a:lnSpc>
                <a:spcPct val="115000"/>
              </a:lnSpc>
              <a:spcBef>
                <a:spcPts val="0"/>
              </a:spcBef>
              <a:spcAft>
                <a:spcPts val="0"/>
              </a:spcAft>
            </a:pPr>
            <a:r>
              <a:rPr sz="1390" b="0" i="0" dirty="0">
                <a:solidFill>
                  <a:srgbClr val="313D48"/>
                </a:solidFill>
                <a:latin typeface="Arial"/>
              </a:rPr>
              <a:t>Set Product Goal; empower Product Owner; baseline cycle time and defects.</a:t>
            </a:r>
          </a:p>
        </p:txBody>
      </p:sp>
      <p:sp>
        <p:nvSpPr>
          <p:cNvPr id="12" name="Rectangle 11"/>
          <p:cNvSpPr/>
          <p:nvPr/>
        </p:nvSpPr>
        <p:spPr>
          <a:xfrm>
            <a:off x="722376" y="3675887"/>
            <a:ext cx="6565392" cy="932688"/>
          </a:xfrm>
          <a:prstGeom prst="rect">
            <a:avLst/>
          </a:prstGeom>
          <a:solidFill>
            <a:srgbClr val="FFFFFF"/>
          </a:solidFill>
          <a:ln w="1016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3877055"/>
            <a:ext cx="1627632" cy="292608"/>
          </a:xfrm>
          <a:prstGeom prst="rect">
            <a:avLst/>
          </a:prstGeom>
          <a:noFill/>
        </p:spPr>
        <p:txBody>
          <a:bodyPr wrap="square" lIns="0" tIns="0" rIns="0" bIns="0" anchor="t">
            <a:spAutoFit/>
          </a:bodyPr>
          <a:lstStyle/>
          <a:p>
            <a:pPr algn="l">
              <a:lnSpc>
                <a:spcPct val="115000"/>
              </a:lnSpc>
              <a:spcBef>
                <a:spcPts val="0"/>
              </a:spcBef>
              <a:spcAft>
                <a:spcPts val="0"/>
              </a:spcAft>
            </a:pPr>
            <a:r>
              <a:rPr sz="1450" b="1" i="0">
                <a:solidFill>
                  <a:srgbClr val="1F2E3B"/>
                </a:solidFill>
                <a:latin typeface="Arial"/>
              </a:rPr>
              <a:t>SPRINT 2</a:t>
            </a:r>
          </a:p>
        </p:txBody>
      </p:sp>
      <p:sp>
        <p:nvSpPr>
          <p:cNvPr id="14" name="TextBox 13"/>
          <p:cNvSpPr txBox="1"/>
          <p:nvPr/>
        </p:nvSpPr>
        <p:spPr>
          <a:xfrm>
            <a:off x="2615184" y="3831335"/>
            <a:ext cx="4453128" cy="621792"/>
          </a:xfrm>
          <a:prstGeom prst="rect">
            <a:avLst/>
          </a:prstGeom>
          <a:noFill/>
        </p:spPr>
        <p:txBody>
          <a:bodyPr wrap="square" lIns="0" tIns="0" rIns="0" bIns="0" anchor="t">
            <a:spAutoFit/>
          </a:bodyPr>
          <a:lstStyle/>
          <a:p>
            <a:pPr algn="l">
              <a:lnSpc>
                <a:spcPct val="115000"/>
              </a:lnSpc>
              <a:spcBef>
                <a:spcPts val="0"/>
              </a:spcBef>
              <a:spcAft>
                <a:spcPts val="0"/>
              </a:spcAft>
            </a:pPr>
            <a:r>
              <a:rPr sz="1390" b="0" i="0" dirty="0">
                <a:solidFill>
                  <a:srgbClr val="313D48"/>
                </a:solidFill>
                <a:latin typeface="Arial"/>
              </a:rPr>
              <a:t>Deliver a small usable increment; include testing in Definition of Done.</a:t>
            </a:r>
          </a:p>
        </p:txBody>
      </p:sp>
      <p:sp>
        <p:nvSpPr>
          <p:cNvPr id="15" name="Rectangle 14"/>
          <p:cNvSpPr/>
          <p:nvPr/>
        </p:nvSpPr>
        <p:spPr>
          <a:xfrm>
            <a:off x="722376" y="4754879"/>
            <a:ext cx="6565392" cy="932688"/>
          </a:xfrm>
          <a:prstGeom prst="rect">
            <a:avLst/>
          </a:prstGeom>
          <a:solidFill>
            <a:srgbClr val="FFFFFF"/>
          </a:solidFill>
          <a:ln w="1016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4956047"/>
            <a:ext cx="1627632" cy="292608"/>
          </a:xfrm>
          <a:prstGeom prst="rect">
            <a:avLst/>
          </a:prstGeom>
          <a:noFill/>
        </p:spPr>
        <p:txBody>
          <a:bodyPr wrap="square" lIns="0" tIns="0" rIns="0" bIns="0" anchor="t">
            <a:spAutoFit/>
          </a:bodyPr>
          <a:lstStyle/>
          <a:p>
            <a:pPr algn="l">
              <a:lnSpc>
                <a:spcPct val="115000"/>
              </a:lnSpc>
              <a:spcBef>
                <a:spcPts val="0"/>
              </a:spcBef>
              <a:spcAft>
                <a:spcPts val="0"/>
              </a:spcAft>
            </a:pPr>
            <a:r>
              <a:rPr sz="1450" b="1" i="0">
                <a:solidFill>
                  <a:srgbClr val="1F2E3B"/>
                </a:solidFill>
                <a:latin typeface="Arial"/>
              </a:rPr>
              <a:t>SPRINT 3</a:t>
            </a:r>
          </a:p>
        </p:txBody>
      </p:sp>
      <p:sp>
        <p:nvSpPr>
          <p:cNvPr id="17" name="TextBox 16"/>
          <p:cNvSpPr txBox="1"/>
          <p:nvPr/>
        </p:nvSpPr>
        <p:spPr>
          <a:xfrm>
            <a:off x="2615184" y="4910327"/>
            <a:ext cx="4453128" cy="621792"/>
          </a:xfrm>
          <a:prstGeom prst="rect">
            <a:avLst/>
          </a:prstGeom>
          <a:noFill/>
        </p:spPr>
        <p:txBody>
          <a:bodyPr wrap="square" lIns="0" tIns="0" rIns="0" bIns="0" anchor="t">
            <a:spAutoFit/>
          </a:bodyPr>
          <a:lstStyle/>
          <a:p>
            <a:pPr algn="l">
              <a:lnSpc>
                <a:spcPct val="115000"/>
              </a:lnSpc>
              <a:spcBef>
                <a:spcPts val="0"/>
              </a:spcBef>
              <a:spcAft>
                <a:spcPts val="0"/>
              </a:spcAft>
            </a:pPr>
            <a:r>
              <a:rPr sz="1390" b="0" i="0" dirty="0">
                <a:solidFill>
                  <a:srgbClr val="313D48"/>
                </a:solidFill>
                <a:latin typeface="Arial"/>
              </a:rPr>
              <a:t>Review stakeholder feedback; inspect blocked work; compare pilot metrics.</a:t>
            </a:r>
          </a:p>
        </p:txBody>
      </p:sp>
      <p:sp>
        <p:nvSpPr>
          <p:cNvPr id="18" name="Rectangle 17"/>
          <p:cNvSpPr/>
          <p:nvPr/>
        </p:nvSpPr>
        <p:spPr>
          <a:xfrm>
            <a:off x="7571231" y="2587752"/>
            <a:ext cx="3931920" cy="3090672"/>
          </a:xfrm>
          <a:prstGeom prst="rect">
            <a:avLst/>
          </a:prstGeom>
          <a:solidFill>
            <a:srgbClr val="F5F7F9"/>
          </a:solidFill>
          <a:ln w="10160">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18120" y="2807208"/>
            <a:ext cx="3429000" cy="658368"/>
          </a:xfrm>
          <a:prstGeom prst="rect">
            <a:avLst/>
          </a:prstGeom>
          <a:noFill/>
        </p:spPr>
        <p:txBody>
          <a:bodyPr wrap="square" lIns="0" tIns="0" rIns="0" bIns="0" anchor="t">
            <a:spAutoFit/>
          </a:bodyPr>
          <a:lstStyle/>
          <a:p>
            <a:pPr algn="l">
              <a:lnSpc>
                <a:spcPct val="105000"/>
              </a:lnSpc>
              <a:spcBef>
                <a:spcPts val="0"/>
              </a:spcBef>
              <a:spcAft>
                <a:spcPts val="0"/>
              </a:spcAft>
            </a:pPr>
            <a:r>
              <a:rPr sz="1400" b="1" i="0" dirty="0">
                <a:solidFill>
                  <a:srgbClr val="326084"/>
                </a:solidFill>
                <a:latin typeface="Arial"/>
              </a:rPr>
              <a:t>TRACK OUTCOMES,</a:t>
            </a:r>
          </a:p>
          <a:p>
            <a:pPr algn="l">
              <a:lnSpc>
                <a:spcPct val="105000"/>
              </a:lnSpc>
              <a:spcBef>
                <a:spcPts val="0"/>
              </a:spcBef>
              <a:spcAft>
                <a:spcPts val="0"/>
              </a:spcAft>
            </a:pPr>
            <a:r>
              <a:rPr sz="1400" b="1" i="0" dirty="0">
                <a:solidFill>
                  <a:srgbClr val="326084"/>
                </a:solidFill>
                <a:latin typeface="Arial"/>
              </a:rPr>
              <a:t>NOT JUST ACTIVITY</a:t>
            </a:r>
          </a:p>
        </p:txBody>
      </p:sp>
      <p:sp>
        <p:nvSpPr>
          <p:cNvPr id="20" name="TextBox 19"/>
          <p:cNvSpPr txBox="1"/>
          <p:nvPr/>
        </p:nvSpPr>
        <p:spPr>
          <a:xfrm>
            <a:off x="7818120" y="3657600"/>
            <a:ext cx="3429000" cy="338328"/>
          </a:xfrm>
          <a:prstGeom prst="rect">
            <a:avLst/>
          </a:prstGeom>
          <a:noFill/>
        </p:spPr>
        <p:txBody>
          <a:bodyPr wrap="square" lIns="0" tIns="0" rIns="0" bIns="0" anchor="t">
            <a:spAutoFit/>
          </a:bodyPr>
          <a:lstStyle/>
          <a:p>
            <a:pPr algn="l">
              <a:lnSpc>
                <a:spcPct val="115000"/>
              </a:lnSpc>
              <a:spcBef>
                <a:spcPts val="0"/>
              </a:spcBef>
              <a:spcAft>
                <a:spcPts val="0"/>
              </a:spcAft>
            </a:pPr>
            <a:r>
              <a:rPr sz="1375" b="0" i="0">
                <a:solidFill>
                  <a:srgbClr val="313D48"/>
                </a:solidFill>
                <a:latin typeface="Arial"/>
              </a:rPr>
              <a:t>•  Story cycle time</a:t>
            </a:r>
          </a:p>
        </p:txBody>
      </p:sp>
      <p:sp>
        <p:nvSpPr>
          <p:cNvPr id="21" name="TextBox 20"/>
          <p:cNvSpPr txBox="1"/>
          <p:nvPr/>
        </p:nvSpPr>
        <p:spPr>
          <a:xfrm>
            <a:off x="7818120" y="4087368"/>
            <a:ext cx="3429000" cy="338328"/>
          </a:xfrm>
          <a:prstGeom prst="rect">
            <a:avLst/>
          </a:prstGeom>
          <a:noFill/>
        </p:spPr>
        <p:txBody>
          <a:bodyPr wrap="square" lIns="0" tIns="0" rIns="0" bIns="0" anchor="t">
            <a:spAutoFit/>
          </a:bodyPr>
          <a:lstStyle/>
          <a:p>
            <a:pPr algn="l">
              <a:lnSpc>
                <a:spcPct val="115000"/>
              </a:lnSpc>
              <a:spcBef>
                <a:spcPts val="0"/>
              </a:spcBef>
              <a:spcAft>
                <a:spcPts val="0"/>
              </a:spcAft>
            </a:pPr>
            <a:r>
              <a:rPr sz="1375" b="0" i="0">
                <a:solidFill>
                  <a:srgbClr val="313D48"/>
                </a:solidFill>
                <a:latin typeface="Arial"/>
              </a:rPr>
              <a:t>•  Acceptance-test pass rate</a:t>
            </a:r>
          </a:p>
        </p:txBody>
      </p:sp>
      <p:sp>
        <p:nvSpPr>
          <p:cNvPr id="22" name="TextBox 21"/>
          <p:cNvSpPr txBox="1"/>
          <p:nvPr/>
        </p:nvSpPr>
        <p:spPr>
          <a:xfrm>
            <a:off x="7818120" y="4517136"/>
            <a:ext cx="3429000" cy="338328"/>
          </a:xfrm>
          <a:prstGeom prst="rect">
            <a:avLst/>
          </a:prstGeom>
          <a:noFill/>
        </p:spPr>
        <p:txBody>
          <a:bodyPr wrap="square" lIns="0" tIns="0" rIns="0" bIns="0" anchor="t">
            <a:spAutoFit/>
          </a:bodyPr>
          <a:lstStyle/>
          <a:p>
            <a:pPr algn="l">
              <a:lnSpc>
                <a:spcPct val="115000"/>
              </a:lnSpc>
              <a:spcBef>
                <a:spcPts val="0"/>
              </a:spcBef>
              <a:spcAft>
                <a:spcPts val="0"/>
              </a:spcAft>
            </a:pPr>
            <a:r>
              <a:rPr sz="1375" b="0" i="0">
                <a:solidFill>
                  <a:srgbClr val="313D48"/>
                </a:solidFill>
                <a:latin typeface="Arial"/>
              </a:rPr>
              <a:t>•  Escaped defects</a:t>
            </a:r>
          </a:p>
        </p:txBody>
      </p:sp>
      <p:sp>
        <p:nvSpPr>
          <p:cNvPr id="23" name="TextBox 22"/>
          <p:cNvSpPr txBox="1"/>
          <p:nvPr/>
        </p:nvSpPr>
        <p:spPr>
          <a:xfrm>
            <a:off x="7818120" y="4946904"/>
            <a:ext cx="3429000" cy="338328"/>
          </a:xfrm>
          <a:prstGeom prst="rect">
            <a:avLst/>
          </a:prstGeom>
          <a:noFill/>
        </p:spPr>
        <p:txBody>
          <a:bodyPr wrap="square" lIns="0" tIns="0" rIns="0" bIns="0" anchor="t">
            <a:spAutoFit/>
          </a:bodyPr>
          <a:lstStyle/>
          <a:p>
            <a:pPr algn="l">
              <a:lnSpc>
                <a:spcPct val="115000"/>
              </a:lnSpc>
              <a:spcBef>
                <a:spcPts val="0"/>
              </a:spcBef>
              <a:spcAft>
                <a:spcPts val="0"/>
              </a:spcAft>
            </a:pPr>
            <a:r>
              <a:rPr sz="1375" b="0" i="0">
                <a:solidFill>
                  <a:srgbClr val="313D48"/>
                </a:solidFill>
                <a:latin typeface="Arial"/>
              </a:rPr>
              <a:t>•  Stakeholder feedback</a:t>
            </a:r>
          </a:p>
        </p:txBody>
      </p:sp>
      <p:sp>
        <p:nvSpPr>
          <p:cNvPr id="24" name="TextBox 23"/>
          <p:cNvSpPr txBox="1"/>
          <p:nvPr/>
        </p:nvSpPr>
        <p:spPr>
          <a:xfrm>
            <a:off x="685800" y="6382512"/>
            <a:ext cx="9875520" cy="237744"/>
          </a:xfrm>
          <a:prstGeom prst="rect">
            <a:avLst/>
          </a:prstGeom>
          <a:noFill/>
        </p:spPr>
        <p:txBody>
          <a:bodyPr wrap="none" lIns="0" tIns="0" rIns="0" bIns="0">
            <a:spAutoFit/>
          </a:bodyPr>
          <a:lstStyle/>
          <a:p>
            <a:r>
              <a:rPr sz="930">
                <a:solidFill>
                  <a:srgbClr val="616F7A"/>
                </a:solidFill>
                <a:latin typeface="Arial"/>
              </a:rPr>
              <a:t>Complete reference entries and source links: slides 14–15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04088" y="393192"/>
            <a:ext cx="9144000" cy="292608"/>
          </a:xfrm>
          <a:prstGeom prst="rect">
            <a:avLst/>
          </a:prstGeom>
          <a:noFill/>
        </p:spPr>
        <p:txBody>
          <a:bodyPr wrap="square" lIns="0" tIns="0" rIns="0" bIns="0" anchor="t">
            <a:spAutoFit/>
          </a:bodyPr>
          <a:lstStyle/>
          <a:p>
            <a:pPr algn="l">
              <a:lnSpc>
                <a:spcPct val="115000"/>
              </a:lnSpc>
              <a:spcBef>
                <a:spcPts val="0"/>
              </a:spcBef>
              <a:spcAft>
                <a:spcPts val="0"/>
              </a:spcAft>
            </a:pPr>
            <a:r>
              <a:rPr sz="1200" b="1" i="0">
                <a:solidFill>
                  <a:srgbClr val="326084"/>
                </a:solidFill>
                <a:latin typeface="Arial"/>
              </a:rPr>
              <a:t>LEADERSHIP DECISION</a:t>
            </a:r>
          </a:p>
        </p:txBody>
      </p:sp>
      <p:sp>
        <p:nvSpPr>
          <p:cNvPr id="3" name="TextBox 2"/>
          <p:cNvSpPr txBox="1"/>
          <p:nvPr/>
        </p:nvSpPr>
        <p:spPr>
          <a:xfrm>
            <a:off x="694944" y="914400"/>
            <a:ext cx="10725912" cy="1261872"/>
          </a:xfrm>
          <a:prstGeom prst="rect">
            <a:avLst/>
          </a:prstGeom>
          <a:noFill/>
        </p:spPr>
        <p:txBody>
          <a:bodyPr wrap="square" lIns="0" tIns="0" rIns="0" bIns="0" anchor="t">
            <a:spAutoFit/>
          </a:bodyPr>
          <a:lstStyle/>
          <a:p>
            <a:pPr algn="l">
              <a:lnSpc>
                <a:spcPct val="106000"/>
              </a:lnSpc>
              <a:spcBef>
                <a:spcPts val="0"/>
              </a:spcBef>
              <a:spcAft>
                <a:spcPts val="0"/>
              </a:spcAft>
            </a:pPr>
            <a:r>
              <a:rPr sz="3400" b="1" i="0">
                <a:solidFill>
                  <a:srgbClr val="1F2E3B"/>
                </a:solidFill>
                <a:latin typeface="Arial"/>
              </a:rPr>
              <a:t>Authorize a measured Scrum pilot—</a:t>
            </a:r>
          </a:p>
          <a:p>
            <a:pPr algn="l">
              <a:lnSpc>
                <a:spcPct val="106000"/>
              </a:lnSpc>
              <a:spcBef>
                <a:spcPts val="0"/>
              </a:spcBef>
              <a:spcAft>
                <a:spcPts val="0"/>
              </a:spcAft>
            </a:pPr>
            <a:r>
              <a:rPr sz="3400" b="1" i="0">
                <a:solidFill>
                  <a:srgbClr val="1F2E3B"/>
                </a:solidFill>
                <a:latin typeface="Arial"/>
              </a:rPr>
              <a:t>not a blanket rollout.</a:t>
            </a:r>
          </a:p>
        </p:txBody>
      </p:sp>
      <p:cxnSp>
        <p:nvCxnSpPr>
          <p:cNvPr id="4" name="Connector 3"/>
          <p:cNvCxnSpPr/>
          <p:nvPr/>
        </p:nvCxnSpPr>
        <p:spPr>
          <a:xfrm>
            <a:off x="704088" y="2304288"/>
            <a:ext cx="10780776" cy="0"/>
          </a:xfrm>
          <a:prstGeom prst="line">
            <a:avLst/>
          </a:prstGeom>
          <a:ln w="15240">
            <a:solidFill>
              <a:srgbClr val="D8DFE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77240" y="2724912"/>
            <a:ext cx="594360" cy="310896"/>
          </a:xfrm>
          <a:prstGeom prst="rect">
            <a:avLst/>
          </a:prstGeom>
          <a:noFill/>
        </p:spPr>
        <p:txBody>
          <a:bodyPr wrap="square" lIns="0" tIns="0" rIns="0" bIns="0" anchor="t">
            <a:spAutoFit/>
          </a:bodyPr>
          <a:lstStyle/>
          <a:p>
            <a:pPr algn="l">
              <a:lnSpc>
                <a:spcPct val="115000"/>
              </a:lnSpc>
              <a:spcBef>
                <a:spcPts val="0"/>
              </a:spcBef>
              <a:spcAft>
                <a:spcPts val="0"/>
              </a:spcAft>
            </a:pPr>
            <a:r>
              <a:rPr sz="1600" b="1" i="0">
                <a:solidFill>
                  <a:srgbClr val="326084"/>
                </a:solidFill>
                <a:latin typeface="Arial"/>
              </a:rPr>
              <a:t>01</a:t>
            </a:r>
          </a:p>
        </p:txBody>
      </p:sp>
      <p:sp>
        <p:nvSpPr>
          <p:cNvPr id="6" name="TextBox 5"/>
          <p:cNvSpPr txBox="1"/>
          <p:nvPr/>
        </p:nvSpPr>
        <p:spPr>
          <a:xfrm>
            <a:off x="1426464" y="2679191"/>
            <a:ext cx="2697480" cy="384048"/>
          </a:xfrm>
          <a:prstGeom prst="rect">
            <a:avLst/>
          </a:prstGeom>
          <a:noFill/>
        </p:spPr>
        <p:txBody>
          <a:bodyPr wrap="square" lIns="0" tIns="0" rIns="0" bIns="0" anchor="t">
            <a:spAutoFit/>
          </a:bodyPr>
          <a:lstStyle/>
          <a:p>
            <a:pPr algn="l">
              <a:lnSpc>
                <a:spcPct val="115000"/>
              </a:lnSpc>
              <a:spcBef>
                <a:spcPts val="0"/>
              </a:spcBef>
              <a:spcAft>
                <a:spcPts val="0"/>
              </a:spcAft>
            </a:pPr>
            <a:r>
              <a:rPr sz="1600" b="1" i="0">
                <a:solidFill>
                  <a:srgbClr val="1F2E3B"/>
                </a:solidFill>
                <a:latin typeface="Arial"/>
              </a:rPr>
              <a:t>EMPOWER</a:t>
            </a:r>
          </a:p>
        </p:txBody>
      </p:sp>
      <p:sp>
        <p:nvSpPr>
          <p:cNvPr id="7" name="TextBox 6"/>
          <p:cNvSpPr txBox="1"/>
          <p:nvPr/>
        </p:nvSpPr>
        <p:spPr>
          <a:xfrm>
            <a:off x="4160520" y="2670048"/>
            <a:ext cx="7031736" cy="493776"/>
          </a:xfrm>
          <a:prstGeom prst="rect">
            <a:avLst/>
          </a:prstGeom>
          <a:noFill/>
        </p:spPr>
        <p:txBody>
          <a:bodyPr wrap="square" lIns="0" tIns="0" rIns="0" bIns="0" anchor="t">
            <a:noAutofit/>
          </a:bodyPr>
          <a:lstStyle/>
          <a:p>
            <a:pPr algn="l">
              <a:lnSpc>
                <a:spcPct val="115000"/>
              </a:lnSpc>
              <a:spcBef>
                <a:spcPts val="0"/>
              </a:spcBef>
              <a:spcAft>
                <a:spcPts val="0"/>
              </a:spcAft>
            </a:pPr>
            <a:r>
              <a:rPr sz="1460" b="0">
                <a:solidFill>
                  <a:srgbClr val="1F2E3B"/>
                </a:solidFill>
                <a:latin typeface="Arial"/>
              </a:rPr>
              <a:t>Let the Product Owner order the backlog </a:t>
            </a:r>
            <a:r>
              <a:rPr sz="1150" b="0">
                <a:solidFill>
                  <a:srgbClr val="2B5A7E"/>
                </a:solidFill>
                <a:latin typeface="Arial"/>
              </a:rPr>
              <a:t>(Schwaber &amp; Sutherland, 2020).</a:t>
            </a:r>
          </a:p>
        </p:txBody>
      </p:sp>
      <p:cxnSp>
        <p:nvCxnSpPr>
          <p:cNvPr id="8" name="Connector 7"/>
          <p:cNvCxnSpPr/>
          <p:nvPr/>
        </p:nvCxnSpPr>
        <p:spPr>
          <a:xfrm>
            <a:off x="740664" y="3273552"/>
            <a:ext cx="10689336" cy="0"/>
          </a:xfrm>
          <a:prstGeom prst="line">
            <a:avLst/>
          </a:prstGeom>
          <a:ln w="10160">
            <a:solidFill>
              <a:srgbClr val="D8DF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77240" y="3566160"/>
            <a:ext cx="594360" cy="310896"/>
          </a:xfrm>
          <a:prstGeom prst="rect">
            <a:avLst/>
          </a:prstGeom>
          <a:noFill/>
        </p:spPr>
        <p:txBody>
          <a:bodyPr wrap="square" lIns="0" tIns="0" rIns="0" bIns="0" anchor="t">
            <a:spAutoFit/>
          </a:bodyPr>
          <a:lstStyle/>
          <a:p>
            <a:pPr algn="l">
              <a:lnSpc>
                <a:spcPct val="115000"/>
              </a:lnSpc>
              <a:spcBef>
                <a:spcPts val="0"/>
              </a:spcBef>
              <a:spcAft>
                <a:spcPts val="0"/>
              </a:spcAft>
            </a:pPr>
            <a:r>
              <a:rPr sz="1600" b="1" i="0">
                <a:solidFill>
                  <a:srgbClr val="326084"/>
                </a:solidFill>
                <a:latin typeface="Arial"/>
              </a:rPr>
              <a:t>02</a:t>
            </a:r>
          </a:p>
        </p:txBody>
      </p:sp>
      <p:sp>
        <p:nvSpPr>
          <p:cNvPr id="10" name="TextBox 9"/>
          <p:cNvSpPr txBox="1"/>
          <p:nvPr/>
        </p:nvSpPr>
        <p:spPr>
          <a:xfrm>
            <a:off x="1426464" y="3520439"/>
            <a:ext cx="2697480" cy="384048"/>
          </a:xfrm>
          <a:prstGeom prst="rect">
            <a:avLst/>
          </a:prstGeom>
          <a:noFill/>
        </p:spPr>
        <p:txBody>
          <a:bodyPr wrap="square" lIns="0" tIns="0" rIns="0" bIns="0" anchor="t">
            <a:spAutoFit/>
          </a:bodyPr>
          <a:lstStyle/>
          <a:p>
            <a:pPr algn="l">
              <a:lnSpc>
                <a:spcPct val="115000"/>
              </a:lnSpc>
              <a:spcBef>
                <a:spcPts val="0"/>
              </a:spcBef>
              <a:spcAft>
                <a:spcPts val="0"/>
              </a:spcAft>
            </a:pPr>
            <a:r>
              <a:rPr sz="1600" b="1" i="0">
                <a:solidFill>
                  <a:srgbClr val="1F2E3B"/>
                </a:solidFill>
                <a:latin typeface="Arial"/>
              </a:rPr>
              <a:t>PROTECT QUALITY</a:t>
            </a:r>
          </a:p>
        </p:txBody>
      </p:sp>
      <p:sp>
        <p:nvSpPr>
          <p:cNvPr id="11" name="TextBox 10"/>
          <p:cNvSpPr txBox="1"/>
          <p:nvPr/>
        </p:nvSpPr>
        <p:spPr>
          <a:xfrm>
            <a:off x="4160520" y="3511296"/>
            <a:ext cx="7031736" cy="493776"/>
          </a:xfrm>
          <a:prstGeom prst="rect">
            <a:avLst/>
          </a:prstGeom>
          <a:noFill/>
        </p:spPr>
        <p:txBody>
          <a:bodyPr wrap="square" lIns="0" tIns="0" rIns="0" bIns="0" anchor="t">
            <a:noAutofit/>
          </a:bodyPr>
          <a:lstStyle/>
          <a:p>
            <a:pPr algn="l">
              <a:lnSpc>
                <a:spcPct val="115000"/>
              </a:lnSpc>
              <a:spcBef>
                <a:spcPts val="0"/>
              </a:spcBef>
              <a:spcAft>
                <a:spcPts val="0"/>
              </a:spcAft>
            </a:pPr>
            <a:r>
              <a:rPr sz="1460" b="0">
                <a:solidFill>
                  <a:srgbClr val="1F2E3B"/>
                </a:solidFill>
                <a:latin typeface="Arial"/>
              </a:rPr>
              <a:t>Use one shared Definition of Done </a:t>
            </a:r>
            <a:r>
              <a:rPr sz="1150" b="0">
                <a:solidFill>
                  <a:srgbClr val="2B5A7E"/>
                </a:solidFill>
                <a:latin typeface="Arial"/>
              </a:rPr>
              <a:t>(Schwaber &amp; Sutherland, 2020).</a:t>
            </a:r>
          </a:p>
        </p:txBody>
      </p:sp>
      <p:cxnSp>
        <p:nvCxnSpPr>
          <p:cNvPr id="12" name="Connector 11"/>
          <p:cNvCxnSpPr/>
          <p:nvPr/>
        </p:nvCxnSpPr>
        <p:spPr>
          <a:xfrm>
            <a:off x="740664" y="4114800"/>
            <a:ext cx="10689336" cy="0"/>
          </a:xfrm>
          <a:prstGeom prst="line">
            <a:avLst/>
          </a:prstGeom>
          <a:ln w="10160">
            <a:solidFill>
              <a:srgbClr val="D8DF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77240" y="4407408"/>
            <a:ext cx="594360" cy="310896"/>
          </a:xfrm>
          <a:prstGeom prst="rect">
            <a:avLst/>
          </a:prstGeom>
          <a:noFill/>
        </p:spPr>
        <p:txBody>
          <a:bodyPr wrap="square" lIns="0" tIns="0" rIns="0" bIns="0" anchor="t">
            <a:spAutoFit/>
          </a:bodyPr>
          <a:lstStyle/>
          <a:p>
            <a:pPr algn="l">
              <a:lnSpc>
                <a:spcPct val="115000"/>
              </a:lnSpc>
              <a:spcBef>
                <a:spcPts val="0"/>
              </a:spcBef>
              <a:spcAft>
                <a:spcPts val="0"/>
              </a:spcAft>
            </a:pPr>
            <a:r>
              <a:rPr sz="1600" b="1" i="0">
                <a:solidFill>
                  <a:srgbClr val="326084"/>
                </a:solidFill>
                <a:latin typeface="Arial"/>
              </a:rPr>
              <a:t>03</a:t>
            </a:r>
          </a:p>
        </p:txBody>
      </p:sp>
      <p:sp>
        <p:nvSpPr>
          <p:cNvPr id="14" name="TextBox 13"/>
          <p:cNvSpPr txBox="1"/>
          <p:nvPr/>
        </p:nvSpPr>
        <p:spPr>
          <a:xfrm>
            <a:off x="1426464" y="4361688"/>
            <a:ext cx="2697480" cy="384048"/>
          </a:xfrm>
          <a:prstGeom prst="rect">
            <a:avLst/>
          </a:prstGeom>
          <a:noFill/>
        </p:spPr>
        <p:txBody>
          <a:bodyPr wrap="square" lIns="0" tIns="0" rIns="0" bIns="0" anchor="t">
            <a:spAutoFit/>
          </a:bodyPr>
          <a:lstStyle/>
          <a:p>
            <a:pPr algn="l">
              <a:lnSpc>
                <a:spcPct val="115000"/>
              </a:lnSpc>
              <a:spcBef>
                <a:spcPts val="0"/>
              </a:spcBef>
              <a:spcAft>
                <a:spcPts val="0"/>
              </a:spcAft>
            </a:pPr>
            <a:r>
              <a:rPr sz="1600" b="1" i="0">
                <a:solidFill>
                  <a:srgbClr val="1F2E3B"/>
                </a:solidFill>
                <a:latin typeface="Arial"/>
              </a:rPr>
              <a:t>LEARN PUBLICLY</a:t>
            </a:r>
          </a:p>
        </p:txBody>
      </p:sp>
      <p:sp>
        <p:nvSpPr>
          <p:cNvPr id="15" name="TextBox 14"/>
          <p:cNvSpPr txBox="1"/>
          <p:nvPr/>
        </p:nvSpPr>
        <p:spPr>
          <a:xfrm>
            <a:off x="4160520" y="4352544"/>
            <a:ext cx="7031736" cy="493776"/>
          </a:xfrm>
          <a:prstGeom prst="rect">
            <a:avLst/>
          </a:prstGeom>
          <a:noFill/>
        </p:spPr>
        <p:txBody>
          <a:bodyPr wrap="square" lIns="0" tIns="0" rIns="0" bIns="0" anchor="t">
            <a:noAutofit/>
          </a:bodyPr>
          <a:lstStyle/>
          <a:p>
            <a:pPr algn="l">
              <a:lnSpc>
                <a:spcPct val="115000"/>
              </a:lnSpc>
              <a:spcBef>
                <a:spcPts val="0"/>
              </a:spcBef>
              <a:spcAft>
                <a:spcPts val="0"/>
              </a:spcAft>
            </a:pPr>
            <a:r>
              <a:rPr sz="1460" b="0">
                <a:solidFill>
                  <a:srgbClr val="1F2E3B"/>
                </a:solidFill>
                <a:latin typeface="Arial"/>
              </a:rPr>
              <a:t>Inspect and adapt in every Sprint </a:t>
            </a:r>
            <a:r>
              <a:rPr sz="1150" b="0">
                <a:solidFill>
                  <a:srgbClr val="2B5A7E"/>
                </a:solidFill>
                <a:latin typeface="Arial"/>
              </a:rPr>
              <a:t>(Schwaber &amp; Sutherland, 2020).</a:t>
            </a:r>
          </a:p>
        </p:txBody>
      </p:sp>
      <p:cxnSp>
        <p:nvCxnSpPr>
          <p:cNvPr id="16" name="Connector 15"/>
          <p:cNvCxnSpPr/>
          <p:nvPr/>
        </p:nvCxnSpPr>
        <p:spPr>
          <a:xfrm>
            <a:off x="740664" y="4956048"/>
            <a:ext cx="10689336" cy="0"/>
          </a:xfrm>
          <a:prstGeom prst="line">
            <a:avLst/>
          </a:prstGeom>
          <a:ln w="10160">
            <a:solidFill>
              <a:srgbClr val="D8DFE4"/>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722376" y="5440680"/>
            <a:ext cx="10762488" cy="630936"/>
          </a:xfrm>
          <a:prstGeom prst="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50976" y="5605272"/>
            <a:ext cx="10158984" cy="457200"/>
          </a:xfrm>
          <a:prstGeom prst="rect">
            <a:avLst/>
          </a:prstGeom>
          <a:noFill/>
        </p:spPr>
        <p:txBody>
          <a:bodyPr wrap="square" lIns="0" tIns="0" rIns="0" bIns="0" anchor="t">
            <a:noAutofit/>
          </a:bodyPr>
          <a:lstStyle/>
          <a:p>
            <a:pPr algn="l">
              <a:lnSpc>
                <a:spcPct val="115000"/>
              </a:lnSpc>
              <a:spcBef>
                <a:spcPts val="0"/>
              </a:spcBef>
              <a:spcAft>
                <a:spcPts val="0"/>
              </a:spcAft>
            </a:pPr>
            <a:r>
              <a:rPr sz="1300" b="0">
                <a:solidFill>
                  <a:srgbClr val="1F2E3B"/>
                </a:solidFill>
                <a:latin typeface="Arial"/>
              </a:rPr>
              <a:t>Compare pilot results with predictive and hybrid options before scaling </a:t>
            </a:r>
            <a:r>
              <a:rPr sz="1080" b="0">
                <a:solidFill>
                  <a:srgbClr val="2B5A7E"/>
                </a:solidFill>
                <a:latin typeface="Arial"/>
              </a:rPr>
              <a:t>(Project Management Institute, 2024).</a:t>
            </a:r>
          </a:p>
        </p:txBody>
      </p:sp>
      <p:sp>
        <p:nvSpPr>
          <p:cNvPr id="19" name="TextBox 18"/>
          <p:cNvSpPr txBox="1"/>
          <p:nvPr/>
        </p:nvSpPr>
        <p:spPr>
          <a:xfrm>
            <a:off x="11009376" y="6428232"/>
            <a:ext cx="493776" cy="237744"/>
          </a:xfrm>
          <a:prstGeom prst="rect">
            <a:avLst/>
          </a:prstGeom>
          <a:noFill/>
        </p:spPr>
        <p:txBody>
          <a:bodyPr wrap="square" lIns="0" tIns="0" rIns="0" bIns="0" anchor="t">
            <a:spAutoFit/>
          </a:bodyPr>
          <a:lstStyle/>
          <a:p>
            <a:pPr algn="r">
              <a:lnSpc>
                <a:spcPct val="115000"/>
              </a:lnSpc>
              <a:spcBef>
                <a:spcPts val="0"/>
              </a:spcBef>
              <a:spcAft>
                <a:spcPts val="0"/>
              </a:spcAft>
            </a:pPr>
            <a:r>
              <a:rPr sz="1050" b="0" i="0">
                <a:solidFill>
                  <a:srgbClr val="65737E"/>
                </a:solidFill>
                <a:latin typeface="Arial"/>
              </a:rPr>
              <a:t>13</a:t>
            </a:r>
          </a:p>
        </p:txBody>
      </p:sp>
      <p:sp>
        <p:nvSpPr>
          <p:cNvPr id="20" name="TextBox 19"/>
          <p:cNvSpPr txBox="1"/>
          <p:nvPr/>
        </p:nvSpPr>
        <p:spPr>
          <a:xfrm>
            <a:off x="685800" y="6382512"/>
            <a:ext cx="9875520" cy="237744"/>
          </a:xfrm>
          <a:prstGeom prst="rect">
            <a:avLst/>
          </a:prstGeom>
          <a:noFill/>
        </p:spPr>
        <p:txBody>
          <a:bodyPr wrap="none" lIns="0" tIns="0" rIns="0" bIns="0">
            <a:spAutoFit/>
          </a:bodyPr>
          <a:lstStyle/>
          <a:p>
            <a:r>
              <a:rPr sz="930">
                <a:solidFill>
                  <a:srgbClr val="616F7A"/>
                </a:solidFill>
                <a:latin typeface="Arial"/>
              </a:rPr>
              <a:t>Complete reference entries and source links: slides 14–15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374904"/>
            <a:ext cx="9875520" cy="237744"/>
          </a:xfrm>
          <a:prstGeom prst="rect">
            <a:avLst/>
          </a:prstGeom>
          <a:noFill/>
        </p:spPr>
        <p:txBody>
          <a:bodyPr wrap="square" lIns="0" tIns="0" rIns="0" bIns="0" anchor="t">
            <a:spAutoFit/>
          </a:bodyPr>
          <a:lstStyle/>
          <a:p>
            <a:pPr algn="l">
              <a:lnSpc>
                <a:spcPct val="115000"/>
              </a:lnSpc>
              <a:spcBef>
                <a:spcPts val="0"/>
              </a:spcBef>
              <a:spcAft>
                <a:spcPts val="0"/>
              </a:spcAft>
            </a:pPr>
            <a:r>
              <a:rPr sz="1100" b="1" i="0">
                <a:solidFill>
                  <a:srgbClr val="326084"/>
                </a:solidFill>
                <a:latin typeface="Arial"/>
              </a:rPr>
              <a:t>SOURCES</a:t>
            </a:r>
          </a:p>
        </p:txBody>
      </p:sp>
      <p:sp>
        <p:nvSpPr>
          <p:cNvPr id="3" name="TextBox 2"/>
          <p:cNvSpPr txBox="1"/>
          <p:nvPr/>
        </p:nvSpPr>
        <p:spPr>
          <a:xfrm>
            <a:off x="676656" y="722376"/>
            <a:ext cx="10881360" cy="484632"/>
          </a:xfrm>
          <a:prstGeom prst="rect">
            <a:avLst/>
          </a:prstGeom>
          <a:noFill/>
        </p:spPr>
        <p:txBody>
          <a:bodyPr wrap="square" lIns="0" tIns="0" rIns="0" bIns="0" anchor="t">
            <a:spAutoFit/>
          </a:bodyPr>
          <a:lstStyle/>
          <a:p>
            <a:r>
              <a:rPr sz="2900" b="1">
                <a:solidFill>
                  <a:srgbClr val="1F2E3B"/>
                </a:solidFill>
                <a:latin typeface="Arial"/>
              </a:rPr>
              <a:t>References  •  1 of 2</a:t>
            </a:r>
          </a:p>
        </p:txBody>
      </p:sp>
      <p:sp>
        <p:nvSpPr>
          <p:cNvPr id="4" name="TextBox 3"/>
          <p:cNvSpPr txBox="1"/>
          <p:nvPr/>
        </p:nvSpPr>
        <p:spPr>
          <a:xfrm>
            <a:off x="685800" y="1380744"/>
            <a:ext cx="10881360" cy="384048"/>
          </a:xfrm>
          <a:prstGeom prst="rect">
            <a:avLst/>
          </a:prstGeom>
          <a:noFill/>
        </p:spPr>
        <p:txBody>
          <a:bodyPr wrap="square" lIns="0" tIns="0" rIns="0" bIns="0" anchor="t">
            <a:spAutoFit/>
          </a:bodyPr>
          <a:lstStyle/>
          <a:p>
            <a:r>
              <a:rPr sz="1360">
                <a:solidFill>
                  <a:srgbClr val="62717E"/>
                </a:solidFill>
                <a:latin typeface="Arial"/>
              </a:rPr>
              <a:t>APA-style references for all professional sources cited in the slides.</a:t>
            </a:r>
          </a:p>
        </p:txBody>
      </p:sp>
      <p:cxnSp>
        <p:nvCxnSpPr>
          <p:cNvPr id="5" name="Connector 4"/>
          <p:cNvCxnSpPr/>
          <p:nvPr/>
        </p:nvCxnSpPr>
        <p:spPr>
          <a:xfrm>
            <a:off x="685800" y="1897380"/>
            <a:ext cx="10808208" cy="0"/>
          </a:xfrm>
          <a:prstGeom prst="line">
            <a:avLst/>
          </a:prstGeom>
          <a:ln w="13970">
            <a:solidFill>
              <a:srgbClr val="D8DFE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991088" y="6419088"/>
            <a:ext cx="521207" cy="237744"/>
          </a:xfrm>
          <a:prstGeom prst="rect">
            <a:avLst/>
          </a:prstGeom>
          <a:noFill/>
        </p:spPr>
        <p:txBody>
          <a:bodyPr wrap="square" lIns="0" tIns="0" rIns="0" bIns="0" anchor="t">
            <a:spAutoFit/>
          </a:bodyPr>
          <a:lstStyle/>
          <a:p>
            <a:pPr algn="r">
              <a:lnSpc>
                <a:spcPct val="115000"/>
              </a:lnSpc>
              <a:spcBef>
                <a:spcPts val="0"/>
              </a:spcBef>
              <a:spcAft>
                <a:spcPts val="0"/>
              </a:spcAft>
            </a:pPr>
            <a:r>
              <a:rPr sz="1050" b="0" i="0">
                <a:solidFill>
                  <a:srgbClr val="65737E"/>
                </a:solidFill>
                <a:latin typeface="Arial"/>
              </a:rPr>
              <a:t>14</a:t>
            </a:r>
          </a:p>
        </p:txBody>
      </p:sp>
      <p:sp>
        <p:nvSpPr>
          <p:cNvPr id="7" name="Rectangle 6"/>
          <p:cNvSpPr/>
          <p:nvPr/>
        </p:nvSpPr>
        <p:spPr>
          <a:xfrm>
            <a:off x="850392" y="1970531"/>
            <a:ext cx="10561320" cy="10972"/>
          </a:xfrm>
          <a:prstGeom prst="rect">
            <a:avLst/>
          </a:prstGeom>
          <a:solidFill>
            <a:srgbClr val="DE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2688" y="2066543"/>
            <a:ext cx="10287000" cy="484632"/>
          </a:xfrm>
          <a:prstGeom prst="rect">
            <a:avLst/>
          </a:prstGeom>
          <a:noFill/>
        </p:spPr>
        <p:txBody>
          <a:bodyPr wrap="square" lIns="0" tIns="0" rIns="0" bIns="0">
            <a:spAutoFit/>
          </a:bodyPr>
          <a:lstStyle/>
          <a:p>
            <a:pPr algn="l"/>
            <a:r>
              <a:rPr sz="1250">
                <a:solidFill>
                  <a:srgbClr val="1F2E3B"/>
                </a:solidFill>
                <a:latin typeface="Arial"/>
              </a:rPr>
              <a:t>Coleman, J. (2024, October 17). Developers accountability in Scrum. Scrum.org.</a:t>
            </a:r>
          </a:p>
        </p:txBody>
      </p:sp>
      <p:sp>
        <p:nvSpPr>
          <p:cNvPr id="9" name="TextBox 8"/>
          <p:cNvSpPr txBox="1"/>
          <p:nvPr/>
        </p:nvSpPr>
        <p:spPr>
          <a:xfrm>
            <a:off x="932688" y="2569463"/>
            <a:ext cx="10287000" cy="320040"/>
          </a:xfrm>
          <a:prstGeom prst="rect">
            <a:avLst/>
          </a:prstGeom>
          <a:noFill/>
        </p:spPr>
        <p:txBody>
          <a:bodyPr wrap="none" lIns="0" tIns="0" rIns="0" bIns="0">
            <a:spAutoFit/>
          </a:bodyPr>
          <a:lstStyle/>
          <a:p>
            <a:r>
              <a:rPr sz="1050">
                <a:solidFill>
                  <a:srgbClr val="326084"/>
                </a:solidFill>
                <a:latin typeface="Arial"/>
                <a:hlinkClick r:id="rId3"/>
              </a:rPr>
              <a:t>https://www.scrum.org/resources/blog/developers-accountability-scrum</a:t>
            </a:r>
          </a:p>
        </p:txBody>
      </p:sp>
      <p:sp>
        <p:nvSpPr>
          <p:cNvPr id="10" name="Rectangle 9"/>
          <p:cNvSpPr/>
          <p:nvPr/>
        </p:nvSpPr>
        <p:spPr>
          <a:xfrm>
            <a:off x="850392" y="2930651"/>
            <a:ext cx="10561320" cy="10972"/>
          </a:xfrm>
          <a:prstGeom prst="rect">
            <a:avLst/>
          </a:prstGeom>
          <a:solidFill>
            <a:srgbClr val="DE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3026663"/>
            <a:ext cx="10287000" cy="484632"/>
          </a:xfrm>
          <a:prstGeom prst="rect">
            <a:avLst/>
          </a:prstGeom>
          <a:noFill/>
        </p:spPr>
        <p:txBody>
          <a:bodyPr wrap="square" lIns="0" tIns="0" rIns="0" bIns="0">
            <a:spAutoFit/>
          </a:bodyPr>
          <a:lstStyle/>
          <a:p>
            <a:pPr algn="l"/>
            <a:r>
              <a:rPr sz="1250">
                <a:solidFill>
                  <a:srgbClr val="1F2E3B"/>
                </a:solidFill>
                <a:latin typeface="Arial"/>
              </a:rPr>
              <a:t>Deneir, S. (2024, September 5). Scrum’s essential elements (SG003). Scrum.org.</a:t>
            </a:r>
          </a:p>
        </p:txBody>
      </p:sp>
      <p:sp>
        <p:nvSpPr>
          <p:cNvPr id="12" name="TextBox 11"/>
          <p:cNvSpPr txBox="1"/>
          <p:nvPr/>
        </p:nvSpPr>
        <p:spPr>
          <a:xfrm>
            <a:off x="932688" y="3529583"/>
            <a:ext cx="10287000" cy="320040"/>
          </a:xfrm>
          <a:prstGeom prst="rect">
            <a:avLst/>
          </a:prstGeom>
          <a:noFill/>
        </p:spPr>
        <p:txBody>
          <a:bodyPr wrap="none" lIns="0" tIns="0" rIns="0" bIns="0">
            <a:spAutoFit/>
          </a:bodyPr>
          <a:lstStyle/>
          <a:p>
            <a:r>
              <a:rPr sz="1050">
                <a:solidFill>
                  <a:srgbClr val="326084"/>
                </a:solidFill>
                <a:latin typeface="Arial"/>
                <a:hlinkClick r:id="rId4"/>
              </a:rPr>
              <a:t>https://www.scrum.org/resources/blog/scrums-essential-elements-sg003</a:t>
            </a:r>
          </a:p>
        </p:txBody>
      </p:sp>
      <p:sp>
        <p:nvSpPr>
          <p:cNvPr id="13" name="Rectangle 12"/>
          <p:cNvSpPr/>
          <p:nvPr/>
        </p:nvSpPr>
        <p:spPr>
          <a:xfrm>
            <a:off x="850392" y="3890771"/>
            <a:ext cx="10561320" cy="10972"/>
          </a:xfrm>
          <a:prstGeom prst="rect">
            <a:avLst/>
          </a:prstGeom>
          <a:solidFill>
            <a:srgbClr val="DE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32688" y="3986783"/>
            <a:ext cx="10287000" cy="484632"/>
          </a:xfrm>
          <a:prstGeom prst="rect">
            <a:avLst/>
          </a:prstGeom>
          <a:noFill/>
        </p:spPr>
        <p:txBody>
          <a:bodyPr wrap="square" lIns="0" tIns="0" rIns="0" bIns="0">
            <a:spAutoFit/>
          </a:bodyPr>
          <a:lstStyle/>
          <a:p>
            <a:pPr algn="l"/>
            <a:r>
              <a:rPr sz="1250">
                <a:solidFill>
                  <a:srgbClr val="1F2E3B"/>
                </a:solidFill>
                <a:latin typeface="Arial"/>
              </a:rPr>
              <a:t>Digital.ai. (2025). The 18th State of Agile report.</a:t>
            </a:r>
          </a:p>
        </p:txBody>
      </p:sp>
      <p:sp>
        <p:nvSpPr>
          <p:cNvPr id="15" name="TextBox 14"/>
          <p:cNvSpPr txBox="1"/>
          <p:nvPr/>
        </p:nvSpPr>
        <p:spPr>
          <a:xfrm>
            <a:off x="932688" y="4489703"/>
            <a:ext cx="10287000" cy="320040"/>
          </a:xfrm>
          <a:prstGeom prst="rect">
            <a:avLst/>
          </a:prstGeom>
          <a:noFill/>
        </p:spPr>
        <p:txBody>
          <a:bodyPr wrap="none" lIns="0" tIns="0" rIns="0" bIns="0">
            <a:spAutoFit/>
          </a:bodyPr>
          <a:lstStyle/>
          <a:p>
            <a:r>
              <a:rPr sz="1050">
                <a:solidFill>
                  <a:srgbClr val="326084"/>
                </a:solidFill>
                <a:latin typeface="Arial"/>
                <a:hlinkClick r:id="rId5"/>
              </a:rPr>
              <a:t>https://digital.ai/resource-center/analyst-reports/18th-state-of-agile-report/</a:t>
            </a:r>
          </a:p>
        </p:txBody>
      </p:sp>
      <p:sp>
        <p:nvSpPr>
          <p:cNvPr id="16" name="Rectangle 15"/>
          <p:cNvSpPr/>
          <p:nvPr/>
        </p:nvSpPr>
        <p:spPr>
          <a:xfrm>
            <a:off x="850392" y="4850892"/>
            <a:ext cx="10561320" cy="10972"/>
          </a:xfrm>
          <a:prstGeom prst="rect">
            <a:avLst/>
          </a:prstGeom>
          <a:solidFill>
            <a:srgbClr val="DE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2688" y="4946904"/>
            <a:ext cx="10287000" cy="484632"/>
          </a:xfrm>
          <a:prstGeom prst="rect">
            <a:avLst/>
          </a:prstGeom>
          <a:noFill/>
        </p:spPr>
        <p:txBody>
          <a:bodyPr wrap="square" lIns="0" tIns="0" rIns="0" bIns="0">
            <a:spAutoFit/>
          </a:bodyPr>
          <a:lstStyle/>
          <a:p>
            <a:pPr algn="l"/>
            <a:r>
              <a:rPr sz="1250">
                <a:solidFill>
                  <a:srgbClr val="1F2E3B"/>
                </a:solidFill>
                <a:latin typeface="Arial"/>
              </a:rPr>
              <a:t>Jackson, G., Holdsworth, J., &amp; Kosinski, M. (2025, July 25). What is the software development life cycle (SDLC)? IBM.</a:t>
            </a:r>
          </a:p>
        </p:txBody>
      </p:sp>
      <p:sp>
        <p:nvSpPr>
          <p:cNvPr id="18" name="TextBox 17"/>
          <p:cNvSpPr txBox="1"/>
          <p:nvPr/>
        </p:nvSpPr>
        <p:spPr>
          <a:xfrm>
            <a:off x="932688" y="5449824"/>
            <a:ext cx="10287000" cy="320040"/>
          </a:xfrm>
          <a:prstGeom prst="rect">
            <a:avLst/>
          </a:prstGeom>
          <a:noFill/>
        </p:spPr>
        <p:txBody>
          <a:bodyPr wrap="none" lIns="0" tIns="0" rIns="0" bIns="0">
            <a:spAutoFit/>
          </a:bodyPr>
          <a:lstStyle/>
          <a:p>
            <a:r>
              <a:rPr sz="1050">
                <a:solidFill>
                  <a:srgbClr val="326084"/>
                </a:solidFill>
                <a:latin typeface="Arial"/>
                <a:hlinkClick r:id="rId6"/>
              </a:rPr>
              <a:t>https://www.ibm.com/think/topics/sdlc</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374904"/>
            <a:ext cx="9875520" cy="237744"/>
          </a:xfrm>
          <a:prstGeom prst="rect">
            <a:avLst/>
          </a:prstGeom>
          <a:noFill/>
        </p:spPr>
        <p:txBody>
          <a:bodyPr wrap="square" lIns="0" tIns="0" rIns="0" bIns="0" anchor="t">
            <a:spAutoFit/>
          </a:bodyPr>
          <a:lstStyle/>
          <a:p>
            <a:pPr algn="l">
              <a:lnSpc>
                <a:spcPct val="115000"/>
              </a:lnSpc>
              <a:spcBef>
                <a:spcPts val="0"/>
              </a:spcBef>
              <a:spcAft>
                <a:spcPts val="0"/>
              </a:spcAft>
            </a:pPr>
            <a:r>
              <a:rPr sz="1100" b="1" i="0">
                <a:solidFill>
                  <a:srgbClr val="326084"/>
                </a:solidFill>
                <a:latin typeface="Arial"/>
              </a:rPr>
              <a:t>SOURCES</a:t>
            </a:r>
          </a:p>
        </p:txBody>
      </p:sp>
      <p:sp>
        <p:nvSpPr>
          <p:cNvPr id="3" name="TextBox 2"/>
          <p:cNvSpPr txBox="1"/>
          <p:nvPr/>
        </p:nvSpPr>
        <p:spPr>
          <a:xfrm>
            <a:off x="676656" y="722376"/>
            <a:ext cx="10881360" cy="484632"/>
          </a:xfrm>
          <a:prstGeom prst="rect">
            <a:avLst/>
          </a:prstGeom>
          <a:noFill/>
        </p:spPr>
        <p:txBody>
          <a:bodyPr wrap="square" lIns="0" tIns="0" rIns="0" bIns="0" anchor="t">
            <a:spAutoFit/>
          </a:bodyPr>
          <a:lstStyle/>
          <a:p>
            <a:r>
              <a:rPr sz="2900" b="1">
                <a:solidFill>
                  <a:srgbClr val="1F2E3B"/>
                </a:solidFill>
                <a:latin typeface="Arial"/>
              </a:rPr>
              <a:t>References  •  2 of 2</a:t>
            </a:r>
          </a:p>
        </p:txBody>
      </p:sp>
      <p:sp>
        <p:nvSpPr>
          <p:cNvPr id="4" name="TextBox 3"/>
          <p:cNvSpPr txBox="1"/>
          <p:nvPr/>
        </p:nvSpPr>
        <p:spPr>
          <a:xfrm>
            <a:off x="685800" y="1380744"/>
            <a:ext cx="10881360" cy="384048"/>
          </a:xfrm>
          <a:prstGeom prst="rect">
            <a:avLst/>
          </a:prstGeom>
          <a:noFill/>
        </p:spPr>
        <p:txBody>
          <a:bodyPr wrap="square" lIns="0" tIns="0" rIns="0" bIns="0" anchor="t">
            <a:spAutoFit/>
          </a:bodyPr>
          <a:lstStyle/>
          <a:p>
            <a:r>
              <a:rPr sz="1360">
                <a:solidFill>
                  <a:srgbClr val="62717E"/>
                </a:solidFill>
                <a:latin typeface="Arial"/>
              </a:rPr>
              <a:t>Course exercises and the Scrum framework are attributed explicitly.</a:t>
            </a:r>
          </a:p>
        </p:txBody>
      </p:sp>
      <p:cxnSp>
        <p:nvCxnSpPr>
          <p:cNvPr id="5" name="Connector 4"/>
          <p:cNvCxnSpPr/>
          <p:nvPr/>
        </p:nvCxnSpPr>
        <p:spPr>
          <a:xfrm>
            <a:off x="685800" y="1897380"/>
            <a:ext cx="10808208" cy="0"/>
          </a:xfrm>
          <a:prstGeom prst="line">
            <a:avLst/>
          </a:prstGeom>
          <a:ln w="13970">
            <a:solidFill>
              <a:srgbClr val="D8DFE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991088" y="6419088"/>
            <a:ext cx="521207" cy="237744"/>
          </a:xfrm>
          <a:prstGeom prst="rect">
            <a:avLst/>
          </a:prstGeom>
          <a:noFill/>
        </p:spPr>
        <p:txBody>
          <a:bodyPr wrap="square" lIns="0" tIns="0" rIns="0" bIns="0" anchor="t">
            <a:spAutoFit/>
          </a:bodyPr>
          <a:lstStyle/>
          <a:p>
            <a:pPr algn="r">
              <a:lnSpc>
                <a:spcPct val="115000"/>
              </a:lnSpc>
              <a:spcBef>
                <a:spcPts val="0"/>
              </a:spcBef>
              <a:spcAft>
                <a:spcPts val="0"/>
              </a:spcAft>
            </a:pPr>
            <a:r>
              <a:rPr sz="1050" b="0" i="0">
                <a:solidFill>
                  <a:srgbClr val="65737E"/>
                </a:solidFill>
                <a:latin typeface="Arial"/>
              </a:rPr>
              <a:t>15</a:t>
            </a:r>
          </a:p>
        </p:txBody>
      </p:sp>
      <p:sp>
        <p:nvSpPr>
          <p:cNvPr id="7" name="Rectangle 6"/>
          <p:cNvSpPr/>
          <p:nvPr/>
        </p:nvSpPr>
        <p:spPr>
          <a:xfrm>
            <a:off x="850392" y="1970531"/>
            <a:ext cx="10561320" cy="10972"/>
          </a:xfrm>
          <a:prstGeom prst="rect">
            <a:avLst/>
          </a:prstGeom>
          <a:solidFill>
            <a:srgbClr val="DE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2688" y="2066543"/>
            <a:ext cx="10287000" cy="484632"/>
          </a:xfrm>
          <a:prstGeom prst="rect">
            <a:avLst/>
          </a:prstGeom>
          <a:noFill/>
        </p:spPr>
        <p:txBody>
          <a:bodyPr wrap="square" lIns="0" tIns="0" rIns="0" bIns="0">
            <a:spAutoFit/>
          </a:bodyPr>
          <a:lstStyle/>
          <a:p>
            <a:pPr algn="l"/>
            <a:r>
              <a:rPr sz="1250">
                <a:solidFill>
                  <a:srgbClr val="1F2E3B"/>
                </a:solidFill>
                <a:latin typeface="Arial"/>
              </a:rPr>
              <a:t>Kaczor, K. (2025, April 7). Accountability, responsibility and authority in Scrum. Scrum.org.</a:t>
            </a:r>
          </a:p>
        </p:txBody>
      </p:sp>
      <p:sp>
        <p:nvSpPr>
          <p:cNvPr id="9" name="TextBox 8"/>
          <p:cNvSpPr txBox="1"/>
          <p:nvPr/>
        </p:nvSpPr>
        <p:spPr>
          <a:xfrm>
            <a:off x="932688" y="2569463"/>
            <a:ext cx="10287000" cy="320040"/>
          </a:xfrm>
          <a:prstGeom prst="rect">
            <a:avLst/>
          </a:prstGeom>
          <a:noFill/>
        </p:spPr>
        <p:txBody>
          <a:bodyPr wrap="none" lIns="0" tIns="0" rIns="0" bIns="0">
            <a:spAutoFit/>
          </a:bodyPr>
          <a:lstStyle/>
          <a:p>
            <a:r>
              <a:rPr sz="1050">
                <a:solidFill>
                  <a:srgbClr val="326084"/>
                </a:solidFill>
                <a:latin typeface="Arial"/>
                <a:hlinkClick r:id="rId3"/>
              </a:rPr>
              <a:t>https://www.scrum.org/resources/blog/accountability-responsibility-and-authority-scrum</a:t>
            </a:r>
          </a:p>
        </p:txBody>
      </p:sp>
      <p:sp>
        <p:nvSpPr>
          <p:cNvPr id="10" name="Rectangle 9"/>
          <p:cNvSpPr/>
          <p:nvPr/>
        </p:nvSpPr>
        <p:spPr>
          <a:xfrm>
            <a:off x="850392" y="2930651"/>
            <a:ext cx="10561320" cy="10972"/>
          </a:xfrm>
          <a:prstGeom prst="rect">
            <a:avLst/>
          </a:prstGeom>
          <a:solidFill>
            <a:srgbClr val="DE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3026663"/>
            <a:ext cx="10287000" cy="484632"/>
          </a:xfrm>
          <a:prstGeom prst="rect">
            <a:avLst/>
          </a:prstGeom>
          <a:noFill/>
        </p:spPr>
        <p:txBody>
          <a:bodyPr wrap="square" lIns="0" tIns="0" rIns="0" bIns="0">
            <a:spAutoFit/>
          </a:bodyPr>
          <a:lstStyle/>
          <a:p>
            <a:pPr algn="l"/>
            <a:r>
              <a:rPr sz="1250">
                <a:solidFill>
                  <a:srgbClr val="1F2E3B"/>
                </a:solidFill>
                <a:latin typeface="Arial"/>
              </a:rPr>
              <a:t>Project Management Institute. (2024). The future of project work: Moving past office-centric models (Pulse of the Profession® 2024).</a:t>
            </a:r>
          </a:p>
        </p:txBody>
      </p:sp>
      <p:sp>
        <p:nvSpPr>
          <p:cNvPr id="12" name="TextBox 11"/>
          <p:cNvSpPr txBox="1"/>
          <p:nvPr/>
        </p:nvSpPr>
        <p:spPr>
          <a:xfrm>
            <a:off x="932688" y="3529583"/>
            <a:ext cx="10287000" cy="320040"/>
          </a:xfrm>
          <a:prstGeom prst="rect">
            <a:avLst/>
          </a:prstGeom>
          <a:noFill/>
        </p:spPr>
        <p:txBody>
          <a:bodyPr wrap="none" lIns="0" tIns="0" rIns="0" bIns="0">
            <a:spAutoFit/>
          </a:bodyPr>
          <a:lstStyle/>
          <a:p>
            <a:r>
              <a:rPr sz="1050">
                <a:solidFill>
                  <a:srgbClr val="326084"/>
                </a:solidFill>
                <a:latin typeface="Arial"/>
                <a:hlinkClick r:id="rId4"/>
              </a:rPr>
              <a:t>https://www.pmi.org/learning/thought-leadership/future-of-project-work</a:t>
            </a:r>
          </a:p>
        </p:txBody>
      </p:sp>
      <p:sp>
        <p:nvSpPr>
          <p:cNvPr id="13" name="Rectangle 12"/>
          <p:cNvSpPr/>
          <p:nvPr/>
        </p:nvSpPr>
        <p:spPr>
          <a:xfrm>
            <a:off x="850392" y="3890771"/>
            <a:ext cx="10561320" cy="10972"/>
          </a:xfrm>
          <a:prstGeom prst="rect">
            <a:avLst/>
          </a:prstGeom>
          <a:solidFill>
            <a:srgbClr val="DE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32688" y="3986783"/>
            <a:ext cx="10287000" cy="484632"/>
          </a:xfrm>
          <a:prstGeom prst="rect">
            <a:avLst/>
          </a:prstGeom>
          <a:noFill/>
        </p:spPr>
        <p:txBody>
          <a:bodyPr wrap="square" lIns="0" tIns="0" rIns="0" bIns="0">
            <a:spAutoFit/>
          </a:bodyPr>
          <a:lstStyle/>
          <a:p>
            <a:pPr algn="l"/>
            <a:r>
              <a:rPr sz="1250">
                <a:solidFill>
                  <a:srgbClr val="1F2E3B"/>
                </a:solidFill>
                <a:latin typeface="Arial"/>
              </a:rPr>
              <a:t>Schwaber, K., &amp; Sutherland, J. (2020). The Scrum Guide: The definitive guide to Scrum—The rules of the game.</a:t>
            </a:r>
          </a:p>
        </p:txBody>
      </p:sp>
      <p:sp>
        <p:nvSpPr>
          <p:cNvPr id="15" name="TextBox 14"/>
          <p:cNvSpPr txBox="1"/>
          <p:nvPr/>
        </p:nvSpPr>
        <p:spPr>
          <a:xfrm>
            <a:off x="932688" y="4489703"/>
            <a:ext cx="10287000" cy="320040"/>
          </a:xfrm>
          <a:prstGeom prst="rect">
            <a:avLst/>
          </a:prstGeom>
          <a:noFill/>
        </p:spPr>
        <p:txBody>
          <a:bodyPr wrap="none" lIns="0" tIns="0" rIns="0" bIns="0">
            <a:spAutoFit/>
          </a:bodyPr>
          <a:lstStyle/>
          <a:p>
            <a:r>
              <a:rPr sz="1050">
                <a:solidFill>
                  <a:srgbClr val="326084"/>
                </a:solidFill>
                <a:latin typeface="Arial"/>
                <a:hlinkClick r:id="rId5"/>
              </a:rPr>
              <a:t>https://scrumguides.org/scrum-guide.html</a:t>
            </a:r>
          </a:p>
        </p:txBody>
      </p:sp>
      <p:sp>
        <p:nvSpPr>
          <p:cNvPr id="16" name="Rectangle 15"/>
          <p:cNvSpPr/>
          <p:nvPr/>
        </p:nvSpPr>
        <p:spPr>
          <a:xfrm>
            <a:off x="850392" y="4850892"/>
            <a:ext cx="10561320" cy="10972"/>
          </a:xfrm>
          <a:prstGeom prst="rect">
            <a:avLst/>
          </a:prstGeom>
          <a:solidFill>
            <a:srgbClr val="DE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2688" y="4946904"/>
            <a:ext cx="10287000" cy="484632"/>
          </a:xfrm>
          <a:prstGeom prst="rect">
            <a:avLst/>
          </a:prstGeom>
          <a:noFill/>
        </p:spPr>
        <p:txBody>
          <a:bodyPr wrap="square" lIns="0" tIns="0" rIns="0" bIns="0">
            <a:spAutoFit/>
          </a:bodyPr>
          <a:lstStyle/>
          <a:p>
            <a:pPr algn="l"/>
            <a:r>
              <a:rPr sz="1250">
                <a:solidFill>
                  <a:srgbClr val="1F2E3B"/>
                </a:solidFill>
                <a:latin typeface="Arial"/>
              </a:rPr>
              <a:t>Southern New Hampshire University. (2026). SNHU Travel course simulation [Unpublished CS 250 course exercises].</a:t>
            </a:r>
          </a:p>
        </p:txBody>
      </p:sp>
      <p:sp>
        <p:nvSpPr>
          <p:cNvPr id="18" name="TextBox 17"/>
          <p:cNvSpPr txBox="1"/>
          <p:nvPr/>
        </p:nvSpPr>
        <p:spPr>
          <a:xfrm>
            <a:off x="932688" y="5449824"/>
            <a:ext cx="10287000" cy="320040"/>
          </a:xfrm>
          <a:prstGeom prst="rect">
            <a:avLst/>
          </a:prstGeom>
          <a:noFill/>
        </p:spPr>
        <p:txBody>
          <a:bodyPr wrap="none" lIns="0" tIns="0" rIns="0" bIns="0">
            <a:spAutoFit/>
          </a:bodyPr>
          <a:lstStyle/>
          <a:p>
            <a:r>
              <a:rPr sz="1050">
                <a:solidFill>
                  <a:srgbClr val="326084"/>
                </a:solidFill>
                <a:latin typeface="Arial"/>
              </a:rPr>
              <a:t>Unpublished CS 250 instructional/course activity; no public URL supplied.</a:t>
            </a:r>
          </a:p>
        </p:txBody>
      </p:sp>
      <p:sp>
        <p:nvSpPr>
          <p:cNvPr id="19" name="TextBox 18"/>
          <p:cNvSpPr txBox="1"/>
          <p:nvPr/>
        </p:nvSpPr>
        <p:spPr>
          <a:xfrm>
            <a:off x="868680" y="6272784"/>
            <a:ext cx="10241280" cy="237744"/>
          </a:xfrm>
          <a:prstGeom prst="rect">
            <a:avLst/>
          </a:prstGeom>
          <a:noFill/>
        </p:spPr>
        <p:txBody>
          <a:bodyPr wrap="none" lIns="0" tIns="0" rIns="0" bIns="0">
            <a:spAutoFit/>
          </a:bodyPr>
          <a:lstStyle/>
          <a:p>
            <a:r>
              <a:rPr sz="1030" b="1" dirty="0">
                <a:solidFill>
                  <a:srgbClr val="326084"/>
                </a:solidFill>
                <a:latin typeface="Arial"/>
              </a:rPr>
              <a:t>FIGURE ATTRIBUTION  •  Graphics are original PowerPoint shapes; no external images or logos used.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3821</Words>
  <Application>Microsoft Office PowerPoint</Application>
  <PresentationFormat>Widescreen</PresentationFormat>
  <Paragraphs>375</Paragraphs>
  <Slides>15</Slides>
  <Notes>15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15</vt:i4>
      </vt:variant>
    </vt:vector>
  </HeadingPairs>
  <TitlesOfParts>
    <vt:vector size="17"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ChadaTech (course scenario)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ChadaTech | Scrum-Agile Leadership Presentation</dc:title>
  <dc:subject>ChadaTech Scrum-Agile pilot for SNHU Travel</dc:subject>
  <dc:creator>CS 250 Project</dc:creator>
  <cp:lastModifiedBy>Nathan Burlison</cp:lastModifiedBy>
  <cp:revision>1</cp:revision>
  <dcterms:created xsi:type="dcterms:W3CDTF">2026-10-14T02:14:23Z</dcterms:created>
  <dcterms:modified xsi:type="dcterms:W3CDTF">2026-10-25T23:16:59Z</dcterms:modified>
</cp:coreProperties>
</file>